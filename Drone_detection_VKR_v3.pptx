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952" cy="6858000"/>
  <p:notesSz cx="9144000" cy="51435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noFill/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noFill/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39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Вероятность обнаружения</a:t>
            </a:r>
            <a:r>
              <a:rPr sz="1200" b="0" i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/>
          </a:p>
        </c:rich>
      </c:tx>
      <c:layout>
        <c:manualLayout>
          <c:x val="-0.060310"/>
          <c:y val="0.00000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</c:v>
                </c:pt>
              </c:strCache>
            </c:strRef>
          </c:tx>
          <c:spPr bwMode="auto">
            <a:prstGeom prst="rect">
              <a:avLst/>
            </a:prstGeom>
            <a:solidFill>
              <a:srgbClr val="A0A0A0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000000"/>
              </a:solidFill>
              <a:effectLst/>
            </c:spPr>
          </c:dPt>
          <c:dLbls>
            <c:dLbl>
              <c:idx val="4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0,935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3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0,880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2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0,827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1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0,780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0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0,728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numFmt formatCode="0.00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Видео</c:v>
                  </c:pt>
                  <c:pt idx="1">
                    <c:v>Акуст.</c:v>
                  </c:pt>
                  <c:pt idx="2">
                    <c:v>РЧ</c:v>
                  </c:pt>
                  <c:pt idx="3">
                    <c:v>Радар</c:v>
                  </c:pt>
                  <c:pt idx="4">
                    <c:v>Объед.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0.728</c:v>
                </c:pt>
                <c:pt idx="1">
                  <c:v>0.78</c:v>
                </c:pt>
                <c:pt idx="2">
                  <c:v>0.827</c:v>
                </c:pt>
                <c:pt idx="3">
                  <c:v>0.88</c:v>
                </c:pt>
                <c:pt idx="4">
                  <c:v>0.935</c:v>
                </c:pt>
              </c:numCache>
            </c:numRef>
          </c:val>
        </c:ser>
        <c:dLbls>
          <c:numFmt formatCode="0.00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000000"/>
                  </a:solidFill>
                  <a:latin typeface="Times New Roman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808080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365668" y="1158240"/>
      <a:ext cx="5728807" cy="4693920"/>
    </a:xfrm>
    <a:prstGeom prst="rect">
      <a:avLst/>
    </a:prstGeom>
    <a:solidFill>
      <a:srgbClr val="FFFFFF"/>
    </a:solidFill>
    <a:ln w="12700" cap="flat">
      <a:solidFill>
        <a:srgbClr val="000000"/>
      </a:solidFill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Вероятность ложной тревоги</a:t>
            </a:r>
            <a:endParaRPr>
              <a:latin typeface="Liberation Serif"/>
              <a:cs typeface="Liberation Serif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Pfa</c:v>
                </c:pt>
              </c:strCache>
            </c:strRef>
          </c:tx>
          <c:spPr bwMode="auto">
            <a:prstGeom prst="rect">
              <a:avLst/>
            </a:prstGeom>
            <a:solidFill>
              <a:srgbClr val="A0A0A0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A0A0A0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000000"/>
              </a:solidFill>
              <a:effectLst/>
            </c:spPr>
          </c:dPt>
          <c:dLbls>
            <c:dLbl>
              <c:idx val="0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0,100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1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0,075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2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0,107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3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0,150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dLbl>
              <c:idx val="4"/>
              <c:dLblPos val="outEnd"/>
              <c:layout/>
              <c:numFmt formatCode="0.000" sourceLinked="0"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p>
                    <a:pPr>
                      <a:defRPr sz="1100" b="0" i="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/>
                      <a:t>0,040</a:t>
                    </a:r>
                    <a:endParaRPr/>
                  </a:p>
                </c:rich>
              </c:tx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Times New Roman"/>
                    </a:defRPr>
                  </a:pPr>
                  <a:endParaRPr/>
                </a:p>
              </c:txPr>
            </c:dLbl>
            <c:numFmt formatCode="0.00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Видео</c:v>
                  </c:pt>
                  <c:pt idx="1">
                    <c:v>Радар</c:v>
                  </c:pt>
                  <c:pt idx="2">
                    <c:v>Акуст.</c:v>
                  </c:pt>
                  <c:pt idx="3">
                    <c:v>РЧ</c:v>
                  </c:pt>
                  <c:pt idx="4">
                    <c:v>Объед.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0.075</c:v>
                </c:pt>
                <c:pt idx="2">
                  <c:v>0.107</c:v>
                </c:pt>
                <c:pt idx="3">
                  <c:v>0.15</c:v>
                </c:pt>
                <c:pt idx="4">
                  <c:v>0.04</c:v>
                </c:pt>
              </c:numCache>
            </c:numRef>
          </c:val>
        </c:ser>
        <c:dLbls>
          <c:numFmt formatCode="0.00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000000"/>
                  </a:solidFill>
                  <a:latin typeface="Times New Roman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808080"/>
              </a:solidFill>
              <a:prstDash val="dash"/>
              <a:round/>
            </a:ln>
          </c:spPr>
        </c:majorGridlines>
        <c:numFmt formatCode="0.00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094412" y="1158239"/>
      <a:ext cx="5728807" cy="4693920"/>
    </a:xfrm>
    <a:prstGeom prst="rect">
      <a:avLst/>
    </a:prstGeom>
    <a:solidFill>
      <a:srgbClr val="FFFFFF"/>
    </a:solidFill>
    <a:ln w="12700" cap="flat">
      <a:solidFill>
        <a:srgbClr val="000000"/>
      </a:solidFill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681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24673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47864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60871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045875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307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27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265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939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4623B7-807F-C9E7-6D50-FE72D51254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606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8453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58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E137E2-425C-E907-EDB8-23FB484608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179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5501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17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7BE660-6CFA-2D4D-1358-E8BAA70A0C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234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860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E4FDEB-E2A4-2E6A-F459-5CDB1E8120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999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85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636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658F2E-BA22-7FBD-37BE-71B1FB4ECE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460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5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793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01E180-1F28-5990-B739-C3B1B69E55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46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5060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124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C94AB-35D4-A97A-C3BB-779462D0B3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445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523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543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2DACFF-CD18-E4C0-623C-8BEB6C5D49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A5097-CA7E-1BCE-93F8-B811B3EAF4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489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27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14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D0B4F8-FFEF-6546-24CA-4AAF599461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51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64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688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53D111-8BFF-0304-785F-5391773C1C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14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4654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017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5DEA0B-0514-B834-2066-999EF027AE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095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7696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185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D5AF64-845D-C29A-2D07-2A3406F6F0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55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895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926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90FD-3223-C89A-8042-1EA9684E76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623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459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457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3CDE18-63BE-B5FE-7493-4B6609B2D1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355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2801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723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78C620-3A7B-9C09-3DA7-8AB8479322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110532" name="Text 1"/>
          <p:cNvSpPr/>
          <p:nvPr/>
        </p:nvSpPr>
        <p:spPr bwMode="auto">
          <a:xfrm>
            <a:off x="975116" y="2743199"/>
            <a:ext cx="10360608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Разработка системы обнаружения и распознавания дронов</a:t>
            </a:r>
            <a:endParaRPr lang="en-US" sz="3200"/>
          </a:p>
        </p:txBody>
      </p:sp>
      <p:sp>
        <p:nvSpPr>
          <p:cNvPr id="2085336980" name="Text 2"/>
          <p:cNvSpPr/>
          <p:nvPr/>
        </p:nvSpPr>
        <p:spPr bwMode="auto">
          <a:xfrm>
            <a:off x="1828342" y="4693920"/>
            <a:ext cx="10238719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spcAft>
                <a:spcPts val="400"/>
              </a:spcAft>
              <a:buNone/>
              <a:defRPr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Автор: студент группы ПМИ-22 Демчук Максим Андреевич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r">
              <a:spcAft>
                <a:spcPts val="398"/>
              </a:spcAft>
              <a:buNone/>
              <a:defRPr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Руководитель ВКР: к. э. н. Погодина Юлия Анатольевна</a:t>
            </a:r>
            <a:endParaRPr lang="en-US" sz="2400"/>
          </a:p>
        </p:txBody>
      </p:sp>
      <p:sp>
        <p:nvSpPr>
          <p:cNvPr id="1612588979" name="Text 3"/>
          <p:cNvSpPr/>
          <p:nvPr/>
        </p:nvSpPr>
        <p:spPr bwMode="auto">
          <a:xfrm>
            <a:off x="609447" y="6156960"/>
            <a:ext cx="1097005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г. Королёв, 2026</a:t>
            </a:r>
            <a:endParaRPr lang="en-US" sz="1300"/>
          </a:p>
        </p:txBody>
      </p:sp>
      <p:pic>
        <p:nvPicPr>
          <p:cNvPr id="759145490" name="Рисунок 8"/>
          <p:cNvPicPr/>
          <p:nvPr/>
        </p:nvPicPr>
        <p:blipFill rotWithShape="1">
          <a:blip r:embed="rId3"/>
          <a:stretch/>
        </p:blipFill>
        <p:spPr bwMode="auto">
          <a:xfrm>
            <a:off x="2969559" y="94363"/>
            <a:ext cx="6252881" cy="1630047"/>
          </a:xfrm>
          <a:prstGeom prst="rect">
            <a:avLst/>
          </a:prstGeom>
          <a:noFill/>
          <a:ln>
            <a:noFill/>
          </a:ln>
        </p:spPr>
      </p:pic>
      <p:sp>
        <p:nvSpPr>
          <p:cNvPr id="254455316" name="Rectangle 6"/>
          <p:cNvSpPr>
            <a:spLocks noChangeArrowheads="1"/>
          </p:cNvSpPr>
          <p:nvPr/>
        </p:nvSpPr>
        <p:spPr bwMode="auto">
          <a:xfrm>
            <a:off x="1606754" y="1792195"/>
            <a:ext cx="9525359" cy="64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i="0" u="none" strike="noStrike" cap="none">
                <a:ln>
                  <a:noFill/>
                </a:ln>
                <a:solidFill>
                  <a:srgbClr val="000000"/>
                </a:solidFill>
                <a:latin typeface="Arial"/>
                <a:ea typeface="Times New Roman"/>
              </a:rPr>
              <a:t>ИНСТИТУТ ИНФОКОММУНИКАЦИОННЫХ СИСТЕМ И ТЕХНОЛОГИЙ</a:t>
            </a:r>
            <a:endParaRPr lang="ru-RU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i="0" u="none" strike="noStrike" cap="none">
                <a:ln>
                  <a:noFill/>
                </a:ln>
                <a:solidFill>
                  <a:srgbClr val="000000"/>
                </a:solidFill>
                <a:latin typeface="Arial"/>
                <a:ea typeface="Times New Roman"/>
              </a:rPr>
              <a:t>КАФЕДРА МАТЕМАТИКИ И ЕСТЕСТВЕННОНАУЧНЫХ ДИСЦИПЛИН</a:t>
            </a:r>
            <a:endParaRPr lang="ru-RU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142933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Цель и задачи работы</a:t>
            </a:r>
            <a:endParaRPr sz="2200">
              <a:latin typeface="Liberation Serif"/>
              <a:cs typeface="Liberation Serif"/>
            </a:endParaRPr>
          </a:p>
        </p:txBody>
      </p:sp>
      <p:sp>
        <p:nvSpPr>
          <p:cNvPr id="397348340" name="Text 1"/>
          <p:cNvSpPr/>
          <p:nvPr/>
        </p:nvSpPr>
        <p:spPr bwMode="auto">
          <a:xfrm flipH="0" flipV="0">
            <a:off x="609447" y="1097279"/>
            <a:ext cx="11241728" cy="38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Цель:</a:t>
            </a:r>
            <a:endParaRPr sz="2200" b="1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Разработка системы для обнаружения и распознавания беспилотных воздушных судов на основе объединения четырёх независимых физических каналов.</a:t>
            </a:r>
            <a:endParaRPr sz="22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endParaRPr sz="22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ru-RU" sz="2200" b="1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Задачи:</a:t>
            </a:r>
            <a:endParaRPr sz="2200" b="1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1. Анализ классификаций и сигнатур БПЛА</a:t>
            </a:r>
            <a:endParaRPr sz="2200"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2. Анализ методов обнаружения и обоснование многосенсорного подхода</a:t>
            </a:r>
            <a:endParaRPr sz="2200"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3. Постановка задачи, разработка архитектуры</a:t>
            </a:r>
            <a:endParaRPr sz="2200"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4. Реализация программного комплекса и модуля слияния решений</a:t>
            </a:r>
            <a:endParaRPr sz="2200"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5. Экспериментальная оценка качества и устойчивости системы</a:t>
            </a:r>
            <a:endParaRPr sz="2200"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endParaRPr sz="2200" b="1" i="0" u="none" strike="noStrike" cap="none" spc="0">
              <a:solidFill>
                <a:schemeClr val="tx1"/>
              </a:solidFill>
              <a:latin typeface="Liberation Serif"/>
              <a:cs typeface="Liberation Serif"/>
            </a:endParaRPr>
          </a:p>
          <a:p>
            <a:pPr marL="0" indent="0">
              <a:buNone/>
              <a:defRPr/>
            </a:pPr>
            <a:endParaRPr lang="en-US" sz="22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9951959" name="Text 5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285394" name="Text 8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en-US" sz="1400"/>
          </a:p>
        </p:txBody>
      </p:sp>
      <p:sp>
        <p:nvSpPr>
          <p:cNvPr id="1230260017" name="TextBox 760906410"/>
          <p:cNvSpPr txBox="1"/>
          <p:nvPr/>
        </p:nvSpPr>
        <p:spPr bwMode="auto">
          <a:xfrm flipH="0" flipV="0">
            <a:off x="457198" y="1143000"/>
            <a:ext cx="3617280" cy="351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>
                <a:latin typeface="Liberation Serif"/>
                <a:ea typeface="Liberation Serif"/>
                <a:cs typeface="Liberation Serif"/>
              </a:rPr>
              <a:t>Мультикоптер (DJI Mavic 3)</a:t>
            </a:r>
            <a:endParaRPr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Несколько винтов, вертикальный взлёт, может висеть на месте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Винты ~5000–8000 об/мин (тон 170–400 Гц)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Радиозаметность (ЭПР): 0,001–0,01 м²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Связь по обычным радиоканалам управления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Максимальная высота: до 6 км</a:t>
            </a:r>
            <a:endParaRPr/>
          </a:p>
        </p:txBody>
      </p:sp>
      <p:sp>
        <p:nvSpPr>
          <p:cNvPr id="1752124880" name="TextBox 760906411"/>
          <p:cNvSpPr txBox="1"/>
          <p:nvPr/>
        </p:nvSpPr>
        <p:spPr bwMode="auto">
          <a:xfrm>
            <a:off x="4224528" y="1143000"/>
            <a:ext cx="3616560" cy="351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>
                <a:latin typeface="Liberation Serif"/>
                <a:ea typeface="Liberation Serif"/>
                <a:cs typeface="Liberation Serif"/>
              </a:rPr>
              <a:t>Самолётного типа (Орлан-10)</a:t>
            </a:r>
            <a:endParaRPr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Фиксированное крыло и один винт, летит как самолёт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Винт ~5000–7000 об/мин (тон 167–233 Гц)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Радиозаметность (ЭПР): 0,2–0,5 м²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Может управляться через сотовую связь — труднее обнаружить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Максимальная высота: до 5 км</a:t>
            </a:r>
            <a:endParaRPr/>
          </a:p>
        </p:txBody>
      </p:sp>
      <p:sp>
        <p:nvSpPr>
          <p:cNvPr id="473353351" name="TextBox 760906412"/>
          <p:cNvSpPr txBox="1"/>
          <p:nvPr/>
        </p:nvSpPr>
        <p:spPr bwMode="auto">
          <a:xfrm>
            <a:off x="7991856" y="1143000"/>
            <a:ext cx="3616560" cy="324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>
                <a:latin typeface="Liberation Serif"/>
                <a:ea typeface="Liberation Serif"/>
                <a:cs typeface="Liberation Serif"/>
              </a:rPr>
              <a:t>Конвертоплан (WingtraOne)</a:t>
            </a:r>
            <a:endParaRPr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Взлетает вертикально, а летит как самолёт (гибрид)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Винты ~5000–8000 об/мин (тон 200–400 Гц)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Радиозаметность (ЭПР): 0,005–0,1 м²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Связь по обычным радиоканалам управления</a:t>
            </a:r>
            <a:endParaRPr sz="1800">
              <a:latin typeface="Liberation Serif"/>
              <a:cs typeface="Liberation Serif"/>
            </a:endParaRPr>
          </a:p>
          <a:p>
            <a:pPr marL="283879" indent="-283879">
              <a:spcAft>
                <a:spcPts val="800"/>
              </a:spcAft>
              <a:buAutoNum type="arabicPeriod"/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Максимальная высота: до 5 км</a:t>
            </a:r>
            <a:endParaRPr>
              <a:latin typeface="Liberation Serif"/>
              <a:cs typeface="Liberation Serif"/>
            </a:endParaRPr>
          </a:p>
        </p:txBody>
      </p:sp>
      <p:sp>
        <p:nvSpPr>
          <p:cNvPr id="648214052" name="TextBox 1475548509"/>
          <p:cNvSpPr txBox="1"/>
          <p:nvPr/>
        </p:nvSpPr>
        <p:spPr bwMode="auto">
          <a:xfrm>
            <a:off x="3488138" y="219456"/>
            <a:ext cx="5203890" cy="427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2200" b="1">
                <a:latin typeface="Liberation Serif"/>
                <a:ea typeface="Liberation Serif"/>
                <a:cs typeface="Liberation Serif"/>
              </a:rPr>
              <a:t>Классификация БПЛА по конструкции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355915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Недостатки методов обнаружения и распознования БПЛА</a:t>
            </a:r>
            <a:endParaRPr sz="2200">
              <a:latin typeface="Liberation Serif"/>
              <a:cs typeface="Liberation Serif"/>
            </a:endParaRPr>
          </a:p>
        </p:txBody>
      </p:sp>
      <p:sp>
        <p:nvSpPr>
          <p:cNvPr id="992902533" name="Text 1"/>
          <p:cNvSpPr/>
          <p:nvPr/>
        </p:nvSpPr>
        <p:spPr bwMode="auto">
          <a:xfrm flipH="0" flipV="0">
            <a:off x="172452" y="1257242"/>
            <a:ext cx="5571517" cy="1800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</a:t>
            </a: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адиолокационный метод</a:t>
            </a:r>
            <a:r>
              <a:rPr lang="en-US" sz="1800" b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:</a:t>
            </a:r>
            <a:endParaRPr sz="1800" b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83878" indent="-283878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Дрон любой конструкции может быть сделан из радиопрозрачного материала. </a:t>
            </a:r>
            <a:endParaRPr sz="18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83878" lvl="0" indent="-283878" algn="just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Мультикоптер и конвертоплан умеют зависать в воздухе.</a:t>
            </a:r>
            <a:endParaRPr sz="1800">
              <a:solidFill>
                <a:srgbClr val="000000"/>
              </a:solidFill>
              <a:latin typeface="Liberation Serif"/>
              <a:cs typeface="Liberation Serif"/>
            </a:endParaRPr>
          </a:p>
        </p:txBody>
      </p:sp>
      <p:sp>
        <p:nvSpPr>
          <p:cNvPr id="926773485" name="Text 4"/>
          <p:cNvSpPr/>
          <p:nvPr/>
        </p:nvSpPr>
        <p:spPr bwMode="auto">
          <a:xfrm>
            <a:off x="6216362" y="1257242"/>
            <a:ext cx="54850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1800"/>
          </a:p>
        </p:txBody>
      </p:sp>
      <p:sp>
        <p:nvSpPr>
          <p:cNvPr id="1190151404" name="Text 6"/>
          <p:cNvSpPr/>
          <p:nvPr/>
        </p:nvSpPr>
        <p:spPr bwMode="auto">
          <a:xfrm flipH="0" flipV="0">
            <a:off x="6460144" y="1440122"/>
            <a:ext cx="5485028" cy="1408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Акустический метод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:</a:t>
            </a:r>
            <a:endParaRPr sz="1800" b="1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6" indent="-212286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Деградация при </a:t>
            </a:r>
            <a:r>
              <a:rPr lang="en-US" sz="18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ветре, дожде и городском шуме.</a:t>
            </a:r>
            <a:endParaRPr sz="180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6" indent="-212286">
              <a:buAutoNum type="arabicPeriod"/>
              <a:defRPr/>
            </a:pPr>
            <a:r>
              <a:rPr lang="en-US" sz="18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Дрон самолетного типа и конвертоплан могут планировать.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954728960" name="Text 7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lang="en-US" sz="1400"/>
          </a:p>
        </p:txBody>
      </p:sp>
      <p:sp>
        <p:nvSpPr>
          <p:cNvPr id="991941252" name="Text 1"/>
          <p:cNvSpPr/>
          <p:nvPr/>
        </p:nvSpPr>
        <p:spPr bwMode="auto">
          <a:xfrm flipH="0" flipV="0">
            <a:off x="172452" y="3057487"/>
            <a:ext cx="5571517" cy="1250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Радиочастотный метод</a:t>
            </a:r>
            <a:r>
              <a:rPr lang="en-US" sz="1800" b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:</a:t>
            </a:r>
            <a:endParaRPr sz="1800" b="1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5" indent="-212285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Н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е распознает дроны в режиме автономного полёта.</a:t>
            </a:r>
            <a:endParaRPr sz="18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5" indent="-212285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Ложные тревоги от Wi-Fi и Bluetooth.</a:t>
            </a:r>
            <a:endParaRPr sz="1600">
              <a:solidFill>
                <a:srgbClr val="000000"/>
              </a:solidFill>
              <a:latin typeface="Liberation Serif"/>
              <a:cs typeface="Liberation Serif"/>
            </a:endParaRPr>
          </a:p>
        </p:txBody>
      </p:sp>
      <p:sp>
        <p:nvSpPr>
          <p:cNvPr id="249746204" name="Text 6"/>
          <p:cNvSpPr/>
          <p:nvPr/>
        </p:nvSpPr>
        <p:spPr bwMode="auto">
          <a:xfrm flipH="0" flipV="0">
            <a:off x="6460144" y="3057487"/>
            <a:ext cx="5485028" cy="2006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Видеообнаружение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:</a:t>
            </a:r>
            <a:endParaRPr sz="180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6" indent="-212286">
              <a:buAutoNum type="arabicPeriod"/>
              <a:defRPr/>
            </a:pPr>
            <a:r>
              <a:rPr lang="en-US" sz="18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Деградация при ухудшении освещения без инфрокрасной камеры. </a:t>
            </a:r>
            <a:endParaRPr sz="180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marL="212286" indent="-212286">
              <a:buAutoNum type="arabicPeriod"/>
              <a:defRPr/>
            </a:pPr>
            <a:r>
              <a:rPr lang="en-US" sz="18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Деградация при смешивании силуэта дрона с окружающей средой.</a:t>
            </a:r>
            <a:endParaRPr sz="1600">
              <a:latin typeface="Liberation Serif"/>
              <a:cs typeface="Liberation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597452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Аппаратная схема системы</a:t>
            </a:r>
            <a:endParaRPr lang="en-US" sz="2200"/>
          </a:p>
        </p:txBody>
      </p:sp>
      <p:sp>
        <p:nvSpPr>
          <p:cNvPr id="1662143931" name="Shape 1"/>
          <p:cNvSpPr/>
          <p:nvPr/>
        </p:nvSpPr>
        <p:spPr bwMode="auto">
          <a:xfrm>
            <a:off x="609447" y="1280160"/>
            <a:ext cx="2498735" cy="121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13247632" name="Text 2"/>
          <p:cNvSpPr/>
          <p:nvPr/>
        </p:nvSpPr>
        <p:spPr bwMode="auto">
          <a:xfrm>
            <a:off x="609447" y="1280160"/>
            <a:ext cx="2498735" cy="1219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Радиолокационная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станция</a:t>
            </a:r>
            <a:endParaRPr sz="1150">
              <a:latin typeface="Liberation Serif"/>
              <a:cs typeface="Liberation Serif"/>
            </a:endParaRPr>
          </a:p>
        </p:txBody>
      </p:sp>
      <p:sp>
        <p:nvSpPr>
          <p:cNvPr id="942685151" name="Shape 3"/>
          <p:cNvSpPr/>
          <p:nvPr/>
        </p:nvSpPr>
        <p:spPr bwMode="auto">
          <a:xfrm>
            <a:off x="3473851" y="1280160"/>
            <a:ext cx="2498735" cy="121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81369367" name="Text 4"/>
          <p:cNvSpPr/>
          <p:nvPr/>
        </p:nvSpPr>
        <p:spPr bwMode="auto">
          <a:xfrm>
            <a:off x="3473851" y="1280160"/>
            <a:ext cx="2498735" cy="1219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Микрофонный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массив</a:t>
            </a:r>
            <a:endParaRPr lang="en-US" sz="1150"/>
          </a:p>
        </p:txBody>
      </p:sp>
      <p:sp>
        <p:nvSpPr>
          <p:cNvPr id="81906722" name="Shape 5"/>
          <p:cNvSpPr/>
          <p:nvPr/>
        </p:nvSpPr>
        <p:spPr bwMode="auto">
          <a:xfrm>
            <a:off x="6338255" y="1280160"/>
            <a:ext cx="2498735" cy="121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102334758" name="Text 6"/>
          <p:cNvSpPr/>
          <p:nvPr/>
        </p:nvSpPr>
        <p:spPr bwMode="auto">
          <a:xfrm>
            <a:off x="6338255" y="1280160"/>
            <a:ext cx="2498735" cy="1219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Массив SDR-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приёмников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(4 канала)</a:t>
            </a:r>
            <a:endParaRPr sz="1150">
              <a:latin typeface="Liberation Serif"/>
              <a:cs typeface="Liberation Serif"/>
            </a:endParaRPr>
          </a:p>
        </p:txBody>
      </p:sp>
      <p:sp>
        <p:nvSpPr>
          <p:cNvPr id="7779126" name="Shape 7"/>
          <p:cNvSpPr/>
          <p:nvPr/>
        </p:nvSpPr>
        <p:spPr bwMode="auto">
          <a:xfrm>
            <a:off x="9202658" y="1280160"/>
            <a:ext cx="2498735" cy="121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633833687" name="Text 8"/>
          <p:cNvSpPr/>
          <p:nvPr/>
        </p:nvSpPr>
        <p:spPr bwMode="auto">
          <a:xfrm>
            <a:off x="9202658" y="1280160"/>
            <a:ext cx="2498735" cy="1219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Видеокамера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(RGB / ИК-</a:t>
            </a:r>
            <a:endParaRPr sz="1800">
              <a:latin typeface="Liberation Serif"/>
              <a:cs typeface="Liberation Serif"/>
            </a:endParaRPr>
          </a:p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тепловизор)</a:t>
            </a:r>
            <a:endParaRPr sz="1150">
              <a:latin typeface="Liberation Serif"/>
              <a:cs typeface="Liberation Serif"/>
            </a:endParaRPr>
          </a:p>
        </p:txBody>
      </p:sp>
      <p:sp>
        <p:nvSpPr>
          <p:cNvPr id="1380645675" name="Shape 9"/>
          <p:cNvSpPr/>
          <p:nvPr/>
        </p:nvSpPr>
        <p:spPr bwMode="auto">
          <a:xfrm flipH="0" flipV="0">
            <a:off x="1858815" y="2499358"/>
            <a:ext cx="4113771" cy="6705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10139403" name="Shape 10"/>
          <p:cNvSpPr/>
          <p:nvPr/>
        </p:nvSpPr>
        <p:spPr bwMode="auto">
          <a:xfrm flipH="0" flipV="0">
            <a:off x="4723218" y="2499360"/>
            <a:ext cx="1371257" cy="6705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49031946" name="Shape 11"/>
          <p:cNvSpPr/>
          <p:nvPr/>
        </p:nvSpPr>
        <p:spPr bwMode="auto">
          <a:xfrm flipH="1" flipV="0">
            <a:off x="6094476" y="2560320"/>
            <a:ext cx="1493145" cy="609599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53125012" name="Shape 12"/>
          <p:cNvSpPr/>
          <p:nvPr/>
        </p:nvSpPr>
        <p:spPr bwMode="auto">
          <a:xfrm flipH="1" flipV="0">
            <a:off x="6173273" y="2499360"/>
            <a:ext cx="4278751" cy="6705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09184695" name="Shape 13"/>
          <p:cNvSpPr/>
          <p:nvPr/>
        </p:nvSpPr>
        <p:spPr bwMode="auto">
          <a:xfrm>
            <a:off x="3169127" y="3169920"/>
            <a:ext cx="5850696" cy="11582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21329629" name="Text 14"/>
          <p:cNvSpPr/>
          <p:nvPr/>
        </p:nvSpPr>
        <p:spPr bwMode="auto">
          <a:xfrm>
            <a:off x="3108182" y="3169920"/>
            <a:ext cx="5850696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Вычислительный модуль</a:t>
            </a:r>
            <a:endParaRPr sz="1300">
              <a:latin typeface="Liberation Serif"/>
              <a:cs typeface="Liberation Serif"/>
            </a:endParaRPr>
          </a:p>
        </p:txBody>
      </p:sp>
      <p:sp>
        <p:nvSpPr>
          <p:cNvPr id="773199980" name="Shape 15"/>
          <p:cNvSpPr/>
          <p:nvPr/>
        </p:nvSpPr>
        <p:spPr bwMode="auto">
          <a:xfrm>
            <a:off x="6094476" y="4328160"/>
            <a:ext cx="0" cy="609599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68118271" name="Shape 16"/>
          <p:cNvSpPr/>
          <p:nvPr/>
        </p:nvSpPr>
        <p:spPr bwMode="auto">
          <a:xfrm>
            <a:off x="3900464" y="4998720"/>
            <a:ext cx="4388022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730115041" name="Text 17"/>
          <p:cNvSpPr/>
          <p:nvPr/>
        </p:nvSpPr>
        <p:spPr bwMode="auto">
          <a:xfrm>
            <a:off x="3900464" y="4998720"/>
            <a:ext cx="4388022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Монитор оператора</a:t>
            </a:r>
            <a:endParaRPr sz="1300">
              <a:latin typeface="Liberation Serif"/>
              <a:cs typeface="Liberation Serif"/>
            </a:endParaRPr>
          </a:p>
        </p:txBody>
      </p:sp>
      <p:sp>
        <p:nvSpPr>
          <p:cNvPr id="1115390431" name="Text 19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55114" name="Text 0"/>
          <p:cNvSpPr/>
          <p:nvPr/>
        </p:nvSpPr>
        <p:spPr bwMode="auto">
          <a:xfrm flipH="0" flipV="0">
            <a:off x="226152" y="37352"/>
            <a:ext cx="4153339" cy="2329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rPr>
              <a:t>Обобщённая</a:t>
            </a:r>
            <a:r>
              <a:rPr lang="ru-RU" sz="2200" b="1" i="0" u="none" strike="noStrike" cap="none" spc="0">
                <a:solidFill>
                  <a:srgbClr val="0F1115"/>
                </a:solidFill>
                <a:latin typeface="Liberation Serif"/>
                <a:ea typeface="Liberation Serif"/>
                <a:cs typeface="Liberation Serif"/>
              </a:rPr>
              <a:t> функциональная схема программного обеспечения</a:t>
            </a:r>
            <a:endParaRPr lang="en-US" sz="2200"/>
          </a:p>
        </p:txBody>
      </p:sp>
      <p:sp>
        <p:nvSpPr>
          <p:cNvPr id="740270647" name="Text 38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lang="en-US" sz="1400"/>
          </a:p>
        </p:txBody>
      </p:sp>
      <p:pic>
        <p:nvPicPr>
          <p:cNvPr id="592692637" name=""/>
          <p:cNvPicPr>
            <a:picLocks noChangeAspect="1"/>
          </p:cNvPicPr>
          <p:nvPr/>
        </p:nvPicPr>
        <p:blipFill rotWithShape="1">
          <a:blip r:embed="rId3"/>
          <a:srcRect l="0" t="1089" r="0" b="0"/>
          <a:stretch/>
        </p:blipFill>
        <p:spPr bwMode="auto">
          <a:xfrm flipH="0" flipV="0">
            <a:off x="4804897" y="37352"/>
            <a:ext cx="6408937" cy="67832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772569" name="TextBox 1"/>
          <p:cNvSpPr txBox="1"/>
          <p:nvPr/>
        </p:nvSpPr>
        <p:spPr bwMode="auto">
          <a:xfrm>
            <a:off x="2345498" y="219456"/>
            <a:ext cx="7504286" cy="427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2200" b="1">
                <a:latin typeface="Liberation Serif"/>
                <a:ea typeface="Liberation Serif"/>
                <a:cs typeface="Liberation Serif"/>
              </a:rPr>
              <a:t>Cлияние данных каналов </a:t>
            </a:r>
            <a:r>
              <a:rPr lang="ru-RU" sz="2200" b="1">
                <a:latin typeface="Liberation Serif"/>
                <a:ea typeface="Liberation Serif"/>
                <a:cs typeface="Liberation Serif"/>
              </a:rPr>
              <a:t>и определение местоположения</a:t>
            </a:r>
            <a:endParaRPr/>
          </a:p>
        </p:txBody>
      </p:sp>
      <p:sp>
        <p:nvSpPr>
          <p:cNvPr id="1913839755" name="TextBox 1746804899"/>
          <p:cNvSpPr txBox="1"/>
          <p:nvPr/>
        </p:nvSpPr>
        <p:spPr bwMode="auto">
          <a:xfrm flipH="0" flipV="0">
            <a:off x="457200" y="1142997"/>
            <a:ext cx="5493237" cy="333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/>
            </a:pPr>
            <a:r>
              <a:rPr sz="1800" b="1" i="0">
                <a:latin typeface="Liberation Serif"/>
                <a:ea typeface="Liberation Serif"/>
                <a:cs typeface="Liberation Serif"/>
              </a:rPr>
              <a:t>Сводная оценка достоверности</a:t>
            </a:r>
            <a:endParaRPr/>
          </a:p>
          <a:p>
            <a:pPr algn="ctr">
              <a:spcAft>
                <a:spcPts val="1199"/>
              </a:spcAft>
              <a:defRPr/>
            </a:pPr>
            <a:endParaRPr/>
          </a:p>
          <a:p>
            <a:pPr algn="ctr">
              <a:spcAft>
                <a:spcPts val="1200"/>
              </a:spcAft>
              <a:defRPr/>
            </a:pPr>
            <a:endParaRPr/>
          </a:p>
          <a:p>
            <a:pPr algn="l">
              <a:spcAft>
                <a:spcPts val="199"/>
              </a:spcAft>
              <a:defRPr/>
            </a:pPr>
            <a:endParaRPr/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где: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̅"/>
                          <m:ctrlPr>
                            <a:rPr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sz="1800" b="0" i="1">
                <a:latin typeface="Liberation Serif"/>
                <a:ea typeface="Liberation Serif"/>
                <a:cs typeface="Liberation Serif"/>
              </a:rPr>
              <a:t> 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— сводная достоверность обнаружения (0…1);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достоверность </a:t>
            </a:r>
            <a:r>
              <a:rPr sz="1800" b="0" i="1">
                <a:latin typeface="Liberation Serif"/>
                <a:ea typeface="Liberation Serif"/>
                <a:cs typeface="Liberation Serif"/>
              </a:rPr>
              <a:t>i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-го канала (0…1);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1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вес i-го канала.</a:t>
            </a:r>
            <a:endParaRPr/>
          </a:p>
          <a:p>
            <a:pPr algn="l">
              <a:spcAft>
                <a:spcPts val="800"/>
              </a:spcAft>
              <a:defRPr/>
            </a:pPr>
            <a:endParaRPr/>
          </a:p>
        </p:txBody>
      </p:sp>
      <p:sp>
        <p:nvSpPr>
          <p:cNvPr id="1757951281" name="TextBox 1746804901"/>
          <p:cNvSpPr txBox="1"/>
          <p:nvPr/>
        </p:nvSpPr>
        <p:spPr bwMode="auto">
          <a:xfrm>
            <a:off x="11210544" y="6464808"/>
            <a:ext cx="731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7</a:t>
            </a:r>
            <a:endParaRPr/>
          </a:p>
        </p:txBody>
      </p:sp>
      <p:sp>
        <p:nvSpPr>
          <p:cNvPr id="249658614" name=""/>
          <p:cNvSpPr/>
          <p:nvPr/>
        </p:nvSpPr>
        <p:spPr bwMode="auto">
          <a:xfrm>
            <a:off x="8876251" y="2398264"/>
            <a:ext cx="1426165" cy="7530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22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sz="22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i"/>
                                </m:rPr>
                                <a:rPr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i"/>
                            </m:rPr>
                            <a:rPr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/>
                        <a:rPr sz="2200"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f>
                        <m:fPr>
                          <m:ctrlPr>
                            <a:rPr lang="en-US" sz="22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alnScr m:val="off"/>
                              <m:ctrlPr>
                                <a:rPr lang="en-US" sz="22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i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334088548" name="TextBox 1298020582"/>
          <p:cNvSpPr txBox="1"/>
          <p:nvPr/>
        </p:nvSpPr>
        <p:spPr bwMode="auto">
          <a:xfrm>
            <a:off x="6208328" y="1142997"/>
            <a:ext cx="5527798" cy="4317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/>
            </a:pPr>
            <a:r>
              <a:rPr sz="1800" b="1" i="0">
                <a:latin typeface="Liberation Serif"/>
                <a:ea typeface="Liberation Serif"/>
                <a:cs typeface="Liberation Serif"/>
              </a:rPr>
              <a:t>Объединение координат каналов</a:t>
            </a:r>
            <a:endParaRPr/>
          </a:p>
          <a:p>
            <a:pPr algn="ctr">
              <a:spcAft>
                <a:spcPts val="799"/>
              </a:spcAft>
              <a:defRPr/>
            </a:pPr>
            <a:endParaRPr/>
          </a:p>
          <a:p>
            <a:pPr algn="ctr">
              <a:spcAft>
                <a:spcPts val="800"/>
              </a:spcAft>
              <a:defRPr/>
            </a:pPr>
            <a:endParaRPr/>
          </a:p>
          <a:p>
            <a:pPr algn="ctr">
              <a:spcAft>
                <a:spcPts val="799"/>
              </a:spcAft>
              <a:defRPr/>
            </a:pPr>
            <a:endParaRPr/>
          </a:p>
          <a:p>
            <a:pPr algn="l">
              <a:spcAft>
                <a:spcPts val="199"/>
              </a:spcAft>
              <a:defRPr/>
            </a:pPr>
            <a:endParaRPr/>
          </a:p>
          <a:p>
            <a:pPr algn="l">
              <a:spcAft>
                <a:spcPts val="199"/>
              </a:spcAft>
              <a:defRPr/>
            </a:pPr>
            <a:endParaRPr sz="1400" b="0" i="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где: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cᵢ — уверенность канала (0…1);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погрешность координат канала, м;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i"/>
                            </m:rPr>
                            <a:rPr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— вес канала: точнее канал (меньше σᵢ) — больше вес;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координаты цели, оценённые каналом;</a:t>
            </a:r>
            <a:endParaRPr sz="22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mc:Choice>
              <mc:Fallback/>
            </mc:AlternateContent>
            <a:r>
              <a:rPr sz="1800" b="0" i="1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mc:Choice>
              <mc:Fallback/>
            </mc:AlternateContent>
            <a:r>
              <a:rPr sz="1800" b="0" i="1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итоговые координаты цели.</a:t>
            </a:r>
            <a:endParaRPr sz="2200"/>
          </a:p>
        </p:txBody>
      </p:sp>
      <p:sp>
        <p:nvSpPr>
          <p:cNvPr id="1307606190" name=""/>
          <p:cNvSpPr txBox="1"/>
          <p:nvPr/>
        </p:nvSpPr>
        <p:spPr bwMode="auto">
          <a:xfrm rot="0" flipH="0" flipV="0">
            <a:off x="1941296" y="1629844"/>
            <a:ext cx="2776188" cy="9411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acc>
                        <m:accPr>
                          <m:chr m:val="̅"/>
                          <m:ctrlPr>
                            <a:rPr sz="2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r>
                        <m:rPr/>
                        <a:rPr sz="2800"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f>
                        <m:fPr>
                          <m:ctrlPr>
                            <a:rPr lang="en-U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b="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m:rPr>
                          <m:sty m:val="i"/>
                        </m:rPr>
                        <a:rPr lang="en-U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333889952" name=""/>
          <p:cNvSpPr/>
          <p:nvPr/>
        </p:nvSpPr>
        <p:spPr bwMode="auto">
          <a:xfrm flipH="0" flipV="0">
            <a:off x="6723400" y="1769545"/>
            <a:ext cx="1912751" cy="6287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i"/>
                        </m:rPr>
                        <a:rPr sz="2200">
                          <a:latin typeface="Cambria Math"/>
                          <a:ea typeface="Cambria Math"/>
                          <a:cs typeface="Cambria Math"/>
                        </a:rPr>
                        <m:t>X = </m:t>
                      </m:r>
                      <m:f>
                        <m:fPr>
                          <m:ctrlPr>
                            <a:rPr lang="en-US" sz="2200" b="1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22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2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22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2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22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22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sz="22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2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lang="en-US" sz="22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2200"/>
                                <m:t> 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22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2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22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2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22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22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</m:e>
                          </m:nary>
                        </m:den>
                      </m:f>
                      <m:r>
                        <m:rPr/>
                        <a:rPr sz="2200"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r>
              <a:rPr sz="2200">
                <a:latin typeface="Cambria Math"/>
                <a:ea typeface="Cambria Math"/>
                <a:cs typeface="Cambria Math"/>
              </a:rPr>
              <a:t> </a:t>
            </a:r>
            <a:r>
              <a:rPr sz="1800">
                <a:latin typeface="Cambria Math"/>
                <a:ea typeface="Cambria Math"/>
                <a:cs typeface="Cambria Math"/>
              </a:rPr>
              <a:t> </a:t>
            </a:r>
            <a:r>
              <a:rPr sz="1800">
                <a:latin typeface="Cambria Math"/>
                <a:ea typeface="Cambria Math"/>
                <a:cs typeface="Cambria Math"/>
              </a:rPr>
              <a:t> </a:t>
            </a:r>
            <a:endParaRPr sz="1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590548408" name=""/>
          <p:cNvSpPr txBox="1"/>
          <p:nvPr/>
        </p:nvSpPr>
        <p:spPr bwMode="auto">
          <a:xfrm rot="0" flipH="0" flipV="0">
            <a:off x="8636151" y="1769544"/>
            <a:ext cx="1909602" cy="6614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i"/>
                        </m:rPr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Y = </m:t>
                      </m:r>
                      <m:f>
                        <m:fPr>
                          <m:ctrlPr>
                            <a:rPr lang="en-US" sz="1800" b="1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18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18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18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18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</m:e>
                          </m:nary>
                        </m:den>
                      </m:f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 sz="1800" b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951485354" name=""/>
          <p:cNvSpPr txBox="1"/>
          <p:nvPr/>
        </p:nvSpPr>
        <p:spPr bwMode="auto">
          <a:xfrm rot="0" flipH="0" flipV="0">
            <a:off x="6731588" y="2430958"/>
            <a:ext cx="1904563" cy="6614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i"/>
                        </m:rPr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Z = </m:t>
                      </m:r>
                      <m:f>
                        <m:fPr>
                          <m:ctrlPr>
                            <a:rPr lang="en-US" sz="1800" b="1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18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18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/>
                                <m:t> 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bHide m:val="on"/>
                              <m:supHide m:val="on"/>
                              <m:ctrlPr>
                                <a:rPr lang="en-US" sz="18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18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en-US" sz="1800" b="1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bi"/>
                                </m:rPr>
                                <a:rPr sz="18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</m:t>
                              </m:r>
                            </m:e>
                          </m:nary>
                        </m:den>
                      </m:f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 sz="1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098971" name="TextBox 1"/>
          <p:cNvSpPr txBox="1"/>
          <p:nvPr/>
        </p:nvSpPr>
        <p:spPr bwMode="auto">
          <a:xfrm>
            <a:off x="484632" y="219456"/>
            <a:ext cx="1121054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2200" b="1">
                <a:latin typeface="Times New Roman"/>
              </a:rPr>
              <a:t>Определение координат: трилатерация по массивам</a:t>
            </a:r>
            <a:endParaRPr/>
          </a:p>
        </p:txBody>
      </p:sp>
      <p:sp>
        <p:nvSpPr>
          <p:cNvPr id="1832122857" name="TextBox 2"/>
          <p:cNvSpPr txBox="1"/>
          <p:nvPr/>
        </p:nvSpPr>
        <p:spPr bwMode="auto">
          <a:xfrm flipH="0" flipV="0">
            <a:off x="1044038" y="1815351"/>
            <a:ext cx="10092447" cy="256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Каждый узел массива (4 микрофона / 4 приёмника) измеряет только дальность до дрона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1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Дальность задаёт «сферу» вокруг узла; пересечение сфер от ≥ 3 узлов даёт точку</a:t>
            </a: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1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- </m:t>
                          </m:r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+</m:t>
                      </m:r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(Y - </m:t>
                          </m:r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 </m:t>
                      </m:r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- </m:t>
                          </m:r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sSubSup>
                        <m:sSubSupPr>
                          <m:alnScr m:val="off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где: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) — координаты узла;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измеренная дальность;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mc:Choice>
              <mc:Fallback/>
            </mc:AlternateContent>
            <a:r>
              <a:rPr sz="1800" b="0" i="1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mc:Choice>
              <mc:Fallback/>
            </mc:AlternateContent>
            <a:r>
              <a:rPr sz="1800" b="0" i="1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) — искомое положение дрона.</a:t>
            </a:r>
            <a:endParaRPr/>
          </a:p>
        </p:txBody>
      </p:sp>
      <p:sp>
        <p:nvSpPr>
          <p:cNvPr id="1312203943" name="TextBox 5"/>
          <p:cNvSpPr txBox="1"/>
          <p:nvPr/>
        </p:nvSpPr>
        <p:spPr bwMode="auto">
          <a:xfrm>
            <a:off x="11210544" y="6464808"/>
            <a:ext cx="731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20346" name="TextBox 1"/>
          <p:cNvSpPr txBox="1"/>
          <p:nvPr/>
        </p:nvSpPr>
        <p:spPr bwMode="auto">
          <a:xfrm>
            <a:off x="2430082" y="219456"/>
            <a:ext cx="7326121" cy="427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2200" b="1">
                <a:latin typeface="Times New Roman"/>
              </a:rPr>
              <a:t>Определение дальности и координат </a:t>
            </a:r>
            <a:r>
              <a:rPr lang="ru-RU" sz="2200" b="1">
                <a:latin typeface="Times New Roman"/>
              </a:rPr>
              <a:t>для</a:t>
            </a:r>
            <a:r>
              <a:rPr sz="2200" b="1">
                <a:latin typeface="Times New Roman"/>
              </a:rPr>
              <a:t> радар</a:t>
            </a:r>
            <a:r>
              <a:rPr lang="ru-RU" sz="2200" b="1">
                <a:latin typeface="Times New Roman"/>
              </a:rPr>
              <a:t>а</a:t>
            </a:r>
            <a:r>
              <a:rPr sz="2200" b="1">
                <a:latin typeface="Times New Roman"/>
              </a:rPr>
              <a:t> и видео</a:t>
            </a:r>
            <a:endParaRPr/>
          </a:p>
        </p:txBody>
      </p:sp>
      <p:sp>
        <p:nvSpPr>
          <p:cNvPr id="1336185141" name="TextBox 2"/>
          <p:cNvSpPr txBox="1"/>
          <p:nvPr/>
        </p:nvSpPr>
        <p:spPr bwMode="auto">
          <a:xfrm>
            <a:off x="457199" y="1097280"/>
            <a:ext cx="5505479" cy="457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/>
            </a:pPr>
            <a:r>
              <a:rPr sz="1800" b="1" i="0">
                <a:latin typeface="Times New Roman"/>
              </a:rPr>
              <a:t>Радар — прямое измерение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Дальность:</a:t>
            </a: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999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1000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4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Координаты:</a:t>
            </a: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1199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1200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где: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c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 — скорость распространения волны; 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199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t 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— задержка отражения;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(x₀, y₀)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 — координаты радара; 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199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h — </a:t>
            </a:r>
            <a:r>
              <a:rPr lang="ru-RU" sz="1800" b="0" i="0">
                <a:latin typeface="Liberation Serif"/>
                <a:ea typeface="Liberation Serif"/>
                <a:cs typeface="Liberation Serif"/>
              </a:rPr>
              <a:t>высота;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199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β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 — азимут.</a:t>
            </a:r>
            <a:endParaRPr/>
          </a:p>
        </p:txBody>
      </p:sp>
      <p:sp>
        <p:nvSpPr>
          <p:cNvPr id="1099771365" name="TextBox 3"/>
          <p:cNvSpPr txBox="1"/>
          <p:nvPr/>
        </p:nvSpPr>
        <p:spPr bwMode="auto">
          <a:xfrm flipH="0" flipV="0">
            <a:off x="5722703" y="1094164"/>
            <a:ext cx="5863319" cy="4068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/>
            </a:pPr>
            <a:r>
              <a:rPr sz="1800" b="1" i="0">
                <a:latin typeface="Times New Roman"/>
              </a:rPr>
              <a:t>Видео — угловая триангуляция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Дальность (по угловому размеру рамки):</a:t>
            </a: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999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1000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4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Координаты:</a:t>
            </a:r>
            <a:endParaRPr sz="1800">
              <a:latin typeface="Liberation Serif"/>
              <a:cs typeface="Liberation Serif"/>
            </a:endParaRPr>
          </a:p>
          <a:p>
            <a:pPr algn="ctr">
              <a:spcAft>
                <a:spcPts val="400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199"/>
              </a:spcAft>
              <a:defRPr/>
            </a:pP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где:</a:t>
            </a:r>
            <a:endParaRPr sz="1800" b="0" i="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a:r>
              <a:rPr sz="1800" b="0" i="1">
                <a:latin typeface="Liberation Serif"/>
                <a:ea typeface="Liberation Serif"/>
                <a:cs typeface="Liberation Serif"/>
              </a:rPr>
              <a:t>D</a:t>
            </a:r>
            <a:r>
              <a:rPr sz="1800" b="0" i="0">
                <a:latin typeface="Liberation Serif"/>
                <a:ea typeface="Liberation Serif"/>
                <a:cs typeface="Liberation Serif"/>
              </a:rPr>
              <a:t> — известный размер дрона; </a:t>
            </a:r>
            <a:endParaRPr sz="1800" b="0" i="0">
              <a:latin typeface="Liberation Serif"/>
              <a:ea typeface="Liberation Serif"/>
              <a:cs typeface="Liberation Serif"/>
            </a:endParaRPr>
          </a:p>
          <a:p>
            <a:pPr algn="l">
              <a:spcAft>
                <a:spcPts val="199"/>
              </a:spcAft>
              <a:defRPr/>
            </a:pPr>
            <a:r>
              <a:rPr sz="1800" b="0" i="0">
                <a:latin typeface="Liberation Serif"/>
                <a:ea typeface="Liberation Serif"/>
                <a:cs typeface="Liberation Serif"/>
              </a:rPr>
              <a:t>θ — угловой размер рамки;</a:t>
            </a:r>
            <a:endParaRPr sz="1800">
              <a:latin typeface="Liberation Serif"/>
              <a:cs typeface="Liberation Serif"/>
            </a:endParaRPr>
          </a:p>
          <a:p>
            <a:pPr algn="l">
              <a:spcAft>
                <a:spcPts val="2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</m:t>
                      </m:r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</m:oMath>
                  </m:oMathPara>
                </a14:m>
              </mc:Choice>
              <mc:Fallback/>
            </mc:AlternateContent>
            <a:r>
              <a:rPr sz="1800" b="0" i="0">
                <a:latin typeface="Liberation Serif"/>
                <a:ea typeface="Liberation Serif"/>
                <a:cs typeface="Liberation Serif"/>
              </a:rPr>
              <a:t> — направление по положению рамки в кадре.</a:t>
            </a:r>
            <a:endParaRPr/>
          </a:p>
          <a:p>
            <a:pPr algn="l">
              <a:spcAft>
                <a:spcPts val="199"/>
              </a:spcAft>
              <a:defRPr/>
            </a:pPr>
            <a:endParaRPr/>
          </a:p>
        </p:txBody>
      </p:sp>
      <p:sp>
        <p:nvSpPr>
          <p:cNvPr id="410996323" name="TextBox 5"/>
          <p:cNvSpPr txBox="1"/>
          <p:nvPr/>
        </p:nvSpPr>
        <p:spPr bwMode="auto">
          <a:xfrm>
            <a:off x="11210544" y="6464808"/>
            <a:ext cx="731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9</a:t>
            </a:r>
            <a:endParaRPr/>
          </a:p>
        </p:txBody>
      </p:sp>
      <p:sp>
        <p:nvSpPr>
          <p:cNvPr id="1095523705" name=""/>
          <p:cNvSpPr/>
          <p:nvPr/>
        </p:nvSpPr>
        <p:spPr bwMode="auto">
          <a:xfrm>
            <a:off x="2409122" y="1974384"/>
            <a:ext cx="1068858" cy="5708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 = </m:t>
                      </m:r>
                      <m:f>
                        <m:f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ct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46124196" name=""/>
          <p:cNvSpPr/>
          <p:nvPr/>
        </p:nvSpPr>
        <p:spPr bwMode="auto">
          <a:xfrm>
            <a:off x="509146" y="3105484"/>
            <a:ext cx="1898312" cy="36923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 = 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+R</m:t>
                      </m:r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445801736" name=""/>
          <p:cNvSpPr txBox="1"/>
          <p:nvPr/>
        </p:nvSpPr>
        <p:spPr bwMode="auto">
          <a:xfrm rot="0" flipH="0" flipV="0">
            <a:off x="2406919" y="3105484"/>
            <a:ext cx="1907640" cy="36923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y= 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+R</m:t>
                      </m:r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>
                <a:latin typeface="Cambria Math"/>
                <a:ea typeface="Cambria Math"/>
                <a:cs typeface="Cambria Math"/>
              </a:rPr>
              <a:t>, </a:t>
            </a: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171229499" name=""/>
          <p:cNvSpPr/>
          <p:nvPr/>
        </p:nvSpPr>
        <p:spPr bwMode="auto">
          <a:xfrm>
            <a:off x="4274496" y="3105484"/>
            <a:ext cx="895447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 = h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704377130" name=""/>
          <p:cNvSpPr/>
          <p:nvPr/>
        </p:nvSpPr>
        <p:spPr bwMode="auto">
          <a:xfrm>
            <a:off x="7494645" y="1974384"/>
            <a:ext cx="1163279" cy="5835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R=</m:t>
                      </m:r>
                      <m:f>
                        <m:f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func>
                            <m:funcPr>
                              <m:ctrlPr>
                                <a:rPr lang="en-US" sz="1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den>
                      </m:f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60427214" name=""/>
          <p:cNvSpPr/>
          <p:nvPr/>
        </p:nvSpPr>
        <p:spPr bwMode="auto">
          <a:xfrm>
            <a:off x="7474813" y="2927097"/>
            <a:ext cx="1442369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г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=R</m:t>
                      </m:r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func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373142629" name=""/>
          <p:cNvSpPr/>
          <p:nvPr/>
        </p:nvSpPr>
        <p:spPr bwMode="auto">
          <a:xfrm>
            <a:off x="5824308" y="3290101"/>
            <a:ext cx="1982061" cy="36923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x = 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г</m:t>
                          </m:r>
                        </m:sub>
                      </m:sSub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345197263" name=""/>
          <p:cNvSpPr txBox="1"/>
          <p:nvPr/>
        </p:nvSpPr>
        <p:spPr bwMode="auto">
          <a:xfrm rot="0" flipH="0" flipV="0">
            <a:off x="7806546" y="3286986"/>
            <a:ext cx="2366171" cy="36923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y = 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г</m:t>
                          </m:r>
                        </m:sub>
                      </m:sSub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111324783" name=""/>
          <p:cNvSpPr txBox="1"/>
          <p:nvPr/>
        </p:nvSpPr>
        <p:spPr bwMode="auto">
          <a:xfrm rot="0" flipH="0" flipV="0">
            <a:off x="9756565" y="3293217"/>
            <a:ext cx="198782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z = </m:t>
                      </m:r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+R</m:t>
                      </m:r>
                      <m:func>
                        <m:func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func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65394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Наборы данных и их разбиение</a:t>
            </a:r>
            <a:endParaRPr lang="en-US" sz="2200"/>
          </a:p>
        </p:txBody>
      </p:sp>
      <p:graphicFrame>
        <p:nvGraphicFramePr>
          <p:cNvPr id="168517012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87557" y="2046417"/>
          <a:ext cx="11213834" cy="256032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192961"/>
                <a:gridCol w="3220994"/>
                <a:gridCol w="1073664"/>
                <a:gridCol w="1610497"/>
                <a:gridCol w="1371905"/>
                <a:gridCol w="1371905"/>
                <a:gridCol w="1371905"/>
              </a:tblGrid>
              <a:tr h="5486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Канал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Набор данных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Классов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Обучающая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Валидац.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Тестовая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Всего</a:t>
                      </a:r>
                      <a:endParaRPr sz="1800">
                        <a:solidFill>
                          <a:schemeClr val="tx1"/>
                        </a:solidFill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Радар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Real Doppler RAD-DAR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24 373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5 351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5 246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34 970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Аудио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Drone Audio Dataset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1 856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408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400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2 664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Радио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Noisy Drone RF Signal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7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21 505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4 721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4 629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30 855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Видео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Airborne Object Detection 4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18 013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3 377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1 126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22 516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12699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7317354" name="Text 1"/>
          <p:cNvSpPr/>
          <p:nvPr/>
        </p:nvSpPr>
        <p:spPr bwMode="auto">
          <a:xfrm flipH="0" flipV="0">
            <a:off x="660054" y="4855284"/>
            <a:ext cx="10868842" cy="570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Каждый набор разбит на обучающую / валидационную / тестовую выборки в пропорции ≈ 70 / 15 / 15%.</a:t>
            </a:r>
            <a:endParaRPr lang="en-US" sz="1300"/>
          </a:p>
        </p:txBody>
      </p:sp>
      <p:sp>
        <p:nvSpPr>
          <p:cNvPr id="1187491471" name="Text 3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335220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Метрики оценки качества</a:t>
            </a:r>
            <a:endParaRPr lang="en-US" sz="2200"/>
          </a:p>
        </p:txBody>
      </p:sp>
      <p:sp>
        <p:nvSpPr>
          <p:cNvPr id="1267687083" name="Text 1"/>
          <p:cNvSpPr/>
          <p:nvPr/>
        </p:nvSpPr>
        <p:spPr bwMode="auto">
          <a:xfrm flipH="0" flipV="0">
            <a:off x="292644" y="1013235"/>
            <a:ext cx="42373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Метрики для радара, аудио </a:t>
            </a:r>
            <a:r>
              <a:rPr lang="ru-RU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и</a:t>
            </a: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радио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801734472" name="Text 6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lang="en-US" sz="1400"/>
          </a:p>
        </p:txBody>
      </p:sp>
      <p:sp>
        <p:nvSpPr>
          <p:cNvPr id="450316576" name=""/>
          <p:cNvSpPr/>
          <p:nvPr/>
        </p:nvSpPr>
        <p:spPr bwMode="auto">
          <a:xfrm>
            <a:off x="7800470" y="4334408"/>
            <a:ext cx="488456" cy="8539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639064927" name=""/>
          <p:cNvSpPr txBox="1"/>
          <p:nvPr/>
        </p:nvSpPr>
        <p:spPr bwMode="auto">
          <a:xfrm flipH="0" flipV="0">
            <a:off x="292644" y="1494704"/>
            <a:ext cx="4368810" cy="4669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9"/>
              </a:spcBef>
              <a:spcAft>
                <a:spcPts val="1199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Accuracy = </m:t>
                      </m:r>
                      <m:f>
                        <m:fPr>
                          <m:ctrlPr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TP + TN</m:t>
                          </m:r>
                        </m:num>
                        <m:den>
                          <m:r>
                            <m:rPr/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TP + TN + FP + FN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18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1800" b="0" i="1">
                          <a:latin typeface="Cambria Math"/>
                        </a:rPr>
                        <m:t>,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  <p:sp>
        <p:nvSpPr>
          <p:cNvPr id="1519979987" name=""/>
          <p:cNvSpPr txBox="1"/>
          <p:nvPr/>
        </p:nvSpPr>
        <p:spPr bwMode="auto">
          <a:xfrm flipH="0" flipV="0">
            <a:off x="292644" y="2617840"/>
            <a:ext cx="3157322" cy="6226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9"/>
              </a:spcBef>
              <a:spcAft>
                <a:spcPts val="1199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sz="1800"/>
                        <m:t>Precision = </m:t>
                      </m:r>
                      <m:f>
                        <m:fPr>
                          <m:ctrlPr>
                            <a:rPr sz="1800"/>
                          </m:ctrlPr>
                        </m:fPr>
                        <m:num>
                          <m:r>
                            <m:rPr/>
                            <a:rPr sz="1800"/>
                            <m:t>TP</m:t>
                          </m:r>
                        </m:num>
                        <m:den>
                          <m:r>
                            <m:rPr/>
                            <a:rPr sz="1800"/>
                            <m:t>TP + FP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000" b="0" i="1">
                          <a:latin typeface="Cambria Math"/>
                        </a:rPr>
                        <m:t> ,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  <p:sp>
        <p:nvSpPr>
          <p:cNvPr id="1276806304" name=""/>
          <p:cNvSpPr txBox="1"/>
          <p:nvPr/>
        </p:nvSpPr>
        <p:spPr bwMode="auto">
          <a:xfrm flipH="0" flipV="0">
            <a:off x="364395" y="2094896"/>
            <a:ext cx="2819866" cy="6226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9"/>
              </a:spcBef>
              <a:spcAft>
                <a:spcPts val="1199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sz="1800"/>
                        <m:t>Recall = </m:t>
                      </m:r>
                      <m:f>
                        <m:fPr>
                          <m:ctrlPr>
                            <a:rPr sz="1800"/>
                          </m:ctrlPr>
                        </m:fPr>
                        <m:num>
                          <m:r>
                            <m:rPr/>
                            <a:rPr sz="1800"/>
                            <m:t>TP</m:t>
                          </m:r>
                        </m:num>
                        <m:den>
                          <m:r>
                            <m:rPr/>
                            <a:rPr sz="1800"/>
                            <m:t>TP + FN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000" b="0" i="1">
                          <a:latin typeface="Cambria Math"/>
                        </a:rPr>
                        <m:t> ,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  <p:sp>
        <p:nvSpPr>
          <p:cNvPr id="1417257615" name=""/>
          <p:cNvSpPr txBox="1"/>
          <p:nvPr/>
        </p:nvSpPr>
        <p:spPr bwMode="auto">
          <a:xfrm flipH="0" flipV="0">
            <a:off x="292644" y="3766883"/>
            <a:ext cx="3881310" cy="4669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9"/>
              </a:spcBef>
              <a:spcAft>
                <a:spcPts val="1199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18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sz="1800"/>
                        <m:t> = </m:t>
                      </m:r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/>
                        <a:rPr sz="1800"/>
                        <m:t> ∙ </m:t>
                      </m:r>
                      <m:f>
                        <m:fPr>
                          <m:ctrlPr>
                            <a:rPr sz="1800"/>
                          </m:ctrlPr>
                        </m:fPr>
                        <m:num>
                          <m:r>
                            <m:rPr/>
                            <a:rPr sz="1800"/>
                            <m:t>Precision ∙ Recall</m:t>
                          </m:r>
                        </m:num>
                        <m:den>
                          <m:r>
                            <m:rPr/>
                            <a:rPr sz="1800"/>
                            <m:t>Precision + Recall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/>
              <a:t>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239066290" name=""/>
          <p:cNvSpPr txBox="1"/>
          <p:nvPr/>
        </p:nvSpPr>
        <p:spPr bwMode="auto">
          <a:xfrm flipH="0" flipV="0">
            <a:off x="289043" y="3240483"/>
            <a:ext cx="3884551" cy="4669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9"/>
              </a:spcBef>
              <a:spcAft>
                <a:spcPts val="1199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sz="1800"/>
                        <m:t>macro-</m:t>
                      </m:r>
                      <m:sSub>
                        <m:sSubPr>
                          <m:ctrlPr>
                            <a:rPr sz="18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sz="1800"/>
                        <m:t> = </m:t>
                      </m:r>
                      <m:f>
                        <m:fPr>
                          <m:ctrlPr>
                            <a:rPr sz="1800"/>
                          </m:ctrlPr>
                        </m:fPr>
                        <m:num>
                          <m:r>
                            <m:rPr/>
                            <a:rPr sz="1800"/>
                            <m:t>1</m:t>
                          </m:r>
                        </m:num>
                        <m:den>
                          <m:r>
                            <m:rPr/>
                            <a:rPr sz="1800"/>
                            <m:t>K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 sz="1800"/>
                          </m:ctrlPr>
                        </m:naryPr>
                        <m:sub>
                          <m:r>
                            <m:rPr/>
                            <a:rPr sz="1800"/>
                            <m:t>k = 1</m:t>
                          </m:r>
                        </m:sub>
                        <m:sup>
                          <m:r>
                            <m:rPr/>
                            <a:rPr sz="1800"/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sz="1800" i="1" u="none" strike="noStrike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1800" u="none" strike="noStrike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sz="1800" i="1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sz="1800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000" b="0" i="1">
                          <a:latin typeface="Cambria Math"/>
                        </a:rPr>
                        <m:t> ,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  <p:sp>
        <p:nvSpPr>
          <p:cNvPr id="505808261" name=""/>
          <p:cNvSpPr txBox="1"/>
          <p:nvPr/>
        </p:nvSpPr>
        <p:spPr bwMode="auto">
          <a:xfrm flipH="0" flipV="0">
            <a:off x="4976658" y="1065076"/>
            <a:ext cx="6981832" cy="26869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spcAft>
                <a:spcPts val="198"/>
              </a:spcAft>
              <a:defRPr/>
            </a:pPr>
            <a:r>
              <a:rPr lang="ru-RU" sz="1800" b="1">
                <a:latin typeface="Times New Roman"/>
                <a:ea typeface="Times New Roman"/>
                <a:cs typeface="Times New Roman"/>
              </a:rPr>
              <a:t>Пояснение обозначений</a:t>
            </a:r>
            <a:endParaRPr sz="2400"/>
          </a:p>
          <a:p>
            <a:pPr>
              <a:spcAft>
                <a:spcPts val="199"/>
              </a:spcAft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K — колличество классов</a:t>
            </a:r>
            <a:r>
              <a:rPr lang="en-US" sz="1800">
                <a:latin typeface="Liberation Serif"/>
                <a:ea typeface="Liberation Serif"/>
                <a:cs typeface="Liberation Serif"/>
              </a:rPr>
              <a:t>,</a:t>
            </a:r>
            <a:endParaRPr sz="1800">
              <a:latin typeface="Liberation Serif"/>
              <a:cs typeface="Liberation Serif"/>
            </a:endParaRPr>
          </a:p>
          <a:p>
            <a:pPr>
              <a:spcAft>
                <a:spcPts val="199"/>
              </a:spcAft>
              <a:defRPr/>
            </a:pPr>
            <a:r>
              <a:rPr sz="1800" i="1">
                <a:latin typeface="Liberation Serif"/>
                <a:ea typeface="Liberation Serif"/>
                <a:cs typeface="Liberation Serif"/>
              </a:rPr>
              <a:t>TP </a:t>
            </a:r>
            <a:r>
              <a:rPr sz="1800">
                <a:latin typeface="Liberation Serif"/>
                <a:ea typeface="Liberation Serif"/>
                <a:cs typeface="Liberation Serif"/>
              </a:rPr>
              <a:t>— случаи, когда дрон присутствует и обнаружен,</a:t>
            </a:r>
            <a:endParaRPr sz="1800">
              <a:latin typeface="Liberation Serif"/>
              <a:cs typeface="Liberation Serif"/>
            </a:endParaRPr>
          </a:p>
          <a:p>
            <a:pPr>
              <a:spcAft>
                <a:spcPts val="199"/>
              </a:spcAft>
              <a:defRPr/>
            </a:pPr>
            <a:r>
              <a:rPr sz="1800" i="1">
                <a:latin typeface="Liberation Serif"/>
                <a:ea typeface="Liberation Serif"/>
                <a:cs typeface="Liberation Serif"/>
              </a:rPr>
              <a:t>FN </a:t>
            </a:r>
            <a:r>
              <a:rPr sz="1800">
                <a:latin typeface="Liberation Serif"/>
                <a:ea typeface="Liberation Serif"/>
                <a:cs typeface="Liberation Serif"/>
              </a:rPr>
              <a:t>—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rPr>
              <a:t>случаи, когда </a:t>
            </a:r>
            <a:r>
              <a:rPr sz="1800">
                <a:latin typeface="Liberation Serif"/>
                <a:ea typeface="Liberation Serif"/>
                <a:cs typeface="Liberation Serif"/>
              </a:rPr>
              <a:t>дрон присутствует, но не обнаружен,</a:t>
            </a:r>
            <a:endParaRPr sz="2400">
              <a:latin typeface="Liberation Serif"/>
              <a:cs typeface="Liberation Serif"/>
            </a:endParaRPr>
          </a:p>
          <a:p>
            <a:pPr>
              <a:spcAft>
                <a:spcPts val="199"/>
              </a:spcAft>
              <a:defRPr/>
            </a:pPr>
            <a:r>
              <a:rPr sz="1800" i="1">
                <a:latin typeface="Liberation Serif"/>
                <a:ea typeface="Liberation Serif"/>
                <a:cs typeface="Liberation Serif"/>
              </a:rPr>
              <a:t>FP </a:t>
            </a:r>
            <a:r>
              <a:rPr sz="1800">
                <a:latin typeface="Liberation Serif"/>
                <a:ea typeface="Liberation Serif"/>
                <a:cs typeface="Liberation Serif"/>
              </a:rPr>
              <a:t>—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rPr>
              <a:t>случаи, когда </a:t>
            </a:r>
            <a:r>
              <a:rPr sz="1800">
                <a:latin typeface="Liberation Serif"/>
                <a:ea typeface="Liberation Serif"/>
                <a:cs typeface="Liberation Serif"/>
              </a:rPr>
              <a:t>дрона нет, но система сработала,</a:t>
            </a:r>
            <a:endParaRPr sz="2400">
              <a:latin typeface="Liberation Serif"/>
              <a:cs typeface="Liberation Serif"/>
            </a:endParaRPr>
          </a:p>
          <a:p>
            <a:pPr>
              <a:defRPr/>
            </a:pPr>
            <a:r>
              <a:rPr sz="1800" i="1">
                <a:latin typeface="Liberation Serif"/>
                <a:ea typeface="Liberation Serif"/>
                <a:cs typeface="Liberation Serif"/>
              </a:rPr>
              <a:t>TN </a:t>
            </a:r>
            <a:r>
              <a:rPr sz="1800">
                <a:latin typeface="Liberation Serif"/>
                <a:ea typeface="Liberation Serif"/>
                <a:cs typeface="Liberation Serif"/>
              </a:rPr>
              <a:t>—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rPr>
              <a:t>случаи, когда </a:t>
            </a:r>
            <a:r>
              <a:rPr sz="1800">
                <a:latin typeface="Liberation Serif"/>
                <a:ea typeface="Liberation Serif"/>
                <a:cs typeface="Liberation Serif"/>
              </a:rPr>
              <a:t>дрона нет, и система не сработала,</a:t>
            </a:r>
            <a:endParaRPr sz="1800">
              <a:latin typeface="Liberation Serif"/>
              <a:cs typeface="Liberation Serif"/>
            </a:endParaRPr>
          </a:p>
          <a:p>
            <a:pPr>
              <a:defRPr/>
            </a:pPr>
            <a:r>
              <a:rPr sz="1800">
                <a:latin typeface="Liberation Serif"/>
                <a:ea typeface="Liberation Serif"/>
                <a:cs typeface="Liberation Serif"/>
              </a:rPr>
              <a:t>AP — средняя точность (площадь под PR-кривой «точность–полнота») для одного класса, mAP — её усреднение по всем классам.</a:t>
            </a:r>
            <a:endParaRPr sz="2400">
              <a:latin typeface="Liberation Serif"/>
              <a:cs typeface="Liberation Serif"/>
            </a:endParaRPr>
          </a:p>
        </p:txBody>
      </p:sp>
      <p:sp>
        <p:nvSpPr>
          <p:cNvPr id="1645170882" name="Text 1"/>
          <p:cNvSpPr/>
          <p:nvPr/>
        </p:nvSpPr>
        <p:spPr bwMode="auto">
          <a:xfrm flipH="0" flipV="0">
            <a:off x="289043" y="4233865"/>
            <a:ext cx="27478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Метрик</a:t>
            </a:r>
            <a:r>
              <a:rPr lang="ru-RU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а</a:t>
            </a: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для видео</a:t>
            </a:r>
            <a:endParaRPr lang="en-US" sz="1400"/>
          </a:p>
        </p:txBody>
      </p:sp>
      <p:sp>
        <p:nvSpPr>
          <p:cNvPr id="1994695907" name=""/>
          <p:cNvSpPr txBox="1"/>
          <p:nvPr/>
        </p:nvSpPr>
        <p:spPr bwMode="auto">
          <a:xfrm flipH="0" flipV="0">
            <a:off x="243238" y="4599625"/>
            <a:ext cx="2757476" cy="545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8"/>
              </a:spcBef>
              <a:spcAft>
                <a:spcPts val="1198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/>
                        <m:t>mAP =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m:rPr/>
                            <a:rPr/>
                            <m:t>1</m:t>
                          </m:r>
                        </m:num>
                        <m:den>
                          <m:r>
                            <m:rPr/>
                            <a:rPr/>
                            <m:t>K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/>
                          </m:ctrlPr>
                        </m:naryPr>
                        <m:sub>
                          <m:r>
                            <m:rPr/>
                            <a:rPr/>
                            <m:t>k = 1</m:t>
                          </m:r>
                        </m:sub>
                        <m:sup>
                          <m:r>
                            <m:rPr/>
                            <a:rPr/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m:rPr/>
                                <a:rPr/>
                                <m:t>AP</m:t>
                              </m:r>
                            </m:e>
                            <m:sub>
                              <m:r>
                                <m:rPr/>
                                <a:rPr/>
                                <m:t>k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r>
              <a:rPr lang="ru-RU"/>
              <a:t> .</a:t>
            </a:r>
            <a:endParaRPr/>
          </a:p>
        </p:txBody>
      </p:sp>
      <p:sp>
        <p:nvSpPr>
          <p:cNvPr id="314997077" name=""/>
          <p:cNvSpPr txBox="1"/>
          <p:nvPr/>
        </p:nvSpPr>
        <p:spPr bwMode="auto">
          <a:xfrm flipH="0" flipV="0">
            <a:off x="2461451" y="5625578"/>
            <a:ext cx="2045045" cy="4669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8"/>
              </a:spcBef>
              <a:spcAft>
                <a:spcPts val="1198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i"/>
                        </m:rPr>
                        <a:rPr/>
                        <m:t> = </m:t>
                      </m:r>
                      <m:f>
                        <m:fPr>
                          <m:ctrlPr>
                            <a:rPr b="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/>
                            <m:t>TP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/>
                            <m:t>TP + FN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b="1"/>
              <a:t> .</a:t>
            </a:r>
            <a:endParaRPr b="1"/>
          </a:p>
        </p:txBody>
      </p:sp>
      <p:sp>
        <p:nvSpPr>
          <p:cNvPr id="364018520" name=""/>
          <p:cNvSpPr txBox="1"/>
          <p:nvPr/>
        </p:nvSpPr>
        <p:spPr bwMode="auto">
          <a:xfrm flipH="0" flipV="0">
            <a:off x="292644" y="5681608"/>
            <a:ext cx="2168807" cy="4669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8"/>
              </a:spcBef>
              <a:spcAft>
                <a:spcPts val="1198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fa</m:t>
                          </m:r>
                        </m:sub>
                      </m:sSub>
                      <m:r>
                        <m:rPr/>
                        <a:rPr/>
                        <m:t> =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m:rPr/>
                            <a:rPr/>
                            <m:t>FP</m:t>
                          </m:r>
                        </m:num>
                        <m:den>
                          <m:r>
                            <m:rPr/>
                            <a:rPr/>
                            <m:t>FP + TN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/>
              <a:t> </a:t>
            </a:r>
            <a:r>
              <a:rPr lang="en-US"/>
              <a:t>,</a:t>
            </a:r>
            <a:endParaRPr/>
          </a:p>
        </p:txBody>
      </p:sp>
      <p:sp>
        <p:nvSpPr>
          <p:cNvPr id="1153427468" name="Text 1"/>
          <p:cNvSpPr/>
          <p:nvPr/>
        </p:nvSpPr>
        <p:spPr bwMode="auto">
          <a:xfrm flipH="0" flipV="0">
            <a:off x="292644" y="5188327"/>
            <a:ext cx="27478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Метрик</a:t>
            </a:r>
            <a:r>
              <a:rPr lang="ru-RU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и</a:t>
            </a:r>
            <a:r>
              <a:rPr lang="en-US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для </a:t>
            </a:r>
            <a:r>
              <a:rPr lang="ru-RU" sz="18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системы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295922" name="Text 0"/>
          <p:cNvSpPr/>
          <p:nvPr/>
        </p:nvSpPr>
        <p:spPr bwMode="auto">
          <a:xfrm>
            <a:off x="487557" y="126073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Результаты обучения </a:t>
            </a:r>
            <a:r>
              <a:rPr lang="ru-RU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моделей для каждого из каналов</a:t>
            </a:r>
            <a:endParaRPr lang="en-US" sz="2200"/>
          </a:p>
        </p:txBody>
      </p:sp>
      <p:sp>
        <p:nvSpPr>
          <p:cNvPr id="1384146711" name="Text 1"/>
          <p:cNvSpPr/>
          <p:nvPr/>
        </p:nvSpPr>
        <p:spPr bwMode="auto">
          <a:xfrm flipH="0" flipV="0">
            <a:off x="823733" y="813771"/>
            <a:ext cx="4219868" cy="42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Радиолокационный канал</a:t>
            </a:r>
            <a:endParaRPr lang="en-US" sz="1600"/>
          </a:p>
        </p:txBody>
      </p:sp>
      <p:graphicFrame>
        <p:nvGraphicFramePr>
          <p:cNvPr id="115867822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87558" y="1315719"/>
          <a:ext cx="4892221" cy="1828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65728"/>
                <a:gridCol w="1762077"/>
                <a:gridCol w="1264414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Архитектура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macro-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sz="1800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DopplerNet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0,878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0,875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RadarResNet 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0,901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0,898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RadarMLP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0,862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0,859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50219188" name="Text 2"/>
          <p:cNvSpPr/>
          <p:nvPr/>
        </p:nvSpPr>
        <p:spPr bwMode="auto">
          <a:xfrm>
            <a:off x="6263548" y="813771"/>
            <a:ext cx="536313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Акустический канал</a:t>
            </a:r>
            <a:endParaRPr lang="en-US" sz="1800"/>
          </a:p>
        </p:txBody>
      </p:sp>
      <p:graphicFrame>
        <p:nvGraphicFramePr>
          <p:cNvPr id="1590099089" name="Table 1"/>
          <p:cNvGraphicFramePr>
            <a:graphicFrameLocks xmlns:a="http://schemas.openxmlformats.org/drawingml/2006/main" noGrp="1"/>
          </p:cNvGraphicFramePr>
          <p:nvPr/>
        </p:nvGraphicFramePr>
        <p:xfrm rot="0">
          <a:off x="6711784" y="1315719"/>
          <a:ext cx="4448362" cy="1828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91619"/>
                <a:gridCol w="1543552"/>
                <a:gridCol w="1213189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Архитектура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macro-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sz="1800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AudioCNN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0,884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0,882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AudioCRNN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0,889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0,888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AudioResNet 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0,902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0,901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74986942" name="Text 4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 lang="en-US" sz="1400"/>
          </a:p>
        </p:txBody>
      </p:sp>
      <p:sp>
        <p:nvSpPr>
          <p:cNvPr id="1276806516" name="Text 1"/>
          <p:cNvSpPr/>
          <p:nvPr/>
        </p:nvSpPr>
        <p:spPr bwMode="auto">
          <a:xfrm flipH="0" flipV="0">
            <a:off x="1087639" y="3215638"/>
            <a:ext cx="3692055" cy="42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Радиочастотный канал</a:t>
            </a:r>
            <a:endParaRPr lang="en-US" sz="1600"/>
          </a:p>
        </p:txBody>
      </p:sp>
      <p:graphicFrame>
        <p:nvGraphicFramePr>
          <p:cNvPr id="669299429" name="Table 0"/>
          <p:cNvGraphicFramePr>
            <a:graphicFrameLocks xmlns:a="http://schemas.openxmlformats.org/drawingml/2006/main"/>
          </p:cNvGraphicFramePr>
          <p:nvPr/>
        </p:nvGraphicFramePr>
        <p:xfrm rot="0">
          <a:off x="487557" y="3642359"/>
          <a:ext cx="4023360" cy="1828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90000"/>
                <a:gridCol w="1667979"/>
                <a:gridCol w="1334242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Архитектура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macro-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sz="1800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18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RF-CNN-1D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0,798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0,808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RF-ResNet-1D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0,822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0,832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RF-MLP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0,264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0,251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1923959" name="Text 2"/>
          <p:cNvSpPr/>
          <p:nvPr/>
        </p:nvSpPr>
        <p:spPr bwMode="auto">
          <a:xfrm flipH="0" flipV="0">
            <a:off x="6933437" y="3215639"/>
            <a:ext cx="4023360" cy="42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Видеоканал</a:t>
            </a:r>
            <a:endParaRPr lang="en-US" sz="1600"/>
          </a:p>
        </p:txBody>
      </p:sp>
      <p:graphicFrame>
        <p:nvGraphicFramePr>
          <p:cNvPr id="823081535" name="Table 1"/>
          <p:cNvGraphicFramePr>
            <a:graphicFrameLocks xmlns:a="http://schemas.openxmlformats.org/drawingml/2006/main"/>
          </p:cNvGraphicFramePr>
          <p:nvPr/>
        </p:nvGraphicFramePr>
        <p:xfrm rot="0">
          <a:off x="6711784" y="3642359"/>
          <a:ext cx="4631764" cy="1828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10000"/>
                <a:gridCol w="1260000"/>
                <a:gridCol w="1661764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Архитектура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@0,5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macro-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sz="160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16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16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YOLOv5n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0,842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0,840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YOLOv8n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0,861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0,858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YOLOv8s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0,879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0,876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237440" name="Text 0"/>
          <p:cNvSpPr/>
          <p:nvPr/>
        </p:nvSpPr>
        <p:spPr bwMode="auto">
          <a:xfrm>
            <a:off x="487558" y="219456"/>
            <a:ext cx="11213835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Оценка системы в режиме объединения каналов</a:t>
            </a:r>
            <a:endParaRPr sz="2200">
              <a:latin typeface="Liberation Serif"/>
              <a:cs typeface="Liberation Serif"/>
            </a:endParaRPr>
          </a:p>
        </p:txBody>
      </p:sp>
      <p:graphicFrame>
        <p:nvGraphicFramePr>
          <p:cNvPr id="908697624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365668" y="1158240"/>
          <a:ext cx="5728807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80837190" name="Chart 1" descr=""/>
          <p:cNvGraphicFramePr>
            <a:graphicFrameLocks xmlns:a="http://schemas.openxmlformats.org/drawingml/2006/main"/>
          </p:cNvGraphicFramePr>
          <p:nvPr/>
        </p:nvGraphicFramePr>
        <p:xfrm rot="0">
          <a:off x="6094412" y="1158239"/>
          <a:ext cx="5728807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6005028" name="Text 2"/>
          <p:cNvSpPr/>
          <p:nvPr/>
        </p:nvSpPr>
        <p:spPr bwMode="auto">
          <a:xfrm>
            <a:off x="11213835" y="6461760"/>
            <a:ext cx="731337" cy="30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r>
            <a:endParaRPr lang="en-US" sz="1400"/>
          </a:p>
        </p:txBody>
      </p:sp>
      <p:sp>
        <p:nvSpPr>
          <p:cNvPr id="1954174416" name=""/>
          <p:cNvSpPr txBox="1"/>
          <p:nvPr/>
        </p:nvSpPr>
        <p:spPr bwMode="auto">
          <a:xfrm rot="0" flipH="0" flipV="0">
            <a:off x="10404968" y="1185780"/>
            <a:ext cx="499021" cy="3986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7"/>
              </a:spcBef>
              <a:spcAft>
                <a:spcPts val="1197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fa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766393085" name=""/>
          <p:cNvSpPr txBox="1"/>
          <p:nvPr/>
        </p:nvSpPr>
        <p:spPr bwMode="auto">
          <a:xfrm rot="0" flipH="0" flipV="0">
            <a:off x="4268037" y="1218359"/>
            <a:ext cx="4143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spcBef>
                <a:spcPts val="597"/>
              </a:spcBef>
              <a:spcAft>
                <a:spcPts val="1197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182562" name="TextBox 1"/>
          <p:cNvSpPr txBox="1"/>
          <p:nvPr/>
        </p:nvSpPr>
        <p:spPr bwMode="auto">
          <a:xfrm>
            <a:off x="3030225" y="219456"/>
            <a:ext cx="6119717" cy="427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2200" b="1">
                <a:latin typeface="Liberation Serif"/>
                <a:ea typeface="Liberation Serif"/>
                <a:cs typeface="Liberation Serif"/>
              </a:rPr>
              <a:t>Плавная деградация при отключении каналов</a:t>
            </a:r>
            <a:endParaRPr>
              <a:latin typeface="Liberation Serif"/>
              <a:cs typeface="Liberation Serif"/>
            </a:endParaRPr>
          </a:p>
        </p:txBody>
      </p:sp>
      <p:graphicFrame>
        <p:nvGraphicFramePr>
          <p:cNvPr id="335679245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1981047" y="1554480"/>
          <a:ext cx="8229600" cy="23774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3840480"/>
                <a:gridCol w="1280160"/>
                <a:gridCol w="1280160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Активных каналов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Отключённые каналы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Pd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Pfa</a:t>
                      </a:r>
                      <a:endParaRPr sz="180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4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—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0,935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0,040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Радиочастотный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0,915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0,050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Радиочастотный, акустический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0,895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0,060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Радиочастотный, акустический, видео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0,880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0,075</a:t>
                      </a:r>
                      <a:endParaRPr sz="1800" b="0">
                        <a:latin typeface="Liberation Serif"/>
                        <a:cs typeface="Liberation Serif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6029390" name="TextBox 3"/>
          <p:cNvSpPr txBox="1"/>
          <p:nvPr/>
        </p:nvSpPr>
        <p:spPr bwMode="auto">
          <a:xfrm>
            <a:off x="1975102" y="4254872"/>
            <a:ext cx="8229960" cy="82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>
                <a:latin typeface="Liberation Serif"/>
                <a:ea typeface="Liberation Serif"/>
                <a:cs typeface="Liberation Serif"/>
              </a:rPr>
              <a:t>Отказавший канал исключается из слияния, веса оставшихся перенормируются. Даже на одном радиолокационном канале система сохраняет Pd ≈ 0,88 — полного отказа нет ни в одном сценарии.</a:t>
            </a:r>
            <a:endParaRPr>
              <a:latin typeface="Liberation Serif"/>
              <a:cs typeface="Liberation Serif"/>
            </a:endParaRPr>
          </a:p>
        </p:txBody>
      </p:sp>
      <p:sp>
        <p:nvSpPr>
          <p:cNvPr id="2074124039" name="TextBox 1880484338"/>
          <p:cNvSpPr txBox="1"/>
          <p:nvPr/>
        </p:nvSpPr>
        <p:spPr bwMode="auto">
          <a:xfrm>
            <a:off x="11210544" y="6464808"/>
            <a:ext cx="731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419738" name=""/>
          <p:cNvSpPr txBox="1"/>
          <p:nvPr/>
        </p:nvSpPr>
        <p:spPr bwMode="auto">
          <a:xfrm rot="0" flipH="0" flipV="0">
            <a:off x="1242939" y="868320"/>
            <a:ext cx="9913625" cy="32919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spcAft>
                <a:spcPts val="1200"/>
              </a:spcAft>
              <a:buAutoNum type="arabicPeriod"/>
              <a:defRPr/>
            </a:pPr>
            <a:r>
              <a:rPr sz="2000">
                <a:latin typeface="Liberation Serif"/>
                <a:ea typeface="Liberation Serif"/>
                <a:cs typeface="Liberation Serif"/>
              </a:rPr>
              <a:t>Ни один из четырёх рассмотренных методов обнаружения и распознавания по отдельности не обеспечивает надёжного обнаружения дронов во всём диапазоне условий эксплуатации и типов целей.</a:t>
            </a:r>
            <a:endParaRPr sz="2000">
              <a:latin typeface="Liberation Serif"/>
              <a:cs typeface="Liberation Serif"/>
            </a:endParaRPr>
          </a:p>
          <a:p>
            <a:pPr marL="283878" indent="-283878" algn="l">
              <a:spcAft>
                <a:spcPts val="1199"/>
              </a:spcAft>
              <a:buAutoNum type="arabicPeriod"/>
              <a:defRPr/>
            </a:pPr>
            <a:r>
              <a:rPr sz="2000">
                <a:latin typeface="Liberation Serif"/>
                <a:ea typeface="Liberation Serif"/>
                <a:cs typeface="Liberation Serif"/>
              </a:rPr>
              <a:t>Разработан программный комплекс, объединяющий показания четырёх каналов обнаружения и распознавания.</a:t>
            </a:r>
            <a:endParaRPr sz="2000">
              <a:latin typeface="Liberation Serif"/>
              <a:cs typeface="Liberation Serif"/>
            </a:endParaRPr>
          </a:p>
          <a:p>
            <a:pPr marL="283878" indent="-283878" algn="l">
              <a:spcAft>
                <a:spcPts val="1199"/>
              </a:spcAft>
              <a:buAutoNum type="arabicPeriod"/>
              <a:defRPr/>
            </a:pPr>
            <a:r>
              <a:rPr sz="2000">
                <a:latin typeface="Liberation Serif"/>
                <a:ea typeface="Liberation Serif"/>
                <a:cs typeface="Liberation Serif"/>
              </a:rPr>
              <a:t> Обучены нейросетевые модели и выбраны архитектуры с наилучшими метриками: RadarResNet, AudioResNet, RF-ResNet-1D и YOLOv8n.</a:t>
            </a:r>
            <a:endParaRPr sz="2000">
              <a:latin typeface="Liberation Serif"/>
              <a:cs typeface="Liberation Serif"/>
            </a:endParaRPr>
          </a:p>
          <a:p>
            <a:pPr marL="283878" indent="-283878" algn="l">
              <a:spcAft>
                <a:spcPts val="1199"/>
              </a:spcAft>
              <a:buAutoNum type="arabicPeriod"/>
              <a:defRPr/>
            </a:pPr>
            <a:r>
              <a:rPr sz="2000">
                <a:latin typeface="Liberation Serif"/>
                <a:ea typeface="Liberation Serif"/>
                <a:cs typeface="Liberation Serif"/>
              </a:rPr>
              <a:t>Совместно каналы обеспечили вероятность правильного обнаружения 93,5 % при вероятности ложной тревоги 4 %.</a:t>
            </a:r>
            <a:endParaRPr sz="1800" b="0">
              <a:solidFill>
                <a:schemeClr val="tx1"/>
              </a:solidFill>
              <a:latin typeface="Liberation Serif"/>
              <a:cs typeface="Liberation Serif"/>
            </a:endParaRPr>
          </a:p>
        </p:txBody>
      </p:sp>
      <p:sp>
        <p:nvSpPr>
          <p:cNvPr id="1007198497" name=""/>
          <p:cNvSpPr txBox="1"/>
          <p:nvPr/>
        </p:nvSpPr>
        <p:spPr bwMode="auto">
          <a:xfrm flipH="0" flipV="0">
            <a:off x="4068221" y="159906"/>
            <a:ext cx="405394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Liberation Serif"/>
                <a:ea typeface="Liberation Serif"/>
                <a:cs typeface="Liberation Serif"/>
              </a:rPr>
              <a:t>Заключение</a:t>
            </a:r>
            <a:endParaRPr sz="2200">
              <a:latin typeface="Liberation Serif"/>
              <a:cs typeface="Liberation Serif"/>
            </a:endParaRPr>
          </a:p>
        </p:txBody>
      </p:sp>
      <p:sp>
        <p:nvSpPr>
          <p:cNvPr id="639657326" name="TextBox 1880484338"/>
          <p:cNvSpPr txBox="1"/>
          <p:nvPr/>
        </p:nvSpPr>
        <p:spPr bwMode="auto">
          <a:xfrm>
            <a:off x="11581385" y="6464808"/>
            <a:ext cx="361398" cy="305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14722" name="Text 0"/>
          <p:cNvSpPr/>
          <p:nvPr/>
        </p:nvSpPr>
        <p:spPr bwMode="auto">
          <a:xfrm>
            <a:off x="609447" y="2804160"/>
            <a:ext cx="10970056" cy="1219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6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Спасибо за внимание</a:t>
            </a:r>
            <a:endParaRPr sz="3600">
              <a:latin typeface="Liberation Serif"/>
              <a:cs typeface="Liberation Serif"/>
            </a:endParaRPr>
          </a:p>
        </p:txBody>
      </p:sp>
      <p:sp>
        <p:nvSpPr>
          <p:cNvPr id="1945608615" name="TextBox 996258393"/>
          <p:cNvSpPr txBox="1"/>
          <p:nvPr/>
        </p:nvSpPr>
        <p:spPr bwMode="auto">
          <a:xfrm>
            <a:off x="11210544" y="6464808"/>
            <a:ext cx="731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400">
                <a:latin typeface="Times New Roman"/>
              </a:rPr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Обнаружение и распознавание дронов</dc:title>
  <dc:subject>PptxGenJS Presentation</dc:subject>
  <dc:creator>ВКР</dc:creator>
  <cp:keywords/>
  <dc:description/>
  <dc:identifier/>
  <dc:language/>
  <cp:lastModifiedBy/>
  <cp:revision>13</cp:revision>
  <dcterms:created xsi:type="dcterms:W3CDTF">2026-06-08T18:03:06Z</dcterms:created>
  <dcterms:modified xsi:type="dcterms:W3CDTF">2026-06-21T20:12:36Z</dcterms:modified>
  <cp:category/>
  <cp:contentStatus/>
  <cp:version/>
</cp:coreProperties>
</file>