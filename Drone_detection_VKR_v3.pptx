
<file path=[Content_Types].xml><?xml version="1.0" encoding="utf-8"?>
<Types xmlns="http://schemas.openxmlformats.org/package/2006/content-types">
  <Default Extension="xml" ContentType="application/xml"/>
  <Default Extension="xlsx" ContentType="application/vnd.openxmlformats-officedocument.spreadsheetml.sheet"/>
  <Default Extension="wmf" ContentType="image/x-wmf"/>
  <Default Extension="bin" ContentType="application/vnd.openxmlformats-officedocument.oleObject"/>
  <Default Extension="rels" ContentType="application/vnd.openxmlformats-package.relationships+xml"/>
  <Default Extension="jpeg" ContentType="image/jpeg"/>
  <Default Extension="png" ContentType="image/png"/>
  <Override PartName="/ppt/notesSlides/notesSlide15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14.xml" ContentType="application/vnd.openxmlformats-officedocument.presentationml.slide+xml"/>
  <Override PartName="/ppt/slides/slide11.xml" ContentType="application/vnd.openxmlformats-officedocument.presentationml.slide+xml"/>
  <Override PartName="/ppt/slides/slide13.xml" ContentType="application/vnd.openxmlformats-officedocument.presentationml.slide+xml"/>
  <Override PartName="/ppt/slides/slide6.xml" ContentType="application/vnd.openxmlformats-officedocument.presentationml.slide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slides/slide4.xml" ContentType="application/vnd.openxmlformats-officedocument.presentationml.slide+xml"/>
  <Override PartName="/docProps/core.xml" ContentType="application/vnd.openxmlformats-package.core-properties+xml"/>
  <Override PartName="/ppt/slides/slide1.xml" ContentType="application/vnd.openxmlformats-officedocument.presentationml.slide+xml"/>
  <Override PartName="/ppt/slideMasters/slideMaster1.xml" ContentType="application/vnd.openxmlformats-officedocument.presentationml.slideMaster+xml"/>
  <Override PartName="/ppt/slides/slide2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slides/slide3.xml" ContentType="application/vnd.openxmlformats-officedocument.presentationml.slide+xml"/>
  <Override PartName="/ppt/viewProps.xml" ContentType="application/vnd.openxmlformats-officedocument.presentationml.viewProps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slides/slide7.xml" ContentType="application/vnd.openxmlformats-officedocument.presentationml.slide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notesSlides/notesSlide12.xml" ContentType="application/vnd.openxmlformats-officedocument.presentationml.notesSlide+xml"/>
  <Override PartName="/ppt/slides/slide12.xml" ContentType="application/vnd.openxmlformats-officedocument.presentationml.slide+xml"/>
  <Override PartName="/ppt/charts/chart1.xml" ContentType="application/vnd.openxmlformats-officedocument.drawingml.chart+xml"/>
  <Override PartName="/ppt/slideLayouts/slideLayout1.xml" ContentType="application/vnd.openxmlformats-officedocument.presentationml.slideLayout+xml"/>
  <Override PartName="/ppt/slides/slide5.xml" ContentType="application/vnd.openxmlformats-officedocument.presentationml.slide+xml"/>
  <Override PartName="/ppt/notesSlides/notesSlide8.xml" ContentType="application/vnd.openxmlformats-officedocument.presentationml.notesSlide+xml"/>
  <Override PartName="/ppt/presentation.xml" ContentType="application/vnd.openxmlformats-officedocument.presentationml.presentation.main+xml"/>
  <Override PartName="/ppt/slides/slide8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9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autoCompressPictures="0" saveSubsetFonts="1">
  <p:sldMasterIdLst>
    <p:sldMasterId id="2147483648" r:id="rId1"/>
  </p:sldMasterIdLst>
  <p:notesMasterIdLst>
    <p:notesMasterId r:id="rId19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</p:sldIdLst>
  <p:sldSz cx="12188952" cy="6858000"/>
  <p:notesSz cx="9144000" cy="5143500"/>
  <p:defaultTextStyle>
    <a:lvl1pPr marL="0" algn="l" defTabSz="91440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2D5ABB26-0587-4C30-8999-92F81FD0307C}">
  <a:tblStyle styleId="{2D5ABB26-0587-4C30-8999-92F81FD0307C}" styleName="No Style, No Grid">
    <a:wholeTbl>
      <a:tcTxStyle>
        <a:fontRef idx="minor">
          <a:prstClr val="black"/>
        </a:fontRef>
        <a:schemeClr val="dk1"/>
      </a:tcTxStyle>
      <a:tcStyle>
        <a:tcBdr>
          <a:left>
            <a:ln w="12700">
              <a:noFill/>
            </a:ln>
          </a:left>
          <a:right>
            <a:ln w="12700">
              <a:noFill/>
            </a:ln>
          </a:right>
          <a:top>
            <a:ln w="12700">
              <a:noFill/>
            </a:ln>
          </a:top>
          <a:bottom>
            <a:ln w="12700">
              <a:noFill/>
            </a:ln>
          </a:bottom>
          <a:insideH>
            <a:ln w="12700">
              <a:noFill/>
            </a:ln>
          </a:insideH>
          <a:insideV>
            <a:ln w="12700"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lt1"/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lt1"/>
          </a:solidFill>
        </a:fill>
      </a:tcStyle>
    </a:band1V>
    <a:band2V>
      <a:tcStyle>
        <a:tcBdr/>
        <a:fill>
          <a:solidFill>
            <a:schemeClr val="lt1"/>
          </a:solidFill>
        </a:fill>
      </a:tcStyle>
    </a:band2V>
    <a:lastCol>
      <a:tcTxStyle b="on">
        <a:fontRef idx="minor">
          <a:prstClr val="black"/>
        </a:fontRef>
        <a:schemeClr val="dk1"/>
      </a:tcTxStyle>
      <a:tcStyle>
        <a:tcBdr/>
        <a:fill>
          <a:solidFill>
            <a:schemeClr val="lt1"/>
          </a:solidFill>
        </a:fill>
      </a:tcStyle>
    </a:lastCol>
    <a:firstCol>
      <a:tcTxStyle b="on">
        <a:fontRef idx="minor">
          <a:prstClr val="black"/>
        </a:fontRef>
        <a:schemeClr val="dk1"/>
      </a:tcTxStyle>
      <a:tcStyle>
        <a:tcBdr/>
        <a:fill>
          <a:solidFill>
            <a:schemeClr val="lt1"/>
          </a:solidFill>
        </a:fill>
      </a:tcStyle>
    </a:firstCol>
    <a:lastRow>
      <a:tcTxStyle b="on">
        <a:fontRef idx="minor">
          <a:prstClr val="black"/>
        </a:fontRef>
        <a:schemeClr val="dk1"/>
      </a:tcTxStyle>
      <a:tcStyle>
        <a:tcBdr>
          <a:top>
            <a:ln w="12700">
              <a:noFill/>
            </a:ln>
          </a:top>
        </a:tcBdr>
        <a:fill>
          <a:solidFill>
            <a:schemeClr val="lt1"/>
          </a:solidFill>
        </a:fill>
      </a:tcStyle>
    </a:lastRow>
    <a:seCell>
      <a:tcStyle>
        <a:tcBdr/>
      </a:tcStyle>
    </a:seCell>
    <a:swCell>
      <a:tcStyle>
        <a:tcBdr/>
      </a:tcStyle>
    </a:swCell>
    <a:firstRow>
      <a:tcTxStyle b="on">
        <a:fontRef idx="minor">
          <a:prstClr val="black"/>
        </a:fontRef>
        <a:schemeClr val="dk1"/>
      </a:tcTxStyle>
      <a:tcStyle>
        <a:tcBdr>
          <a:bottom>
            <a:ln w="12700">
              <a:noFill/>
            </a:ln>
          </a:bottom>
        </a:tcBdr>
        <a:fill>
          <a:solidFill>
            <a:schemeClr val="lt1"/>
          </a:solidFill>
        </a:fill>
      </a:tcStyle>
    </a:firstRow>
    <a:neCell>
      <a:tcStyle>
        <a:tcBdr/>
      </a:tcStyle>
    </a:neCell>
    <a:nwCell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>
        <p:guide pos="3839"/>
        <p:guide pos="2160" orient="horz"/>
      </p:guideLst>
    </p:cSldViewPr>
  </p:slideViewPr>
  <p:gridSpacing cx="76200" cy="76200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 /><Relationship Id="rId21" Type="http://schemas.openxmlformats.org/officeDocument/2006/relationships/tableStyles" Target="tableStyles.xml" /><Relationship Id="rId22" Type="http://schemas.openxmlformats.org/officeDocument/2006/relationships/viewProps" Target="viewProps.xml" 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 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 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mc="http://schemas.openxmlformats.org/markup-compatibility/2006" xmlns:c15="http://schemas.microsoft.com/office/drawing/2012/chart" xmlns:c14="http://schemas.microsoft.com/office/drawing/2007/8/2/chart" xmlns:c16r2="http://schemas.microsoft.com/office/drawing/2015/06/chart">
  <c:date1904 val="0"/>
  <c:roundedCorners val="1"/>
  <mc:AlternateContent>
    <mc:Choice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Times New Roman"/>
              </a:defRPr>
            </a:pPr>
            <a:r>
              <a:rPr sz="1200" b="0" i="0" u="none" strike="noStrike">
                <a:solidFill>
                  <a:srgbClr val="000000"/>
                </a:solidFill>
                <a:latin typeface="Times New Roman"/>
              </a:rPr>
              <a:t>Вероятность обнаружения Pd</a:t>
            </a:r>
            <a:endParaRPr/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Pd</c:v>
                </c:pt>
              </c:strCache>
            </c:strRef>
          </c:tx>
          <c:spPr bwMode="auto">
            <a:prstGeom prst="rect">
              <a:avLst/>
            </a:prstGeom>
            <a:solidFill>
              <a:srgbClr val="A0A0A0"/>
            </a:solidFill>
            <a:effectLst/>
          </c:spPr>
          <c:invertIfNegative val="0"/>
          <c:dPt>
            <c:idx val="0"/>
            <c:invertIfNegative val="0"/>
            <c:bubble3D val="0"/>
            <c:spPr bwMode="auto">
              <a:prstGeom prst="rect">
                <a:avLst/>
              </a:prstGeom>
              <a:solidFill>
                <a:srgbClr val="A0A0A0"/>
              </a:solidFill>
              <a:effectLst/>
            </c:spPr>
          </c:dPt>
          <c:dPt>
            <c:idx val="1"/>
            <c:invertIfNegative val="0"/>
            <c:bubble3D val="0"/>
            <c:spPr bwMode="auto">
              <a:prstGeom prst="rect">
                <a:avLst/>
              </a:prstGeom>
              <a:solidFill>
                <a:srgbClr val="A0A0A0"/>
              </a:solidFill>
              <a:effectLst/>
            </c:spPr>
          </c:dPt>
          <c:dPt>
            <c:idx val="2"/>
            <c:invertIfNegative val="0"/>
            <c:bubble3D val="0"/>
            <c:spPr bwMode="auto">
              <a:prstGeom prst="rect">
                <a:avLst/>
              </a:prstGeom>
              <a:solidFill>
                <a:srgbClr val="A0A0A0"/>
              </a:solidFill>
              <a:effectLst/>
            </c:spPr>
          </c:dPt>
          <c:dPt>
            <c:idx val="3"/>
            <c:invertIfNegative val="0"/>
            <c:bubble3D val="0"/>
            <c:spPr bwMode="auto">
              <a:prstGeom prst="rect">
                <a:avLst/>
              </a:prstGeom>
              <a:solidFill>
                <a:srgbClr val="A0A0A0"/>
              </a:solidFill>
              <a:effectLst/>
            </c:spPr>
          </c:dPt>
          <c:dPt>
            <c:idx val="4"/>
            <c:invertIfNegative val="0"/>
            <c:bubble3D val="0"/>
            <c:spPr bwMode="auto">
              <a:prstGeom prst="rect">
                <a:avLst/>
              </a:prstGeom>
              <a:solidFill>
                <a:srgbClr val="000000"/>
              </a:solidFill>
              <a:effectLst/>
            </c:spPr>
          </c:dPt>
          <c:dLbls>
            <c:dLbl>
              <c:idx val="4"/>
              <c:dLblPos val="outEnd"/>
              <c:layout/>
              <c:numFmt formatCode="0.000" sourceLinked="0"/>
              <c:showBubbleSize val="0"/>
              <c:showCatName val="0"/>
              <c:showLegendKey val="0"/>
              <c:showPercent val="0"/>
              <c:showSerName val="0"/>
              <c:showVal val="1"/>
              <c:tx>
                <c:rich>
                  <a:bodyPr/>
                  <a:p>
                    <a:pPr>
                      <a:defRPr sz="1100" b="0" i="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</a:defRPr>
                    </a:pPr>
                    <a:r>
                      <a:rPr/>
                      <a:t>0,935</a:t>
                    </a:r>
                    <a:endParaRPr/>
                  </a:p>
                </c:rich>
              </c:tx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000000"/>
                      </a:solidFill>
                      <a:latin typeface="Times New Roman"/>
                    </a:defRPr>
                  </a:pPr>
                  <a:endParaRPr/>
                </a:p>
              </c:txPr>
            </c:dLbl>
            <c:dLbl>
              <c:idx val="3"/>
              <c:dLblPos val="outEnd"/>
              <c:layout/>
              <c:numFmt formatCode="0.000" sourceLinked="0"/>
              <c:showBubbleSize val="0"/>
              <c:showCatName val="0"/>
              <c:showLegendKey val="0"/>
              <c:showPercent val="0"/>
              <c:showSerName val="0"/>
              <c:showVal val="1"/>
              <c:tx>
                <c:rich>
                  <a:bodyPr/>
                  <a:p>
                    <a:pPr>
                      <a:defRPr sz="1100" b="0" i="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</a:defRPr>
                    </a:pPr>
                    <a:r>
                      <a:rPr/>
                      <a:t>0,880</a:t>
                    </a:r>
                    <a:endParaRPr/>
                  </a:p>
                </c:rich>
              </c:tx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000000"/>
                      </a:solidFill>
                      <a:latin typeface="Times New Roman"/>
                    </a:defRPr>
                  </a:pPr>
                  <a:endParaRPr/>
                </a:p>
              </c:txPr>
            </c:dLbl>
            <c:dLbl>
              <c:idx val="2"/>
              <c:dLblPos val="outEnd"/>
              <c:layout/>
              <c:numFmt formatCode="0.000" sourceLinked="0"/>
              <c:showBubbleSize val="0"/>
              <c:showCatName val="0"/>
              <c:showLegendKey val="0"/>
              <c:showPercent val="0"/>
              <c:showSerName val="0"/>
              <c:showVal val="1"/>
              <c:tx>
                <c:rich>
                  <a:bodyPr/>
                  <a:p>
                    <a:pPr>
                      <a:defRPr sz="1100" b="0" i="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</a:defRPr>
                    </a:pPr>
                    <a:r>
                      <a:rPr/>
                      <a:t>0,827</a:t>
                    </a:r>
                    <a:endParaRPr/>
                  </a:p>
                </c:rich>
              </c:tx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000000"/>
                      </a:solidFill>
                      <a:latin typeface="Times New Roman"/>
                    </a:defRPr>
                  </a:pPr>
                  <a:endParaRPr/>
                </a:p>
              </c:txPr>
            </c:dLbl>
            <c:dLbl>
              <c:idx val="1"/>
              <c:dLblPos val="outEnd"/>
              <c:layout/>
              <c:numFmt formatCode="0.000" sourceLinked="0"/>
              <c:showBubbleSize val="0"/>
              <c:showCatName val="0"/>
              <c:showLegendKey val="0"/>
              <c:showPercent val="0"/>
              <c:showSerName val="0"/>
              <c:showVal val="1"/>
              <c:tx>
                <c:rich>
                  <a:bodyPr/>
                  <a:p>
                    <a:pPr>
                      <a:defRPr sz="1100" b="0" i="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</a:defRPr>
                    </a:pPr>
                    <a:r>
                      <a:rPr/>
                      <a:t>0,780</a:t>
                    </a:r>
                    <a:endParaRPr/>
                  </a:p>
                </c:rich>
              </c:tx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000000"/>
                      </a:solidFill>
                      <a:latin typeface="Times New Roman"/>
                    </a:defRPr>
                  </a:pPr>
                  <a:endParaRPr/>
                </a:p>
              </c:txPr>
            </c:dLbl>
            <c:dLbl>
              <c:idx val="0"/>
              <c:dLblPos val="outEnd"/>
              <c:layout/>
              <c:numFmt formatCode="0.000" sourceLinked="0"/>
              <c:showBubbleSize val="0"/>
              <c:showCatName val="0"/>
              <c:showLegendKey val="0"/>
              <c:showPercent val="0"/>
              <c:showSerName val="0"/>
              <c:showVal val="1"/>
              <c:tx>
                <c:rich>
                  <a:bodyPr/>
                  <a:p>
                    <a:pPr>
                      <a:defRPr sz="1100" b="0" i="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</a:defRPr>
                    </a:pPr>
                    <a:r>
                      <a:rPr/>
                      <a:t>0,728</a:t>
                    </a:r>
                    <a:endParaRPr/>
                  </a:p>
                </c:rich>
              </c:tx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000000"/>
                      </a:solidFill>
                      <a:latin typeface="Times New Roman"/>
                    </a:defRPr>
                  </a:pPr>
                  <a:endParaRPr/>
                </a:p>
              </c:txPr>
            </c:dLbl>
            <c:numFmt formatCode="0.000" sourceLinked="0"/>
            <c:showBubbleSize val="0"/>
            <c:showCatName val="0"/>
            <c:showLeaderLines val="0"/>
            <c:showLegendKey val="0"/>
            <c:showPercent val="0"/>
            <c:showSerName val="0"/>
            <c:showVal val="1"/>
            <c:txPr>
              <a:bodyPr/>
              <a:lstStyle/>
              <a:p>
                <a:pPr>
                  <a:defRPr sz="1100" b="0" i="0" u="none" strike="noStrike">
                    <a:solidFill>
                      <a:srgbClr val="000000"/>
                    </a:solidFill>
                    <a:latin typeface="Times New Roman"/>
                  </a:defRPr>
                </a:pPr>
                <a:endParaRPr/>
              </a:p>
            </c:txPr>
          </c:dLbls>
          <c:cat>
            <c:multiLvlStrRef>
              <c:f>Sheet1!$A$2:$A$6</c:f>
              <c:multiLvlStrCache>
                <c:ptCount val="5"/>
                <c:lvl>
                  <c:pt idx="0">
                    <c:v>Видео</c:v>
                  </c:pt>
                  <c:pt idx="1">
                    <c:v>Акуст.</c:v>
                  </c:pt>
                  <c:pt idx="2">
                    <c:v>РЧ</c:v>
                  </c:pt>
                  <c:pt idx="3">
                    <c:v>Радар</c:v>
                  </c:pt>
                  <c:pt idx="4">
                    <c:v>Объед.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0.728</c:v>
                </c:pt>
                <c:pt idx="1">
                  <c:v>0.78</c:v>
                </c:pt>
                <c:pt idx="2">
                  <c:v>0.827</c:v>
                </c:pt>
                <c:pt idx="3">
                  <c:v>0.88</c:v>
                </c:pt>
                <c:pt idx="4">
                  <c:v>0.935</c:v>
                </c:pt>
              </c:numCache>
            </c:numRef>
          </c:val>
        </c:ser>
        <c:dLbls>
          <c:numFmt formatCode="0.000" sourceLinked="0"/>
          <c:showBubbleSize val="0"/>
          <c:showCatName val="0"/>
          <c:showLeaderLines val="0"/>
          <c:showLegendKey val="0"/>
          <c:showPercent val="0"/>
          <c:showSerName val="0"/>
          <c:showVal val="1"/>
          <c:txPr>
            <a:bodyPr/>
            <a:lstStyle/>
            <a:p>
              <a:pPr>
                <a:defRPr sz="1100" b="0" i="0" u="none" strike="noStrike">
                  <a:solidFill>
                    <a:srgbClr val="000000"/>
                  </a:solidFill>
                  <a:latin typeface="Times New Roman"/>
                </a:defRPr>
              </a:pPr>
              <a:endParaRPr/>
            </a:p>
          </c:txPr>
        </c:dLbls>
        <c:gapWidth val="150"/>
        <c:overlap val="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 bwMode="auto">
          <a:prstGeom prst="rect">
            <a:avLst/>
          </a:prstGeom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Times New Roman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000000"/>
          <c:min val="0.000000"/>
        </c:scaling>
        <c:delete val="0"/>
        <c:axPos val="l"/>
        <c:majorGridlines>
          <c:spPr bwMode="auto">
            <a:prstGeom prst="rect">
              <a:avLst/>
            </a:prstGeom>
            <a:ln w="6350" cap="flat">
              <a:solidFill>
                <a:srgbClr val="808080"/>
              </a:solidFill>
              <a:prstDash val="dash"/>
              <a:round/>
            </a:ln>
          </c:spPr>
        </c:majorGridlines>
        <c:numFmt formatCode="0.0" sourceLinked="0"/>
        <c:majorTickMark val="out"/>
        <c:minorTickMark val="none"/>
        <c:tickLblPos val="nextTo"/>
        <c:spPr bwMode="auto">
          <a:prstGeom prst="rect">
            <a:avLst/>
          </a:prstGeom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Times New Roman"/>
              </a:defRPr>
            </a:pPr>
            <a:endParaRPr lang="en-US"/>
          </a:p>
        </c:txPr>
        <c:crossAx val="2094734554"/>
        <c:crosses val="autoZero"/>
        <c:crossBetween val="between"/>
      </c:valAx>
      <c:spPr bwMode="auto">
        <a:prstGeom prst="rect">
          <a:avLst/>
        </a:prstGeom>
        <a:noFill/>
        <a:ln>
          <a:noFill/>
        </a:ln>
        <a:effectLst/>
      </c:spPr>
    </c:plotArea>
    <c:plotVisOnly val="1"/>
    <c:dispBlanksAs val="span"/>
    <c:showDLblsOverMax val="0"/>
  </c:chart>
  <c:spPr bwMode="auto">
    <a:xfrm rot="0">
      <a:off x="365668" y="1158240"/>
      <a:ext cx="5728807" cy="4693920"/>
    </a:xfrm>
    <a:prstGeom prst="rect">
      <a:avLst/>
    </a:prstGeom>
    <a:solidFill>
      <a:srgbClr val="FFFFFF"/>
    </a:solidFill>
    <a:ln w="12700" cap="flat">
      <a:solidFill>
        <a:srgbClr val="000000"/>
      </a:solidFill>
    </a:ln>
    <a:effectLst/>
  </c:spPr>
  <c:externalData r:id="rId1">
    <c:autoUpdate val="1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mc="http://schemas.openxmlformats.org/markup-compatibility/2006" xmlns:c15="http://schemas.microsoft.com/office/drawing/2012/chart" xmlns:c14="http://schemas.microsoft.com/office/drawing/2007/8/2/chart" xmlns:c16r2="http://schemas.microsoft.com/office/drawing/2015/06/chart">
  <c:date1904 val="0"/>
  <c:roundedCorners val="1"/>
  <mc:AlternateContent>
    <mc:Choice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Times New Roman"/>
              </a:defRPr>
            </a:pPr>
            <a:r>
              <a:rPr sz="1200" b="0" i="0" u="none" strike="noStrike">
                <a:solidFill>
                  <a:srgbClr val="000000"/>
                </a:solidFill>
                <a:latin typeface="Times New Roman"/>
              </a:rPr>
              <a:t>Вероятность ложной тревоги Pfa</a:t>
            </a:r>
            <a:endParaRPr/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Pfa</c:v>
                </c:pt>
              </c:strCache>
            </c:strRef>
          </c:tx>
          <c:spPr bwMode="auto">
            <a:prstGeom prst="rect">
              <a:avLst/>
            </a:prstGeom>
            <a:solidFill>
              <a:srgbClr val="A0A0A0"/>
            </a:solidFill>
            <a:effectLst/>
          </c:spPr>
          <c:invertIfNegative val="0"/>
          <c:dPt>
            <c:idx val="0"/>
            <c:invertIfNegative val="0"/>
            <c:bubble3D val="0"/>
            <c:spPr bwMode="auto">
              <a:prstGeom prst="rect">
                <a:avLst/>
              </a:prstGeom>
              <a:solidFill>
                <a:srgbClr val="A0A0A0"/>
              </a:solidFill>
              <a:effectLst/>
            </c:spPr>
          </c:dPt>
          <c:dPt>
            <c:idx val="1"/>
            <c:invertIfNegative val="0"/>
            <c:bubble3D val="0"/>
            <c:spPr bwMode="auto">
              <a:prstGeom prst="rect">
                <a:avLst/>
              </a:prstGeom>
              <a:solidFill>
                <a:srgbClr val="A0A0A0"/>
              </a:solidFill>
              <a:effectLst/>
            </c:spPr>
          </c:dPt>
          <c:dPt>
            <c:idx val="2"/>
            <c:invertIfNegative val="0"/>
            <c:bubble3D val="0"/>
            <c:spPr bwMode="auto">
              <a:prstGeom prst="rect">
                <a:avLst/>
              </a:prstGeom>
              <a:solidFill>
                <a:srgbClr val="A0A0A0"/>
              </a:solidFill>
              <a:effectLst/>
            </c:spPr>
          </c:dPt>
          <c:dPt>
            <c:idx val="3"/>
            <c:invertIfNegative val="0"/>
            <c:bubble3D val="0"/>
            <c:spPr bwMode="auto">
              <a:prstGeom prst="rect">
                <a:avLst/>
              </a:prstGeom>
              <a:solidFill>
                <a:srgbClr val="A0A0A0"/>
              </a:solidFill>
              <a:effectLst/>
            </c:spPr>
          </c:dPt>
          <c:dPt>
            <c:idx val="4"/>
            <c:invertIfNegative val="0"/>
            <c:bubble3D val="0"/>
            <c:spPr bwMode="auto">
              <a:prstGeom prst="rect">
                <a:avLst/>
              </a:prstGeom>
              <a:solidFill>
                <a:srgbClr val="000000"/>
              </a:solidFill>
              <a:effectLst/>
            </c:spPr>
          </c:dPt>
          <c:dLbls>
            <c:dLbl>
              <c:idx val="0"/>
              <c:dLblPos val="outEnd"/>
              <c:layout/>
              <c:numFmt formatCode="0.000" sourceLinked="0"/>
              <c:showBubbleSize val="0"/>
              <c:showCatName val="0"/>
              <c:showLegendKey val="0"/>
              <c:showPercent val="0"/>
              <c:showSerName val="0"/>
              <c:showVal val="1"/>
              <c:tx>
                <c:rich>
                  <a:bodyPr/>
                  <a:p>
                    <a:pPr>
                      <a:defRPr sz="1100" b="0" i="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</a:defRPr>
                    </a:pPr>
                    <a:r>
                      <a:rPr/>
                      <a:t>0,100</a:t>
                    </a:r>
                    <a:endParaRPr/>
                  </a:p>
                </c:rich>
              </c:tx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000000"/>
                      </a:solidFill>
                      <a:latin typeface="Times New Roman"/>
                    </a:defRPr>
                  </a:pPr>
                  <a:endParaRPr/>
                </a:p>
              </c:txPr>
            </c:dLbl>
            <c:dLbl>
              <c:idx val="1"/>
              <c:dLblPos val="outEnd"/>
              <c:layout/>
              <c:numFmt formatCode="0.000" sourceLinked="0"/>
              <c:showBubbleSize val="0"/>
              <c:showCatName val="0"/>
              <c:showLegendKey val="0"/>
              <c:showPercent val="0"/>
              <c:showSerName val="0"/>
              <c:showVal val="1"/>
              <c:tx>
                <c:rich>
                  <a:bodyPr/>
                  <a:p>
                    <a:pPr>
                      <a:defRPr sz="1100" b="0" i="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</a:defRPr>
                    </a:pPr>
                    <a:r>
                      <a:rPr/>
                      <a:t>0,075</a:t>
                    </a:r>
                    <a:endParaRPr/>
                  </a:p>
                </c:rich>
              </c:tx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000000"/>
                      </a:solidFill>
                      <a:latin typeface="Times New Roman"/>
                    </a:defRPr>
                  </a:pPr>
                  <a:endParaRPr/>
                </a:p>
              </c:txPr>
            </c:dLbl>
            <c:dLbl>
              <c:idx val="2"/>
              <c:dLblPos val="outEnd"/>
              <c:layout/>
              <c:numFmt formatCode="0.000" sourceLinked="0"/>
              <c:showBubbleSize val="0"/>
              <c:showCatName val="0"/>
              <c:showLegendKey val="0"/>
              <c:showPercent val="0"/>
              <c:showSerName val="0"/>
              <c:showVal val="1"/>
              <c:tx>
                <c:rich>
                  <a:bodyPr/>
                  <a:p>
                    <a:pPr>
                      <a:defRPr sz="1100" b="0" i="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</a:defRPr>
                    </a:pPr>
                    <a:r>
                      <a:rPr/>
                      <a:t>0,107</a:t>
                    </a:r>
                    <a:endParaRPr/>
                  </a:p>
                </c:rich>
              </c:tx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000000"/>
                      </a:solidFill>
                      <a:latin typeface="Times New Roman"/>
                    </a:defRPr>
                  </a:pPr>
                  <a:endParaRPr/>
                </a:p>
              </c:txPr>
            </c:dLbl>
            <c:dLbl>
              <c:idx val="3"/>
              <c:dLblPos val="outEnd"/>
              <c:layout/>
              <c:numFmt formatCode="0.000" sourceLinked="0"/>
              <c:showBubbleSize val="0"/>
              <c:showCatName val="0"/>
              <c:showLegendKey val="0"/>
              <c:showPercent val="0"/>
              <c:showSerName val="0"/>
              <c:showVal val="1"/>
              <c:tx>
                <c:rich>
                  <a:bodyPr/>
                  <a:p>
                    <a:pPr>
                      <a:defRPr sz="1100" b="0" i="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</a:defRPr>
                    </a:pPr>
                    <a:r>
                      <a:rPr/>
                      <a:t>0,150</a:t>
                    </a:r>
                    <a:endParaRPr/>
                  </a:p>
                </c:rich>
              </c:tx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000000"/>
                      </a:solidFill>
                      <a:latin typeface="Times New Roman"/>
                    </a:defRPr>
                  </a:pPr>
                  <a:endParaRPr/>
                </a:p>
              </c:txPr>
            </c:dLbl>
            <c:dLbl>
              <c:idx val="4"/>
              <c:dLblPos val="outEnd"/>
              <c:layout/>
              <c:numFmt formatCode="0.000" sourceLinked="0"/>
              <c:showBubbleSize val="0"/>
              <c:showCatName val="0"/>
              <c:showLegendKey val="0"/>
              <c:showPercent val="0"/>
              <c:showSerName val="0"/>
              <c:showVal val="1"/>
              <c:tx>
                <c:rich>
                  <a:bodyPr/>
                  <a:p>
                    <a:pPr>
                      <a:defRPr sz="1100" b="0" i="0" u="none" strike="noStrike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</a:defRPr>
                    </a:pPr>
                    <a:r>
                      <a:rPr/>
                      <a:t>0,040</a:t>
                    </a:r>
                    <a:endParaRPr/>
                  </a:p>
                </c:rich>
              </c:tx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000000"/>
                      </a:solidFill>
                      <a:latin typeface="Times New Roman"/>
                    </a:defRPr>
                  </a:pPr>
                  <a:endParaRPr/>
                </a:p>
              </c:txPr>
            </c:dLbl>
            <c:numFmt formatCode="0.000" sourceLinked="0"/>
            <c:showBubbleSize val="0"/>
            <c:showCatName val="0"/>
            <c:showLeaderLines val="0"/>
            <c:showLegendKey val="0"/>
            <c:showPercent val="0"/>
            <c:showSerName val="0"/>
            <c:showVal val="1"/>
            <c:txPr>
              <a:bodyPr/>
              <a:lstStyle/>
              <a:p>
                <a:pPr>
                  <a:defRPr sz="1100" b="0" i="0" u="none" strike="noStrike">
                    <a:solidFill>
                      <a:srgbClr val="000000"/>
                    </a:solidFill>
                    <a:latin typeface="Times New Roman"/>
                  </a:defRPr>
                </a:pPr>
                <a:endParaRPr/>
              </a:p>
            </c:txPr>
          </c:dLbls>
          <c:cat>
            <c:multiLvlStrRef>
              <c:f>Sheet1!$A$2:$A$6</c:f>
              <c:multiLvlStrCache>
                <c:ptCount val="5"/>
                <c:lvl>
                  <c:pt idx="0">
                    <c:v>Видео</c:v>
                  </c:pt>
                  <c:pt idx="1">
                    <c:v>Радар</c:v>
                  </c:pt>
                  <c:pt idx="2">
                    <c:v>Акуст.</c:v>
                  </c:pt>
                  <c:pt idx="3">
                    <c:v>РЧ</c:v>
                  </c:pt>
                  <c:pt idx="4">
                    <c:v>Объед.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0.1</c:v>
                </c:pt>
                <c:pt idx="1">
                  <c:v>0.075</c:v>
                </c:pt>
                <c:pt idx="2">
                  <c:v>0.107</c:v>
                </c:pt>
                <c:pt idx="3">
                  <c:v>0.15</c:v>
                </c:pt>
                <c:pt idx="4">
                  <c:v>0.04</c:v>
                </c:pt>
              </c:numCache>
            </c:numRef>
          </c:val>
        </c:ser>
        <c:dLbls>
          <c:numFmt formatCode="0.000" sourceLinked="0"/>
          <c:showBubbleSize val="0"/>
          <c:showCatName val="0"/>
          <c:showLeaderLines val="0"/>
          <c:showLegendKey val="0"/>
          <c:showPercent val="0"/>
          <c:showSerName val="0"/>
          <c:showVal val="1"/>
          <c:txPr>
            <a:bodyPr/>
            <a:lstStyle/>
            <a:p>
              <a:pPr>
                <a:defRPr sz="1100" b="0" i="0" u="none" strike="noStrike">
                  <a:solidFill>
                    <a:srgbClr val="000000"/>
                  </a:solidFill>
                  <a:latin typeface="Times New Roman"/>
                </a:defRPr>
              </a:pPr>
              <a:endParaRPr/>
            </a:p>
          </c:txPr>
        </c:dLbls>
        <c:gapWidth val="150"/>
        <c:overlap val="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 bwMode="auto">
          <a:prstGeom prst="rect">
            <a:avLst/>
          </a:prstGeom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Times New Roman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200000"/>
          <c:min val="0.000000"/>
        </c:scaling>
        <c:delete val="0"/>
        <c:axPos val="l"/>
        <c:majorGridlines>
          <c:spPr bwMode="auto">
            <a:prstGeom prst="rect">
              <a:avLst/>
            </a:prstGeom>
            <a:ln w="6350" cap="flat">
              <a:solidFill>
                <a:srgbClr val="808080"/>
              </a:solidFill>
              <a:prstDash val="dash"/>
              <a:round/>
            </a:ln>
          </c:spPr>
        </c:majorGridlines>
        <c:numFmt formatCode="0.00" sourceLinked="0"/>
        <c:majorTickMark val="out"/>
        <c:minorTickMark val="none"/>
        <c:tickLblPos val="nextTo"/>
        <c:spPr bwMode="auto">
          <a:prstGeom prst="rect">
            <a:avLst/>
          </a:prstGeom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Times New Roman"/>
              </a:defRPr>
            </a:pPr>
            <a:endParaRPr lang="en-US"/>
          </a:p>
        </c:txPr>
        <c:crossAx val="2094734554"/>
        <c:crosses val="autoZero"/>
        <c:crossBetween val="between"/>
      </c:valAx>
      <c:spPr bwMode="auto">
        <a:prstGeom prst="rect">
          <a:avLst/>
        </a:prstGeom>
        <a:noFill/>
        <a:ln>
          <a:noFill/>
        </a:ln>
        <a:effectLst/>
      </c:spPr>
    </c:plotArea>
    <c:plotVisOnly val="1"/>
    <c:dispBlanksAs val="span"/>
    <c:showDLblsOverMax val="0"/>
  </c:chart>
  <c:spPr bwMode="auto">
    <a:xfrm rot="0">
      <a:off x="6094476" y="1158240"/>
      <a:ext cx="5728807" cy="4693920"/>
    </a:xfrm>
    <a:prstGeom prst="rect">
      <a:avLst/>
    </a:prstGeom>
    <a:solidFill>
      <a:srgbClr val="FFFFFF"/>
    </a:solidFill>
    <a:ln w="12700" cap="flat">
      <a:solidFill>
        <a:srgbClr val="000000"/>
      </a:solidFill>
    </a:ln>
    <a:effectLst/>
  </c:spPr>
  <c:externalData r:id="rId1">
    <c:autoUpdate val="1"/>
  </c:externalData>
</c:chartSpace>
</file>

<file path=ppt/embeddings/_rels/Microsoft_Excel_Worksheet1.xlsx.rels><?xml version="1.0" encoding="UTF-8" standalone="yes"?><Relationships xmlns="http://schemas.openxmlformats.org/package/2006/relationships"></Relationships>
</file>

<file path=ppt/embeddings/_rels/Microsoft_Excel_Worksheet2.xlsx.rels><?xml version="1.0" encoding="UTF-8" standalone="yes"?><Relationships xmlns="http://schemas.openxmlformats.org/package/2006/relationships"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6814392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52794783" name="Date Placeholder 2"/>
          <p:cNvSpPr>
            <a:spLocks noGrp="1"/>
          </p:cNvSpPr>
          <p:nvPr>
            <p:ph type="dt" idx="2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967388719" name="Date Placeholder 2"/>
          <p:cNvSpPr>
            <a:spLocks noGrp="1"/>
          </p:cNvSpPr>
          <p:nvPr>
            <p:ph type="dt" idx="3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206614806" name="Notes Placeholder 4"/>
          <p:cNvSpPr>
            <a:spLocks noGrp="1"/>
          </p:cNvSpPr>
          <p:nvPr>
            <p:ph type="body" sz="quarter" idx="1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/>
          </a:p>
        </p:txBody>
      </p:sp>
      <p:sp>
        <p:nvSpPr>
          <p:cNvPr id="1994240161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1717049473" name="Slide Number Placeholder 6"/>
          <p:cNvSpPr>
            <a:spLocks noGrp="1"/>
          </p:cNvSpPr>
          <p:nvPr>
            <p:ph type="sldNum" sz="quarter" idx="10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 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 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 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 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 ?>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 ?>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 ?>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 ?>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3905082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5659485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184260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54623B7-807F-C9E7-6D50-FE72D51254E6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4424536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59488141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6333175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BE137E2-425C-E907-EDB8-23FB48460857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647901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24752042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817138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F7BE660-6CFA-2D4D-1358-E8BAA70A0C9E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4300527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17653295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9265653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CE4FDEB-E2A4-2E6A-F459-5CDB1E8120E2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1077063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64389851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028744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1658F2E-BA22-7FBD-37BE-71B1FB4ECEE9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2785372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51623959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611786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A01E180-1F28-5990-B739-C3B1B69E5545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7975620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88434216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936388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0DC94AB-35D4-A97A-C3BB-779462D0B3D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7886250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22442949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0787278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62DACFF-CD18-E4C0-623C-8BEB6C5D49D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6414604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90014847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2590600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FD0B4F8-FFEF-6546-24CA-4AAF59946155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289840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9012318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531420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E53D111-8BFF-0304-785F-5391773C1CE1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5841356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7462264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302045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55DEA0B-0514-B834-2066-999EF027AE2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3934967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5381434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4697634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1D5AF64-845D-C29A-2D07-2A3406F6F065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3699019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88936087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9973617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E0C90FD-3223-C89A-8042-1EA9684E762D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2129971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98314678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535532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D3CDE18-63BE-B5FE-7493-4B6609B2D176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0258673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73096526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3648694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E78C620-3A7B-9C09-3DA7-8AB84793229A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dt="0" ftr="0" hdr="0" sldNum="0"/>
  <p:txStyles>
    <p:titleStyle>
      <a:lvl1pPr algn="ctr" defTabSz="914400"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>
        <a:spcBef>
          <a:spcPts val="0"/>
        </a:spcBef>
        <a:buFont typeface="Arial"/>
        <a:buChar char="•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>
        <a:spcBef>
          <a:spcPts val="0"/>
        </a:spcBef>
        <a:buFont typeface="Arial"/>
        <a:buChar char="–"/>
        <a:defRPr sz="28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>
        <a:spcBef>
          <a:spcPts val="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>
        <a:spcBef>
          <a:spcPts val="0"/>
        </a:spcBef>
        <a:buFont typeface="Arial"/>
        <a:buChar char="–"/>
        <a:defRPr sz="20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>
        <a:spcBef>
          <a:spcPts val="0"/>
        </a:spcBef>
        <a:buFont typeface="Arial"/>
        <a:buChar char="»"/>
        <a:defRPr sz="20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chart" Target="../charts/chart1.xml" /><Relationship Id="rId4" Type="http://schemas.openxmlformats.org/officeDocument/2006/relationships/chart" Target="../charts/chart2.xml" 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1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96143461" name="Text 1"/>
          <p:cNvSpPr/>
          <p:nvPr/>
        </p:nvSpPr>
        <p:spPr bwMode="auto">
          <a:xfrm>
            <a:off x="975116" y="2743199"/>
            <a:ext cx="10360608" cy="1584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  <a:defRPr/>
            </a:pPr>
            <a:r>
              <a:rPr lang="en-US" sz="32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Разработка системы обнаружения и распознавания дронов</a:t>
            </a:r>
            <a:endParaRPr lang="en-US" sz="3200"/>
          </a:p>
        </p:txBody>
      </p:sp>
      <p:sp>
        <p:nvSpPr>
          <p:cNvPr id="1278012716" name="Text 2"/>
          <p:cNvSpPr/>
          <p:nvPr/>
        </p:nvSpPr>
        <p:spPr bwMode="auto">
          <a:xfrm>
            <a:off x="1828342" y="4693920"/>
            <a:ext cx="10238719" cy="853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r">
              <a:spcAft>
                <a:spcPts val="400"/>
              </a:spcAft>
              <a:buNone/>
              <a:defRPr/>
            </a:pPr>
            <a:r>
              <a:rPr lang="en-US" sz="24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Автор: студент группы ПМИ-22 Демчук Максим Андреевич</a:t>
            </a:r>
            <a:endParaRPr lang="en-US" sz="2400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  <a:p>
            <a:pPr marL="0" indent="0" algn="r">
              <a:spcAft>
                <a:spcPts val="398"/>
              </a:spcAft>
              <a:buNone/>
              <a:defRPr/>
            </a:pPr>
            <a:r>
              <a:rPr lang="en-US" sz="24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Руководитель ВКР: к. э. н. Погодина Юлия Анатольевна</a:t>
            </a:r>
            <a:endParaRPr lang="en-US" sz="2400"/>
          </a:p>
        </p:txBody>
      </p:sp>
      <p:sp>
        <p:nvSpPr>
          <p:cNvPr id="1955224796" name="Text 3"/>
          <p:cNvSpPr/>
          <p:nvPr/>
        </p:nvSpPr>
        <p:spPr bwMode="auto">
          <a:xfrm>
            <a:off x="609447" y="6156960"/>
            <a:ext cx="10970056" cy="487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  <a:defRPr/>
            </a:pPr>
            <a:r>
              <a:rPr lang="en-US" sz="18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г. Королёв, 2026</a:t>
            </a:r>
            <a:endParaRPr lang="en-US" sz="1300"/>
          </a:p>
        </p:txBody>
      </p:sp>
      <p:pic>
        <p:nvPicPr>
          <p:cNvPr id="308707396" name="Рисунок 8"/>
          <p:cNvPicPr/>
          <p:nvPr/>
        </p:nvPicPr>
        <p:blipFill rotWithShape="1">
          <a:blip r:embed="rId3"/>
          <a:stretch/>
        </p:blipFill>
        <p:spPr bwMode="auto">
          <a:xfrm>
            <a:off x="2969559" y="94363"/>
            <a:ext cx="6252881" cy="1630047"/>
          </a:xfrm>
          <a:prstGeom prst="rect">
            <a:avLst/>
          </a:prstGeom>
          <a:noFill/>
          <a:ln>
            <a:noFill/>
          </a:ln>
        </p:spPr>
      </p:pic>
      <p:sp>
        <p:nvSpPr>
          <p:cNvPr id="1817794494" name="Rectangle 6"/>
          <p:cNvSpPr>
            <a:spLocks noChangeArrowheads="1"/>
          </p:cNvSpPr>
          <p:nvPr/>
        </p:nvSpPr>
        <p:spPr bwMode="auto">
          <a:xfrm>
            <a:off x="1606754" y="1792195"/>
            <a:ext cx="9525359" cy="640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/>
            <a:spAutoFit/>
          </a:bodyPr>
          <a:lstStyle/>
          <a:p>
            <a:pPr marL="0" marR="0" lvl="0" indent="0" algn="ctr" defTabSz="914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ru-RU" i="0" u="none" strike="noStrike" cap="none">
                <a:ln>
                  <a:noFill/>
                </a:ln>
                <a:solidFill>
                  <a:srgbClr val="000000"/>
                </a:solidFill>
                <a:latin typeface="Arial"/>
                <a:ea typeface="Times New Roman"/>
              </a:rPr>
              <a:t>ИНСТИТУТ ИНФОКОММУНИКАЦИОННЫХ СИСТЕМ И ТЕХНОЛОГИЙ</a:t>
            </a:r>
            <a:endParaRPr lang="ru-RU" i="0" u="none" strike="noStrike" cap="none">
              <a:ln>
                <a:noFill/>
              </a:ln>
              <a:solidFill>
                <a:schemeClr val="tx1"/>
              </a:solidFill>
              <a:latin typeface="Arial"/>
            </a:endParaRPr>
          </a:p>
          <a:p>
            <a:pPr marL="0" marR="0" lvl="0" indent="0" algn="ctr" defTabSz="914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ru-RU" i="0" u="none" strike="noStrike" cap="none">
                <a:ln>
                  <a:noFill/>
                </a:ln>
                <a:solidFill>
                  <a:srgbClr val="000000"/>
                </a:solidFill>
                <a:latin typeface="Arial"/>
                <a:ea typeface="Times New Roman"/>
              </a:rPr>
              <a:t>КАФЕДРА МАТЕМАТИКИ И ЕСТЕСТВЕННОНАУЧНЫХ ДИСЦИПЛИН</a:t>
            </a:r>
            <a:endParaRPr lang="ru-RU" i="0" u="none" strike="noStrike" cap="none">
              <a:ln>
                <a:noFill/>
              </a:ln>
              <a:solidFill>
                <a:schemeClr val="tx1"/>
              </a:solidFill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2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03607379" name="Text 0"/>
          <p:cNvSpPr/>
          <p:nvPr/>
        </p:nvSpPr>
        <p:spPr bwMode="auto">
          <a:xfrm>
            <a:off x="487558" y="219456"/>
            <a:ext cx="11213835" cy="670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  <a:defRPr/>
            </a:pPr>
            <a:r>
              <a:rPr lang="en-US" sz="22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Цель и задачи работы</a:t>
            </a:r>
            <a:endParaRPr lang="en-US" sz="2200"/>
          </a:p>
        </p:txBody>
      </p:sp>
      <p:sp>
        <p:nvSpPr>
          <p:cNvPr id="488498444" name="Text 1"/>
          <p:cNvSpPr/>
          <p:nvPr/>
        </p:nvSpPr>
        <p:spPr bwMode="auto">
          <a:xfrm flipH="0" flipV="0">
            <a:off x="609447" y="1097279"/>
            <a:ext cx="11241728" cy="382396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22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Цель:</a:t>
            </a:r>
            <a:endParaRPr lang="en-US" sz="2200" b="1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  <a:p>
            <a:pPr marL="0" indent="0">
              <a:buNone/>
              <a:defRPr/>
            </a:pPr>
            <a:r>
              <a:rPr lang="en-US" sz="2200" b="0" i="0" u="none" strike="noStrike" cap="none" spc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Разработка системы для обнаружения и распознавания беспилотных воздушных судов на основе объединения четырёх независимых физических каналов.</a:t>
            </a:r>
            <a:endParaRPr lang="en-US" sz="2200" b="0" i="0" u="none" strike="noStrike" cap="none" spc="0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  <a:p>
            <a:pPr marL="0" indent="0">
              <a:buNone/>
              <a:defRPr/>
            </a:pPr>
            <a:endParaRPr lang="en-US" sz="2200" b="0" i="0" u="none" strike="noStrike" cap="none" spc="0">
              <a:solidFill>
                <a:srgbClr val="000000"/>
              </a:solidFill>
              <a:latin typeface="Times New Roman"/>
              <a:cs typeface="Times New Roman"/>
            </a:endParaRPr>
          </a:p>
          <a:p>
            <a:pPr marL="0" indent="0">
              <a:buNone/>
              <a:defRPr/>
            </a:pPr>
            <a:r>
              <a:rPr lang="ru-RU" sz="2200" b="1" i="0" u="none" strike="noStrike" cap="none" spc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Задачи:</a:t>
            </a:r>
            <a:endParaRPr lang="ru-RU" sz="2200" b="1" i="0" u="none" strike="noStrike" cap="none" spc="0">
              <a:solidFill>
                <a:srgbClr val="000000"/>
              </a:solidFill>
              <a:latin typeface="Times New Roman"/>
              <a:cs typeface="Times New Roman"/>
            </a:endParaRPr>
          </a:p>
          <a:p>
            <a:pPr marL="0" indent="0">
              <a:buNone/>
              <a:defRPr/>
            </a:pPr>
            <a:r>
              <a:rPr lang="en-US" sz="2200" b="0" i="0" u="none" strike="noStrike" cap="none" spc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1. Анализ классификаций и сигнатур БПЛА</a:t>
            </a:r>
            <a:endParaRPr sz="2200"/>
          </a:p>
          <a:p>
            <a:pPr marL="0" indent="0">
              <a:buNone/>
              <a:defRPr/>
            </a:pPr>
            <a:r>
              <a:rPr lang="en-US" sz="2200" b="0" i="0" u="none" strike="noStrike" cap="none" spc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2. Анализ методов обнаружения и обоснование многосенсорного подхода</a:t>
            </a:r>
            <a:endParaRPr sz="2200"/>
          </a:p>
          <a:p>
            <a:pPr marL="0" indent="0">
              <a:buNone/>
              <a:defRPr/>
            </a:pPr>
            <a:r>
              <a:rPr lang="en-US" sz="2200" b="0" i="0" u="none" strike="noStrike" cap="none" spc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3. Постановка задачи, разработка архитектуры</a:t>
            </a:r>
            <a:endParaRPr sz="2200"/>
          </a:p>
          <a:p>
            <a:pPr marL="0" indent="0">
              <a:buNone/>
              <a:defRPr/>
            </a:pPr>
            <a:r>
              <a:rPr lang="en-US" sz="2200" b="0" i="0" u="none" strike="noStrike" cap="none" spc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4. Реализация программного комплекса и модуля слияния решений</a:t>
            </a:r>
            <a:endParaRPr sz="2200"/>
          </a:p>
          <a:p>
            <a:pPr marL="0" indent="0">
              <a:buNone/>
              <a:defRPr/>
            </a:pPr>
            <a:r>
              <a:rPr lang="en-US" sz="2200" b="0" i="0" u="none" strike="noStrike" cap="none" spc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5. Экспериментальная оценка качества и устойчивости системы</a:t>
            </a:r>
            <a:endParaRPr sz="2200"/>
          </a:p>
          <a:p>
            <a:pPr marL="0" indent="0">
              <a:buNone/>
              <a:defRPr/>
            </a:pPr>
            <a:endParaRPr sz="2200" b="1" i="0" u="none" strike="noStrike" cap="none" spc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 marL="0" indent="0">
              <a:buNone/>
              <a:defRPr/>
            </a:pPr>
            <a:endParaRPr lang="en-US" sz="2200" b="1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1293609863" name="Text 5"/>
          <p:cNvSpPr/>
          <p:nvPr/>
        </p:nvSpPr>
        <p:spPr bwMode="auto">
          <a:xfrm>
            <a:off x="11213835" y="6461760"/>
            <a:ext cx="731337" cy="30479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  <a:defRPr/>
            </a:pPr>
            <a:r>
              <a:rPr lang="en-US" sz="14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2</a:t>
            </a:r>
            <a:endParaRPr lang="en-US" sz="14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3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84699484" name="Text 8"/>
          <p:cNvSpPr/>
          <p:nvPr/>
        </p:nvSpPr>
        <p:spPr bwMode="auto">
          <a:xfrm>
            <a:off x="11213835" y="6461760"/>
            <a:ext cx="731337" cy="30479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  <a:defRPr/>
            </a:pPr>
            <a:r>
              <a:rPr lang="en-US" sz="14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3</a:t>
            </a:r>
            <a:endParaRPr lang="en-US" sz="1400"/>
          </a:p>
        </p:txBody>
      </p:sp>
      <p:sp>
        <p:nvSpPr>
          <p:cNvPr id="1003081372" name="TextBox 760906410"/>
          <p:cNvSpPr txBox="1"/>
          <p:nvPr/>
        </p:nvSpPr>
        <p:spPr bwMode="auto">
          <a:xfrm flipH="0" flipV="0">
            <a:off x="457199" y="1143000"/>
            <a:ext cx="3616920" cy="3515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sz="1800" b="1">
                <a:latin typeface="Times New Roman"/>
              </a:rPr>
              <a:t>Мультикоптер (DJI Mavic 3)</a:t>
            </a:r>
            <a:endParaRPr/>
          </a:p>
          <a:p>
            <a:pPr marL="283879" indent="-283879">
              <a:spcAft>
                <a:spcPts val="800"/>
              </a:spcAft>
              <a:buAutoNum type="arabicPeriod"/>
              <a:defRPr/>
            </a:pPr>
            <a:r>
              <a:rPr sz="1800">
                <a:latin typeface="Times New Roman"/>
              </a:rPr>
              <a:t>Несколько винтов, вертикальный взлёт, может висеть на месте</a:t>
            </a:r>
            <a:endParaRPr sz="1800"/>
          </a:p>
          <a:p>
            <a:pPr marL="283879" indent="-283879">
              <a:spcAft>
                <a:spcPts val="800"/>
              </a:spcAft>
              <a:buAutoNum type="arabicPeriod"/>
              <a:defRPr/>
            </a:pPr>
            <a:r>
              <a:rPr sz="1800">
                <a:latin typeface="Times New Roman"/>
              </a:rPr>
              <a:t>Винты ~5000–8000 об/мин (тон 170–400 Гц)</a:t>
            </a:r>
            <a:endParaRPr sz="1800"/>
          </a:p>
          <a:p>
            <a:pPr marL="283879" indent="-283879">
              <a:spcAft>
                <a:spcPts val="800"/>
              </a:spcAft>
              <a:buAutoNum type="arabicPeriod"/>
              <a:defRPr/>
            </a:pPr>
            <a:r>
              <a:rPr sz="1800">
                <a:latin typeface="Times New Roman"/>
              </a:rPr>
              <a:t>Радиозаметность (ЭПР): 0,001–0,01 м²</a:t>
            </a:r>
            <a:endParaRPr sz="1800"/>
          </a:p>
          <a:p>
            <a:pPr marL="283879" indent="-283879">
              <a:spcAft>
                <a:spcPts val="800"/>
              </a:spcAft>
              <a:buAutoNum type="arabicPeriod"/>
              <a:defRPr/>
            </a:pPr>
            <a:r>
              <a:rPr sz="1800">
                <a:latin typeface="Times New Roman"/>
              </a:rPr>
              <a:t>Связь по обычным радиоканалам управления</a:t>
            </a:r>
            <a:endParaRPr sz="1800"/>
          </a:p>
          <a:p>
            <a:pPr marL="283879" indent="-283879">
              <a:spcAft>
                <a:spcPts val="800"/>
              </a:spcAft>
              <a:buAutoNum type="arabicPeriod"/>
              <a:defRPr/>
            </a:pPr>
            <a:r>
              <a:rPr sz="1800">
                <a:latin typeface="Times New Roman"/>
              </a:rPr>
              <a:t>Максимальная высота: до 6 км</a:t>
            </a:r>
            <a:endParaRPr/>
          </a:p>
        </p:txBody>
      </p:sp>
      <p:sp>
        <p:nvSpPr>
          <p:cNvPr id="1566242332" name="TextBox 760906411"/>
          <p:cNvSpPr txBox="1"/>
          <p:nvPr/>
        </p:nvSpPr>
        <p:spPr bwMode="auto">
          <a:xfrm>
            <a:off x="4224528" y="1143000"/>
            <a:ext cx="3616200" cy="3515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sz="1800" b="1">
                <a:latin typeface="Times New Roman"/>
              </a:rPr>
              <a:t>Самолётного типа (Орлан-10)</a:t>
            </a:r>
            <a:endParaRPr/>
          </a:p>
          <a:p>
            <a:pPr marL="283879" indent="-283879">
              <a:spcAft>
                <a:spcPts val="800"/>
              </a:spcAft>
              <a:buAutoNum type="arabicPeriod"/>
              <a:defRPr/>
            </a:pPr>
            <a:r>
              <a:rPr sz="1800">
                <a:latin typeface="Times New Roman"/>
              </a:rPr>
              <a:t>Фиксированное крыло и один винт, летит как самолёт</a:t>
            </a:r>
            <a:endParaRPr sz="1800"/>
          </a:p>
          <a:p>
            <a:pPr marL="283879" indent="-283879">
              <a:spcAft>
                <a:spcPts val="800"/>
              </a:spcAft>
              <a:buAutoNum type="arabicPeriod"/>
              <a:defRPr/>
            </a:pPr>
            <a:r>
              <a:rPr sz="1800">
                <a:latin typeface="Times New Roman"/>
              </a:rPr>
              <a:t>Винт ~5000–7000 об/мин (тон 167–233 Гц)</a:t>
            </a:r>
            <a:endParaRPr sz="1800"/>
          </a:p>
          <a:p>
            <a:pPr marL="283879" indent="-283879">
              <a:spcAft>
                <a:spcPts val="800"/>
              </a:spcAft>
              <a:buAutoNum type="arabicPeriod"/>
              <a:defRPr/>
            </a:pPr>
            <a:r>
              <a:rPr sz="1800">
                <a:latin typeface="Times New Roman"/>
              </a:rPr>
              <a:t>Радиозаметность (ЭПР): 0,2–0,5 м²</a:t>
            </a:r>
            <a:endParaRPr sz="1800"/>
          </a:p>
          <a:p>
            <a:pPr marL="283879" indent="-283879">
              <a:spcAft>
                <a:spcPts val="800"/>
              </a:spcAft>
              <a:buAutoNum type="arabicPeriod"/>
              <a:defRPr/>
            </a:pPr>
            <a:r>
              <a:rPr sz="1800">
                <a:latin typeface="Times New Roman"/>
              </a:rPr>
              <a:t>Может управляться через сотовую связь — труднее обнаружить</a:t>
            </a:r>
            <a:endParaRPr sz="1800"/>
          </a:p>
          <a:p>
            <a:pPr marL="283879" indent="-283879">
              <a:spcAft>
                <a:spcPts val="800"/>
              </a:spcAft>
              <a:buAutoNum type="arabicPeriod"/>
              <a:defRPr/>
            </a:pPr>
            <a:r>
              <a:rPr sz="1800">
                <a:latin typeface="Times New Roman"/>
              </a:rPr>
              <a:t>Максимальная высота: до 5 км</a:t>
            </a:r>
            <a:endParaRPr/>
          </a:p>
        </p:txBody>
      </p:sp>
      <p:sp>
        <p:nvSpPr>
          <p:cNvPr id="364774067" name="TextBox 760906412"/>
          <p:cNvSpPr txBox="1"/>
          <p:nvPr/>
        </p:nvSpPr>
        <p:spPr bwMode="auto">
          <a:xfrm>
            <a:off x="7991856" y="1143000"/>
            <a:ext cx="3616200" cy="32413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sz="1800" b="1">
                <a:latin typeface="Times New Roman"/>
              </a:rPr>
              <a:t>Конвертоплан (WingtraOne)</a:t>
            </a:r>
            <a:endParaRPr/>
          </a:p>
          <a:p>
            <a:pPr marL="283879" indent="-283879">
              <a:spcAft>
                <a:spcPts val="800"/>
              </a:spcAft>
              <a:buAutoNum type="arabicPeriod"/>
              <a:defRPr/>
            </a:pPr>
            <a:r>
              <a:rPr sz="1800">
                <a:latin typeface="Times New Roman"/>
              </a:rPr>
              <a:t>Взлетает вертикально, а летит как самолёт (гибрид)</a:t>
            </a:r>
            <a:endParaRPr sz="1800"/>
          </a:p>
          <a:p>
            <a:pPr marL="283879" indent="-283879">
              <a:spcAft>
                <a:spcPts val="800"/>
              </a:spcAft>
              <a:buAutoNum type="arabicPeriod"/>
              <a:defRPr/>
            </a:pPr>
            <a:r>
              <a:rPr sz="1800">
                <a:latin typeface="Times New Roman"/>
              </a:rPr>
              <a:t>Винты ~5000–8000 об/мин (тон 200–400 Гц)</a:t>
            </a:r>
            <a:endParaRPr sz="1800"/>
          </a:p>
          <a:p>
            <a:pPr marL="283879" indent="-283879">
              <a:spcAft>
                <a:spcPts val="800"/>
              </a:spcAft>
              <a:buAutoNum type="arabicPeriod"/>
              <a:defRPr/>
            </a:pPr>
            <a:r>
              <a:rPr sz="1800">
                <a:latin typeface="Times New Roman"/>
              </a:rPr>
              <a:t>Радиозаметность (ЭПР): 0,005–0,1 м²</a:t>
            </a:r>
            <a:endParaRPr sz="1800"/>
          </a:p>
          <a:p>
            <a:pPr marL="283879" indent="-283879">
              <a:spcAft>
                <a:spcPts val="800"/>
              </a:spcAft>
              <a:buAutoNum type="arabicPeriod"/>
              <a:defRPr/>
            </a:pPr>
            <a:r>
              <a:rPr sz="1800">
                <a:latin typeface="Times New Roman"/>
              </a:rPr>
              <a:t>Связь по обычным радиоканалам управления</a:t>
            </a:r>
            <a:endParaRPr sz="1800"/>
          </a:p>
          <a:p>
            <a:pPr marL="283879" indent="-283879">
              <a:spcAft>
                <a:spcPts val="800"/>
              </a:spcAft>
              <a:buAutoNum type="arabicPeriod"/>
              <a:defRPr/>
            </a:pPr>
            <a:r>
              <a:rPr sz="1800">
                <a:latin typeface="Times New Roman"/>
              </a:rPr>
              <a:t>Максимальная высота: до 5 км</a:t>
            </a:r>
            <a:endParaRPr/>
          </a:p>
        </p:txBody>
      </p:sp>
      <p:sp>
        <p:nvSpPr>
          <p:cNvPr id="989654017" name="TextBox 1475548509"/>
          <p:cNvSpPr txBox="1"/>
          <p:nvPr/>
        </p:nvSpPr>
        <p:spPr bwMode="auto">
          <a:xfrm>
            <a:off x="484632" y="219456"/>
            <a:ext cx="11210544" cy="6675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/>
            </a:pPr>
            <a:r>
              <a:rPr sz="2200" b="1">
                <a:latin typeface="Times New Roman"/>
              </a:rPr>
              <a:t>Классификация БПЛА по конструкции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4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08820457" name="Text 0"/>
          <p:cNvSpPr/>
          <p:nvPr/>
        </p:nvSpPr>
        <p:spPr bwMode="auto">
          <a:xfrm>
            <a:off x="487558" y="219456"/>
            <a:ext cx="11213835" cy="670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  <a:defRPr/>
            </a:pPr>
            <a:r>
              <a:rPr lang="en-US" sz="22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Недостатки методов обнаружения и распознования БПЛА</a:t>
            </a:r>
            <a:endParaRPr lang="en-US" sz="2200"/>
          </a:p>
        </p:txBody>
      </p:sp>
      <p:sp>
        <p:nvSpPr>
          <p:cNvPr id="1220115314" name="Text 1"/>
          <p:cNvSpPr/>
          <p:nvPr/>
        </p:nvSpPr>
        <p:spPr bwMode="auto">
          <a:xfrm flipH="0" flipV="0">
            <a:off x="172452" y="1257242"/>
            <a:ext cx="5571517" cy="18002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  <a:defRPr/>
            </a:pPr>
            <a:r>
              <a:rPr lang="en-US" sz="1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Радиолокационный метод</a:t>
            </a:r>
            <a:r>
              <a:rPr lang="en-US" sz="18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:</a:t>
            </a:r>
            <a:endParaRPr lang="en-US" sz="1800" b="0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  <a:p>
            <a:pPr marL="283878" indent="-283878">
              <a:buAutoNum type="arabicPeriod"/>
              <a:defRPr/>
            </a:pPr>
            <a:r>
              <a:rPr lang="en-US" sz="1800" b="0" i="0" u="none" strike="noStrike" cap="none" spc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Дрон любой конструкции может быть сделан из радиопрозрачного материала. </a:t>
            </a:r>
            <a:endParaRPr lang="en-US" sz="1800" b="0" i="0" u="none" strike="noStrike" cap="none" spc="0">
              <a:solidFill>
                <a:srgbClr val="000000"/>
              </a:solidFill>
              <a:latin typeface="Times New Roman"/>
              <a:cs typeface="Times New Roman"/>
            </a:endParaRPr>
          </a:p>
          <a:p>
            <a:pPr marL="283878" lvl="0" indent="-283878" algn="just">
              <a:buAutoNum type="arabicPeriod"/>
              <a:defRPr/>
            </a:pPr>
            <a:r>
              <a:rPr lang="en-US" sz="1800" b="0" i="0" u="none" strike="noStrike" cap="none" spc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Мультикоптер и конвертоплан умеют зависать в воздухе.</a:t>
            </a:r>
            <a:endParaRPr sz="1800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1633222068" name="Text 4"/>
          <p:cNvSpPr/>
          <p:nvPr/>
        </p:nvSpPr>
        <p:spPr bwMode="auto">
          <a:xfrm>
            <a:off x="6216362" y="1257242"/>
            <a:ext cx="54850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  <a:defRPr/>
            </a:pPr>
            <a:endParaRPr lang="en-US" sz="1800"/>
          </a:p>
        </p:txBody>
      </p:sp>
      <p:sp>
        <p:nvSpPr>
          <p:cNvPr id="2067808012" name="Text 6"/>
          <p:cNvSpPr/>
          <p:nvPr/>
        </p:nvSpPr>
        <p:spPr bwMode="auto">
          <a:xfrm flipH="0" flipV="0">
            <a:off x="6460144" y="1440122"/>
            <a:ext cx="5485028" cy="140803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defRPr/>
            </a:pPr>
            <a:r>
              <a:rPr lang="en-US" sz="1800" b="1" i="0" u="none" strike="noStrike" cap="none" spc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Акустический метод</a:t>
            </a:r>
            <a:r>
              <a:rPr lang="en-US" sz="1800" b="0" i="0" u="none" strike="noStrike" cap="none" spc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:</a:t>
            </a:r>
            <a:endParaRPr sz="1800" b="1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  <a:p>
            <a:pPr marL="212286" indent="-212286">
              <a:buAutoNum type="arabicPeriod"/>
              <a:defRPr/>
            </a:pPr>
            <a:r>
              <a:rPr lang="en-US" sz="1800" b="0" i="0" u="none" strike="noStrike" cap="none" spc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Деградация при </a:t>
            </a:r>
            <a:r>
              <a:rPr lang="en-US" sz="18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ветре, дожде и городском шуме.</a:t>
            </a:r>
            <a:endParaRPr lang="en-US" sz="1800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  <a:p>
            <a:pPr marL="212286" indent="-212286">
              <a:buAutoNum type="arabicPeriod"/>
              <a:defRPr/>
            </a:pPr>
            <a:r>
              <a:rPr lang="en-US" sz="18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Дрон самолетного типа и конвертоплан могут планировать.</a:t>
            </a:r>
            <a:endParaRPr sz="1800"/>
          </a:p>
        </p:txBody>
      </p:sp>
      <p:sp>
        <p:nvSpPr>
          <p:cNvPr id="1808698503" name="Text 7"/>
          <p:cNvSpPr/>
          <p:nvPr/>
        </p:nvSpPr>
        <p:spPr bwMode="auto">
          <a:xfrm>
            <a:off x="11213835" y="6461760"/>
            <a:ext cx="731337" cy="30479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  <a:defRPr/>
            </a:pPr>
            <a:r>
              <a:rPr lang="en-US" sz="14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4</a:t>
            </a:r>
            <a:endParaRPr lang="en-US" sz="1400"/>
          </a:p>
        </p:txBody>
      </p:sp>
      <p:sp>
        <p:nvSpPr>
          <p:cNvPr id="251705454" name="Text 1"/>
          <p:cNvSpPr/>
          <p:nvPr/>
        </p:nvSpPr>
        <p:spPr bwMode="auto">
          <a:xfrm flipH="0" flipV="0">
            <a:off x="172452" y="3057487"/>
            <a:ext cx="5571517" cy="125023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  <a:defRPr/>
            </a:pPr>
            <a:r>
              <a:rPr lang="en-US" sz="1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Радиочастотный метод</a:t>
            </a:r>
            <a:r>
              <a:rPr lang="en-US" sz="18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:</a:t>
            </a:r>
            <a:endParaRPr sz="1800" b="1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  <a:p>
            <a:pPr marL="212285" indent="-212285">
              <a:buAutoNum type="arabicPeriod"/>
              <a:defRPr/>
            </a:pPr>
            <a:r>
              <a:rPr lang="en-US" sz="1800" b="0" i="0" u="none" strike="noStrike" cap="none" spc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Н</a:t>
            </a:r>
            <a:r>
              <a:rPr lang="en-US" sz="1800" b="0" i="0" u="none" strike="noStrike" cap="none" spc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е распознает дроны в режиме автономного полёта.</a:t>
            </a:r>
            <a:endParaRPr lang="en-US" sz="1800" b="0" i="0" u="none" strike="noStrike" cap="none" spc="0">
              <a:solidFill>
                <a:srgbClr val="000000"/>
              </a:solidFill>
              <a:latin typeface="Times New Roman"/>
              <a:cs typeface="Times New Roman"/>
            </a:endParaRPr>
          </a:p>
          <a:p>
            <a:pPr marL="212285" indent="-212285">
              <a:buAutoNum type="arabicPeriod"/>
              <a:defRPr/>
            </a:pPr>
            <a:r>
              <a:rPr lang="en-US" sz="1800" b="0" i="0" u="none" strike="noStrike" cap="none" spc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Ложные тревоги от Wi-Fi и Bluetooth.</a:t>
            </a:r>
            <a:endParaRPr sz="1600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1071730700" name="Text 6"/>
          <p:cNvSpPr/>
          <p:nvPr/>
        </p:nvSpPr>
        <p:spPr bwMode="auto">
          <a:xfrm flipH="0" flipV="0">
            <a:off x="6460144" y="3057487"/>
            <a:ext cx="5485028" cy="200626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defRPr/>
            </a:pPr>
            <a:r>
              <a:rPr lang="en-US" sz="1800" b="1" i="0" u="none" strike="noStrike" cap="none" spc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Видеообнаружение</a:t>
            </a:r>
            <a:r>
              <a:rPr lang="en-US" sz="1800" b="0" i="0" u="none" strike="noStrike" cap="none" spc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:</a:t>
            </a:r>
            <a:endParaRPr lang="en-US" sz="1800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  <a:p>
            <a:pPr marL="212286" indent="-212286">
              <a:buAutoNum type="arabicPeriod"/>
              <a:defRPr/>
            </a:pPr>
            <a:r>
              <a:rPr lang="en-US" sz="18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Деградация при ухудшении освещения без инфрокрасной камеры. </a:t>
            </a:r>
            <a:endParaRPr lang="en-US" sz="1800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  <a:p>
            <a:pPr marL="212286" indent="-212286">
              <a:buAutoNum type="arabicPeriod"/>
              <a:defRPr/>
            </a:pPr>
            <a:r>
              <a:rPr lang="en-US" sz="18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Деградация при смешивании силуэта дрона с окружающей средой.</a:t>
            </a:r>
            <a:endParaRPr lang="en-US" sz="16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6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31362381" name="Text 0"/>
          <p:cNvSpPr/>
          <p:nvPr/>
        </p:nvSpPr>
        <p:spPr bwMode="auto">
          <a:xfrm>
            <a:off x="487558" y="219456"/>
            <a:ext cx="11213835" cy="670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  <a:defRPr/>
            </a:pPr>
            <a:r>
              <a:rPr lang="en-US" sz="22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Аппаратная схема системы</a:t>
            </a:r>
            <a:endParaRPr lang="en-US" sz="2200"/>
          </a:p>
        </p:txBody>
      </p:sp>
      <p:sp>
        <p:nvSpPr>
          <p:cNvPr id="966761207" name="Shape 1"/>
          <p:cNvSpPr/>
          <p:nvPr/>
        </p:nvSpPr>
        <p:spPr bwMode="auto">
          <a:xfrm>
            <a:off x="609447" y="1280160"/>
            <a:ext cx="2498735" cy="1219199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865678368" name="Text 2"/>
          <p:cNvSpPr/>
          <p:nvPr/>
        </p:nvSpPr>
        <p:spPr bwMode="auto">
          <a:xfrm>
            <a:off x="609447" y="1280160"/>
            <a:ext cx="2498735" cy="121919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  <a:defRPr/>
            </a:pPr>
            <a:r>
              <a:rPr lang="en-US" sz="1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Радиолокационная</a:t>
            </a:r>
            <a:endParaRPr lang="en-US" sz="1800"/>
          </a:p>
          <a:p>
            <a:pPr marL="0" indent="0" algn="ctr">
              <a:buNone/>
              <a:defRPr/>
            </a:pPr>
            <a:r>
              <a:rPr lang="en-US" sz="1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станция</a:t>
            </a:r>
            <a:endParaRPr lang="en-US" sz="1150"/>
          </a:p>
        </p:txBody>
      </p:sp>
      <p:sp>
        <p:nvSpPr>
          <p:cNvPr id="1732714133" name="Shape 3"/>
          <p:cNvSpPr/>
          <p:nvPr/>
        </p:nvSpPr>
        <p:spPr bwMode="auto">
          <a:xfrm>
            <a:off x="3473851" y="1280160"/>
            <a:ext cx="2498735" cy="1219199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811463871" name="Text 4"/>
          <p:cNvSpPr/>
          <p:nvPr/>
        </p:nvSpPr>
        <p:spPr bwMode="auto">
          <a:xfrm>
            <a:off x="3473851" y="1280160"/>
            <a:ext cx="2498735" cy="121919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  <a:defRPr/>
            </a:pPr>
            <a:r>
              <a:rPr lang="en-US" sz="1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Микрофонный</a:t>
            </a:r>
            <a:endParaRPr lang="en-US" sz="1800"/>
          </a:p>
          <a:p>
            <a:pPr marL="0" indent="0" algn="ctr">
              <a:buNone/>
              <a:defRPr/>
            </a:pPr>
            <a:r>
              <a:rPr lang="en-US" sz="1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массив</a:t>
            </a:r>
            <a:endParaRPr lang="en-US" sz="1150"/>
          </a:p>
        </p:txBody>
      </p:sp>
      <p:sp>
        <p:nvSpPr>
          <p:cNvPr id="14399595" name="Shape 5"/>
          <p:cNvSpPr/>
          <p:nvPr/>
        </p:nvSpPr>
        <p:spPr bwMode="auto">
          <a:xfrm>
            <a:off x="6338255" y="1280160"/>
            <a:ext cx="2498735" cy="1219199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  <p:txBody>
          <a:bodyPr anchor="ctr"/>
          <a:p>
            <a:pPr algn="ctr">
              <a:defRPr/>
            </a:pPr>
            <a:endParaRPr sz="3600"/>
          </a:p>
        </p:txBody>
      </p:sp>
      <p:sp>
        <p:nvSpPr>
          <p:cNvPr id="239935857" name="Text 6"/>
          <p:cNvSpPr/>
          <p:nvPr/>
        </p:nvSpPr>
        <p:spPr bwMode="auto">
          <a:xfrm>
            <a:off x="6338255" y="1280160"/>
            <a:ext cx="2498735" cy="121919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  <a:defRPr/>
            </a:pPr>
            <a:r>
              <a:rPr lang="en-US" sz="1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Массив SDR-</a:t>
            </a:r>
            <a:endParaRPr lang="en-US" sz="1800"/>
          </a:p>
          <a:p>
            <a:pPr marL="0" indent="0" algn="ctr">
              <a:buNone/>
              <a:defRPr/>
            </a:pPr>
            <a:r>
              <a:rPr lang="en-US" sz="1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приёмников</a:t>
            </a:r>
            <a:endParaRPr lang="en-US" sz="1800"/>
          </a:p>
          <a:p>
            <a:pPr marL="0" indent="0" algn="ctr">
              <a:buNone/>
              <a:defRPr/>
            </a:pPr>
            <a:r>
              <a:rPr lang="en-US" sz="1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(4 канала)</a:t>
            </a:r>
            <a:endParaRPr lang="en-US" sz="1150"/>
          </a:p>
        </p:txBody>
      </p:sp>
      <p:sp>
        <p:nvSpPr>
          <p:cNvPr id="807415079" name="Shape 7"/>
          <p:cNvSpPr/>
          <p:nvPr/>
        </p:nvSpPr>
        <p:spPr bwMode="auto">
          <a:xfrm>
            <a:off x="9202658" y="1280160"/>
            <a:ext cx="2498735" cy="1219199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  <p:txBody>
          <a:bodyPr anchor="ctr"/>
          <a:p>
            <a:pPr algn="ctr">
              <a:defRPr/>
            </a:pPr>
            <a:endParaRPr sz="3600"/>
          </a:p>
        </p:txBody>
      </p:sp>
      <p:sp>
        <p:nvSpPr>
          <p:cNvPr id="2002896399" name="Text 8"/>
          <p:cNvSpPr/>
          <p:nvPr/>
        </p:nvSpPr>
        <p:spPr bwMode="auto">
          <a:xfrm>
            <a:off x="9202658" y="1280160"/>
            <a:ext cx="2498735" cy="121919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  <a:defRPr/>
            </a:pPr>
            <a:r>
              <a:rPr lang="en-US" sz="1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Видеокамера</a:t>
            </a:r>
            <a:endParaRPr lang="en-US" sz="1800"/>
          </a:p>
          <a:p>
            <a:pPr marL="0" indent="0" algn="ctr">
              <a:buNone/>
              <a:defRPr/>
            </a:pPr>
            <a:r>
              <a:rPr lang="en-US" sz="1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(RGB / ИК-</a:t>
            </a:r>
            <a:endParaRPr lang="en-US" sz="1800"/>
          </a:p>
          <a:p>
            <a:pPr marL="0" indent="0" algn="ctr">
              <a:buNone/>
              <a:defRPr/>
            </a:pPr>
            <a:r>
              <a:rPr lang="en-US" sz="1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тепловизор)</a:t>
            </a:r>
            <a:endParaRPr lang="en-US" sz="1150"/>
          </a:p>
        </p:txBody>
      </p:sp>
      <p:sp>
        <p:nvSpPr>
          <p:cNvPr id="1783710741" name="Shape 9"/>
          <p:cNvSpPr/>
          <p:nvPr/>
        </p:nvSpPr>
        <p:spPr bwMode="auto">
          <a:xfrm flipH="0" flipV="0">
            <a:off x="1858815" y="2499358"/>
            <a:ext cx="4113771" cy="670560"/>
          </a:xfrm>
          <a:prstGeom prst="line">
            <a:avLst/>
          </a:prstGeom>
          <a:noFill/>
          <a:ln w="15875">
            <a:solidFill>
              <a:srgbClr val="000000"/>
            </a:solidFill>
            <a:prstDash val="solid"/>
            <a:tailEnd type="triangle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2093687125" name="Shape 10"/>
          <p:cNvSpPr/>
          <p:nvPr/>
        </p:nvSpPr>
        <p:spPr bwMode="auto">
          <a:xfrm flipH="0" flipV="0">
            <a:off x="4723218" y="2499360"/>
            <a:ext cx="1371257" cy="670560"/>
          </a:xfrm>
          <a:prstGeom prst="line">
            <a:avLst/>
          </a:prstGeom>
          <a:noFill/>
          <a:ln w="15875">
            <a:solidFill>
              <a:srgbClr val="000000"/>
            </a:solidFill>
            <a:prstDash val="solid"/>
            <a:tailEnd type="triangle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927180892" name="Shape 11"/>
          <p:cNvSpPr/>
          <p:nvPr/>
        </p:nvSpPr>
        <p:spPr bwMode="auto">
          <a:xfrm flipH="1" flipV="0">
            <a:off x="6094476" y="2560320"/>
            <a:ext cx="1493145" cy="609599"/>
          </a:xfrm>
          <a:prstGeom prst="line">
            <a:avLst/>
          </a:prstGeom>
          <a:noFill/>
          <a:ln w="15875">
            <a:solidFill>
              <a:srgbClr val="000000"/>
            </a:solidFill>
            <a:prstDash val="solid"/>
            <a:tailEnd type="triangle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844781916" name="Shape 12"/>
          <p:cNvSpPr/>
          <p:nvPr/>
        </p:nvSpPr>
        <p:spPr bwMode="auto">
          <a:xfrm flipH="1" flipV="0">
            <a:off x="6173273" y="2499360"/>
            <a:ext cx="4278751" cy="670560"/>
          </a:xfrm>
          <a:prstGeom prst="line">
            <a:avLst/>
          </a:prstGeom>
          <a:noFill/>
          <a:ln w="15875">
            <a:solidFill>
              <a:srgbClr val="000000"/>
            </a:solidFill>
            <a:prstDash val="solid"/>
            <a:tailEnd type="triangle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2131659037" name="Shape 13"/>
          <p:cNvSpPr/>
          <p:nvPr/>
        </p:nvSpPr>
        <p:spPr bwMode="auto">
          <a:xfrm>
            <a:off x="3169127" y="3169920"/>
            <a:ext cx="5850696" cy="1158240"/>
          </a:xfrm>
          <a:prstGeom prst="rect">
            <a:avLst/>
          </a:prstGeom>
          <a:solidFill>
            <a:schemeClr val="bg1"/>
          </a:solidFill>
          <a:ln w="12700">
            <a:solidFill>
              <a:srgbClr val="000000"/>
            </a:solidFill>
            <a:prstDash val="solid"/>
          </a:ln>
        </p:spPr>
        <p:txBody>
          <a:bodyPr anchor="ctr"/>
          <a:p>
            <a:pPr algn="ctr">
              <a:defRPr/>
            </a:pPr>
            <a:endParaRPr sz="3600"/>
          </a:p>
        </p:txBody>
      </p:sp>
      <p:sp>
        <p:nvSpPr>
          <p:cNvPr id="1771031015" name="Text 14"/>
          <p:cNvSpPr/>
          <p:nvPr/>
        </p:nvSpPr>
        <p:spPr bwMode="auto">
          <a:xfrm>
            <a:off x="3108182" y="3169920"/>
            <a:ext cx="5850696" cy="1158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  <a:defRPr/>
            </a:pPr>
            <a:r>
              <a:rPr lang="en-US" sz="1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Вычислительный модуль</a:t>
            </a:r>
            <a:endParaRPr lang="en-US" sz="1300"/>
          </a:p>
        </p:txBody>
      </p:sp>
      <p:sp>
        <p:nvSpPr>
          <p:cNvPr id="2140978379" name="Shape 15"/>
          <p:cNvSpPr/>
          <p:nvPr/>
        </p:nvSpPr>
        <p:spPr bwMode="auto">
          <a:xfrm>
            <a:off x="6094476" y="4328160"/>
            <a:ext cx="0" cy="609599"/>
          </a:xfrm>
          <a:prstGeom prst="line">
            <a:avLst/>
          </a:prstGeom>
          <a:noFill/>
          <a:ln w="15875">
            <a:solidFill>
              <a:srgbClr val="000000"/>
            </a:solidFill>
            <a:prstDash val="solid"/>
            <a:tailEnd type="triangle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947367084" name="Shape 16"/>
          <p:cNvSpPr/>
          <p:nvPr/>
        </p:nvSpPr>
        <p:spPr bwMode="auto">
          <a:xfrm>
            <a:off x="3900464" y="4998720"/>
            <a:ext cx="4388022" cy="10363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solid"/>
          </a:ln>
        </p:spPr>
        <p:txBody>
          <a:bodyPr anchor="ctr"/>
          <a:p>
            <a:pPr algn="ctr">
              <a:defRPr/>
            </a:pPr>
            <a:endParaRPr sz="3600"/>
          </a:p>
        </p:txBody>
      </p:sp>
      <p:sp>
        <p:nvSpPr>
          <p:cNvPr id="1276805630" name="Text 17"/>
          <p:cNvSpPr/>
          <p:nvPr/>
        </p:nvSpPr>
        <p:spPr bwMode="auto">
          <a:xfrm>
            <a:off x="3900464" y="4998720"/>
            <a:ext cx="4388022" cy="1036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  <a:defRPr/>
            </a:pPr>
            <a:r>
              <a:rPr lang="en-US" sz="1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Монитор оператора</a:t>
            </a:r>
            <a:endParaRPr lang="en-US" sz="1300"/>
          </a:p>
        </p:txBody>
      </p:sp>
      <p:sp>
        <p:nvSpPr>
          <p:cNvPr id="1625833604" name="Text 19"/>
          <p:cNvSpPr/>
          <p:nvPr/>
        </p:nvSpPr>
        <p:spPr bwMode="auto">
          <a:xfrm>
            <a:off x="11213835" y="6461760"/>
            <a:ext cx="731337" cy="30479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  <a:defRPr/>
            </a:pPr>
            <a:r>
              <a:rPr lang="en-US" sz="14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5</a:t>
            </a:r>
            <a:endParaRPr lang="en-US" sz="14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7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2667232" name="Text 0"/>
          <p:cNvSpPr/>
          <p:nvPr/>
        </p:nvSpPr>
        <p:spPr bwMode="auto">
          <a:xfrm flipH="0" flipV="0">
            <a:off x="226152" y="37352"/>
            <a:ext cx="4153339" cy="232988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  <a:defRPr/>
            </a:pPr>
            <a:r>
              <a:rPr lang="ru-RU" sz="2200" b="1" i="0" u="none" strike="noStrike" cap="none" spc="0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Обобщённая</a:t>
            </a:r>
            <a:r>
              <a:rPr lang="ru-RU" sz="2200" b="1" i="0" u="none" strike="noStrike" cap="none" spc="0">
                <a:solidFill>
                  <a:srgbClr val="0F1115"/>
                </a:solidFill>
                <a:latin typeface="Times New Roman"/>
                <a:ea typeface="Times New Roman"/>
                <a:cs typeface="Times New Roman"/>
              </a:rPr>
              <a:t> функциональная схема программного обеспечения</a:t>
            </a:r>
            <a:endParaRPr lang="en-US" sz="2200"/>
          </a:p>
        </p:txBody>
      </p:sp>
      <p:sp>
        <p:nvSpPr>
          <p:cNvPr id="1223071569" name="Text 38"/>
          <p:cNvSpPr/>
          <p:nvPr/>
        </p:nvSpPr>
        <p:spPr bwMode="auto">
          <a:xfrm>
            <a:off x="11213835" y="6461760"/>
            <a:ext cx="731337" cy="30479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  <a:defRPr/>
            </a:pPr>
            <a:r>
              <a:rPr lang="en-US" sz="14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6</a:t>
            </a:r>
            <a:endParaRPr lang="en-US" sz="1400"/>
          </a:p>
        </p:txBody>
      </p:sp>
      <p:pic>
        <p:nvPicPr>
          <p:cNvPr id="888539846" name=""/>
          <p:cNvPicPr>
            <a:picLocks noChangeAspect="1"/>
          </p:cNvPicPr>
          <p:nvPr/>
        </p:nvPicPr>
        <p:blipFill rotWithShape="1">
          <a:blip r:embed="rId3"/>
          <a:srcRect l="0" t="1089" r="0" b="0"/>
          <a:stretch/>
        </p:blipFill>
        <p:spPr bwMode="auto">
          <a:xfrm flipH="0" flipV="0">
            <a:off x="4804897" y="37352"/>
            <a:ext cx="6408937" cy="678329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23171972" name="TextBox 1"/>
          <p:cNvSpPr txBox="1"/>
          <p:nvPr/>
        </p:nvSpPr>
        <p:spPr bwMode="auto">
          <a:xfrm>
            <a:off x="2345319" y="219456"/>
            <a:ext cx="7504286" cy="42707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/>
            </a:pPr>
            <a:r>
              <a:rPr sz="2200" b="1">
                <a:latin typeface="Times New Roman"/>
              </a:rPr>
              <a:t>Cлияние данных каналов </a:t>
            </a:r>
            <a:r>
              <a:rPr lang="ru-RU" sz="2200" b="1">
                <a:latin typeface="Times New Roman"/>
              </a:rPr>
              <a:t>и определение местоположения</a:t>
            </a:r>
            <a:endParaRPr/>
          </a:p>
        </p:txBody>
      </p:sp>
      <p:sp>
        <p:nvSpPr>
          <p:cNvPr id="216723909" name="TextBox 1746804899"/>
          <p:cNvSpPr txBox="1"/>
          <p:nvPr/>
        </p:nvSpPr>
        <p:spPr bwMode="auto">
          <a:xfrm flipH="0" flipV="0">
            <a:off x="457200" y="1142998"/>
            <a:ext cx="5492518" cy="3336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200"/>
              </a:spcAft>
              <a:defRPr/>
            </a:pPr>
            <a:r>
              <a:rPr sz="1800" b="1" i="0">
                <a:latin typeface="Times New Roman"/>
              </a:rPr>
              <a:t>Сводная оценка достоверности</a:t>
            </a:r>
            <a:endParaRPr/>
          </a:p>
          <a:p>
            <a:pPr algn="ctr">
              <a:spcAft>
                <a:spcPts val="1199"/>
              </a:spcAft>
              <a:defRPr/>
            </a:pPr>
            <a:endParaRPr/>
          </a:p>
          <a:p>
            <a:pPr algn="ctr">
              <a:spcAft>
                <a:spcPts val="1200"/>
              </a:spcAft>
              <a:defRPr/>
            </a:pPr>
            <a:endParaRPr/>
          </a:p>
          <a:p>
            <a:pPr algn="l">
              <a:spcAft>
                <a:spcPts val="199"/>
              </a:spcAft>
              <a:defRPr/>
            </a:pPr>
            <a:endParaRPr/>
          </a:p>
          <a:p>
            <a:pPr algn="l">
              <a:spcAft>
                <a:spcPts val="200"/>
              </a:spcAft>
              <a:defRPr/>
            </a:pPr>
            <a:r>
              <a:rPr sz="1800" b="0" i="0">
                <a:latin typeface="Times New Roman"/>
              </a:rPr>
              <a:t>где:</a:t>
            </a:r>
            <a:endParaRPr sz="1800" b="0" i="0">
              <a:latin typeface="Times New Roman"/>
            </a:endParaRPr>
          </a:p>
          <a:p>
            <a:pPr algn="l">
              <a:spcAft>
                <a:spcPts val="200"/>
              </a:spcAft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acc>
                        <m:accPr>
                          <m:chr m:val="̅"/>
                          <m:ctrlPr>
                            <a:rPr sz="180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accPr>
                        <m:e>
                          <m:r>
                            <m:rPr>
                              <m:sty m:val="i"/>
                            </m:rPr>
                            <a:rPr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C</m:t>
                          </m:r>
                        </m:e>
                      </m:acc>
                    </m:oMath>
                  </m:oMathPara>
                </a14:m>
              </mc:Choice>
              <mc:Fallback/>
            </mc:AlternateContent>
            <a:r>
              <a:rPr sz="1800" b="0" i="1">
                <a:latin typeface="Times New Roman"/>
              </a:rPr>
              <a:t> </a:t>
            </a:r>
            <a:r>
              <a:rPr sz="1800" b="0" i="0">
                <a:latin typeface="Times New Roman"/>
              </a:rPr>
              <a:t>— сводная достоверность обнаружения (0…1);</a:t>
            </a:r>
            <a:endParaRPr sz="2200"/>
          </a:p>
          <a:p>
            <a:pPr algn="l">
              <a:spcAft>
                <a:spcPts val="200"/>
              </a:spcAft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18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i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c</m:t>
                          </m:r>
                        </m:e>
                        <m:sub>
                          <m:r>
                            <m:rPr>
                              <m:sty m:val="i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r>
              <a:rPr sz="1800" b="0" i="0">
                <a:latin typeface="Times New Roman"/>
              </a:rPr>
              <a:t> — достоверность </a:t>
            </a:r>
            <a:r>
              <a:rPr sz="1800" b="0" i="1">
                <a:latin typeface="Times New Roman"/>
              </a:rPr>
              <a:t>i</a:t>
            </a:r>
            <a:r>
              <a:rPr sz="1800" b="0" i="0">
                <a:latin typeface="Times New Roman"/>
              </a:rPr>
              <a:t>-го канала (0…1);</a:t>
            </a:r>
            <a:endParaRPr sz="2200"/>
          </a:p>
          <a:p>
            <a:pPr algn="l">
              <a:spcAft>
                <a:spcPts val="1200"/>
              </a:spcAft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sz="180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i"/>
                            </m:rPr>
                            <a:rPr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w</m:t>
                          </m:r>
                        </m:e>
                        <m:sub>
                          <m:r>
                            <m:rPr>
                              <m:sty m:val="i"/>
                            </m:rPr>
                            <a:rPr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r>
              <a:rPr sz="1800" b="0" i="0">
                <a:latin typeface="Times New Roman"/>
              </a:rPr>
              <a:t> — вес i-го канала.</a:t>
            </a:r>
            <a:endParaRPr/>
          </a:p>
          <a:p>
            <a:pPr algn="l">
              <a:spcAft>
                <a:spcPts val="800"/>
              </a:spcAft>
              <a:defRPr/>
            </a:pPr>
            <a:endParaRPr/>
          </a:p>
        </p:txBody>
      </p:sp>
      <p:sp>
        <p:nvSpPr>
          <p:cNvPr id="540026561" name="TextBox 1746804901"/>
          <p:cNvSpPr txBox="1"/>
          <p:nvPr/>
        </p:nvSpPr>
        <p:spPr bwMode="auto">
          <a:xfrm>
            <a:off x="11210544" y="6464808"/>
            <a:ext cx="731520" cy="3017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/>
            </a:pPr>
            <a:r>
              <a:rPr sz="1400">
                <a:latin typeface="Times New Roman"/>
              </a:rPr>
              <a:t>7</a:t>
            </a:r>
            <a:endParaRPr/>
          </a:p>
        </p:txBody>
      </p:sp>
      <p:sp>
        <p:nvSpPr>
          <p:cNvPr id="1196984684" name=""/>
          <p:cNvSpPr/>
          <p:nvPr/>
        </p:nvSpPr>
        <p:spPr bwMode="auto">
          <a:xfrm>
            <a:off x="8876251" y="2398264"/>
            <a:ext cx="1426165" cy="753007"/>
          </a:xfrm>
          <a:prstGeom prst="rect">
            <a:avLst/>
          </a:prstGeom>
          <a:noFill/>
          <a:ln>
            <a:noFill/>
          </a:ln>
        </p:spPr>
        <p:txBody>
          <a:bodyPr rot="0" spcFirstLastPara="0" vertOverflow="overflow" horzOverflow="overflow" vert="horz" wrap="none" lIns="91440" tIns="45720" rIns="91440" bIns="45720" numCol="1" spcCol="0" rtlCol="0" fromWordArt="0" anchor="t" anchorCtr="0" forceAA="0" upright="0" compatLnSpc="1">
            <a:prstTxWarp prst="textNoShape"/>
            <a:spAutoFit/>
          </a:bodyPr>
          <a:p>
            <a:pPr algn="ctr"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sz="220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acc>
                            <m:accPr>
                              <m:chr m:val="̌"/>
                              <m:ctrlPr>
                                <a:rPr sz="2200" i="1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accPr>
                            <m:e>
                              <m:r>
                                <m:rPr>
                                  <m:sty m:val="i"/>
                                </m:rPr>
                                <a:rPr sz="22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w</m:t>
                              </m:r>
                            </m:e>
                          </m:acc>
                        </m:e>
                        <m:sub>
                          <m:r>
                            <m:rPr>
                              <m:sty m:val="i"/>
                            </m:rPr>
                            <a:rPr sz="22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</m:t>
                          </m:r>
                        </m:sub>
                      </m:sSub>
                      <m:r>
                        <m:rPr/>
                        <a:rPr sz="2200">
                          <a:latin typeface="Cambria Math"/>
                          <a:ea typeface="Cambria Math"/>
                          <a:cs typeface="Cambria Math"/>
                        </a:rPr>
                        <m:t> = </m:t>
                      </m:r>
                      <m:f>
                        <m:fPr>
                          <m:ctrlPr>
                            <a:rPr lang="en-US" sz="22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2200" b="0" i="1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i"/>
                                </m:rPr>
                                <a:rPr lang="en-US" sz="22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c</m:t>
                              </m:r>
                            </m:e>
                            <m:sub>
                              <m:r>
                                <m:rPr>
                                  <m:sty m:val="i"/>
                                </m:rPr>
                                <a:rPr lang="en-US" sz="22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i</m:t>
                              </m:r>
                            </m:sub>
                          </m:sSub>
                        </m:num>
                        <m:den>
                          <m:sSubSup>
                            <m:sSubSupPr>
                              <m:alnScr m:val="off"/>
                              <m:ctrlPr>
                                <a:rPr lang="en-US" sz="2200" b="0" i="1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SupPr>
                            <m:e>
                              <m:r>
                                <m:rPr>
                                  <m:sty m:val="i"/>
                                </m:rPr>
                                <a:rPr lang="en-US" sz="22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σ</m:t>
                              </m:r>
                            </m:e>
                            <m:sub>
                              <m:r>
                                <m:rPr>
                                  <m:sty m:val="i"/>
                                </m:rPr>
                                <a:rPr lang="en-US" sz="22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i</m:t>
                              </m:r>
                            </m:sub>
                            <m:sup>
                              <m:r>
                                <m:rPr>
                                  <m:sty m:val="i"/>
                                </m:rPr>
                                <a:rPr lang="en-US" sz="22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2</m:t>
                              </m:r>
                            </m:sup>
                          </m:sSubSup>
                        </m:den>
                      </m:f>
                      <m:r>
                        <m:rPr>
                          <m:sty m:val="i"/>
                        </m:rPr>
                        <a:rPr lang="en-US" sz="22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, </m:t>
                      </m:r>
                    </m:oMath>
                  </m:oMathPara>
                </a14:m>
              </mc:Choice>
              <mc:Fallback/>
            </mc:AlternateContent>
            <a:endParaRPr>
              <a:latin typeface="Cambria Math"/>
              <a:ea typeface="Cambria Math"/>
              <a:cs typeface="Cambria Math"/>
            </a:endParaRPr>
          </a:p>
        </p:txBody>
      </p:sp>
      <p:sp>
        <p:nvSpPr>
          <p:cNvPr id="885315413" name="TextBox 1298020582"/>
          <p:cNvSpPr txBox="1"/>
          <p:nvPr/>
        </p:nvSpPr>
        <p:spPr bwMode="auto">
          <a:xfrm>
            <a:off x="6208329" y="1142998"/>
            <a:ext cx="5525279" cy="43179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200"/>
              </a:spcAft>
              <a:defRPr/>
            </a:pPr>
            <a:r>
              <a:rPr sz="1800" b="1" i="0">
                <a:latin typeface="Times New Roman"/>
              </a:rPr>
              <a:t>Объединение координат каналов</a:t>
            </a:r>
            <a:endParaRPr/>
          </a:p>
          <a:p>
            <a:pPr algn="ctr">
              <a:spcAft>
                <a:spcPts val="799"/>
              </a:spcAft>
              <a:defRPr/>
            </a:pPr>
            <a:endParaRPr/>
          </a:p>
          <a:p>
            <a:pPr algn="ctr">
              <a:spcAft>
                <a:spcPts val="800"/>
              </a:spcAft>
              <a:defRPr/>
            </a:pPr>
            <a:endParaRPr/>
          </a:p>
          <a:p>
            <a:pPr algn="ctr">
              <a:spcAft>
                <a:spcPts val="799"/>
              </a:spcAft>
              <a:defRPr/>
            </a:pPr>
            <a:endParaRPr/>
          </a:p>
          <a:p>
            <a:pPr algn="l">
              <a:spcAft>
                <a:spcPts val="199"/>
              </a:spcAft>
              <a:defRPr/>
            </a:pPr>
            <a:endParaRPr/>
          </a:p>
          <a:p>
            <a:pPr algn="l">
              <a:spcAft>
                <a:spcPts val="199"/>
              </a:spcAft>
              <a:defRPr/>
            </a:pPr>
            <a:endParaRPr sz="1400" b="0" i="0">
              <a:latin typeface="Times New Roman"/>
            </a:endParaRPr>
          </a:p>
          <a:p>
            <a:pPr algn="l">
              <a:spcAft>
                <a:spcPts val="200"/>
              </a:spcAft>
              <a:defRPr/>
            </a:pPr>
            <a:r>
              <a:rPr sz="1800" b="0" i="0">
                <a:latin typeface="Times New Roman"/>
              </a:rPr>
              <a:t>где:</a:t>
            </a:r>
            <a:endParaRPr sz="1800" b="0" i="0">
              <a:latin typeface="Times New Roman"/>
            </a:endParaRPr>
          </a:p>
          <a:p>
            <a:pPr algn="l">
              <a:spcAft>
                <a:spcPts val="200"/>
              </a:spcAft>
              <a:defRPr/>
            </a:pPr>
            <a:r>
              <a:rPr sz="1800" b="0" i="0">
                <a:latin typeface="Times New Roman"/>
              </a:rPr>
              <a:t>cᵢ — уверенность канала (0…1);</a:t>
            </a:r>
            <a:endParaRPr sz="2200"/>
          </a:p>
          <a:p>
            <a:pPr algn="l">
              <a:spcAft>
                <a:spcPts val="200"/>
              </a:spcAft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18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i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σ</m:t>
                          </m:r>
                        </m:e>
                        <m:sub>
                          <m:r>
                            <m:rPr>
                              <m:sty m:val="i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r>
              <a:rPr sz="1800" b="0" i="0">
                <a:latin typeface="Times New Roman"/>
              </a:rPr>
              <a:t> — погрешность координат канала, м;</a:t>
            </a:r>
            <a:endParaRPr sz="2200"/>
          </a:p>
          <a:p>
            <a:pPr algn="l">
              <a:spcAft>
                <a:spcPts val="200"/>
              </a:spcAft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sz="1800" b="1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acc>
                            <m:accPr>
                              <m:chr m:val="̌"/>
                              <m:ctrlPr>
                                <a:rPr lang="en-US" sz="1800" b="1" i="1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accPr>
                            <m:e>
                              <m:r>
                                <m:rPr>
                                  <m:sty m:val="bi"/>
                                </m:r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w</m:t>
                              </m:r>
                            </m:e>
                          </m:acc>
                        </m:e>
                        <m:sub>
                          <m:r>
                            <m:rPr>
                              <m:sty m:val="bi"/>
                            </m:rPr>
                            <a:rPr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r>
              <a:rPr sz="1800" b="0" i="0">
                <a:latin typeface="Times New Roman"/>
              </a:rPr>
              <a:t> — вес канала: точнее канал (меньше σᵢ) — больше вес;</a:t>
            </a:r>
            <a:endParaRPr sz="2200"/>
          </a:p>
          <a:p>
            <a:pPr algn="l">
              <a:spcAft>
                <a:spcPts val="200"/>
              </a:spcAft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18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i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e>
                        <m:sub>
                          <m:r>
                            <m:rPr>
                              <m:sty m:val="i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r>
              <a:rPr sz="1800" b="0" i="0">
                <a:latin typeface="Times New Roman"/>
              </a:rPr>
              <a:t>,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18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i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y</m:t>
                          </m:r>
                        </m:e>
                        <m:sub>
                          <m:r>
                            <m:rPr>
                              <m:sty m:val="i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r>
              <a:rPr sz="1800" b="0" i="0">
                <a:latin typeface="Times New Roman"/>
              </a:rPr>
              <a:t>,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18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i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z</m:t>
                          </m:r>
                        </m:e>
                        <m:sub>
                          <m:r>
                            <m:rPr>
                              <m:sty m:val="i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r>
              <a:rPr sz="1800" b="0" i="0">
                <a:latin typeface="Times New Roman"/>
              </a:rPr>
              <a:t> — координаты цели, оценённые каналом;</a:t>
            </a:r>
            <a:endParaRPr sz="2200"/>
          </a:p>
          <a:p>
            <a:pPr algn="l">
              <a:spcAft>
                <a:spcPts val="200"/>
              </a:spcAft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i"/>
                        </m:rPr>
                        <a:rPr sz="1800">
                          <a:latin typeface="Cambria Math"/>
                          <a:ea typeface="Cambria Math"/>
                          <a:cs typeface="Cambria Math"/>
                        </a:rPr>
                        <m:t>X</m:t>
                      </m:r>
                    </m:oMath>
                  </m:oMathPara>
                </a14:m>
              </mc:Choice>
              <mc:Fallback/>
            </mc:AlternateContent>
            <a:r>
              <a:rPr sz="1800" b="0" i="1">
                <a:latin typeface="Times New Roman"/>
              </a:rPr>
              <a:t>,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i"/>
                        </m:rPr>
                        <a:rPr sz="1800">
                          <a:latin typeface="Cambria Math"/>
                          <a:ea typeface="Cambria Math"/>
                          <a:cs typeface="Cambria Math"/>
                        </a:rPr>
                        <m:t>Y</m:t>
                      </m:r>
                    </m:oMath>
                  </m:oMathPara>
                </a14:m>
              </mc:Choice>
              <mc:Fallback/>
            </mc:AlternateContent>
            <a:r>
              <a:rPr sz="1800" b="0" i="1">
                <a:latin typeface="Times New Roman"/>
              </a:rPr>
              <a:t>,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i"/>
                        </m:rPr>
                        <a:rPr sz="1800">
                          <a:latin typeface="Cambria Math"/>
                          <a:ea typeface="Cambria Math"/>
                          <a:cs typeface="Cambria Math"/>
                        </a:rPr>
                        <m:t>Z</m:t>
                      </m:r>
                    </m:oMath>
                  </m:oMathPara>
                </a14:m>
              </mc:Choice>
              <mc:Fallback/>
            </mc:AlternateContent>
            <a:r>
              <a:rPr sz="1800" b="0" i="0">
                <a:latin typeface="Times New Roman"/>
              </a:rPr>
              <a:t> — итоговые координаты цели.</a:t>
            </a:r>
            <a:endParaRPr sz="2200"/>
          </a:p>
        </p:txBody>
      </p:sp>
      <p:sp>
        <p:nvSpPr>
          <p:cNvPr id="890323166" name=""/>
          <p:cNvSpPr txBox="1"/>
          <p:nvPr/>
        </p:nvSpPr>
        <p:spPr bwMode="auto">
          <a:xfrm rot="0" flipH="0" flipV="0">
            <a:off x="1941296" y="1629844"/>
            <a:ext cx="2776188" cy="941175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>
                      <m:jc m:val="left"/>
                    </m:oMathParaPr>
                    <m:oMath>
                      <m:acc>
                        <m:accPr>
                          <m:chr m:val="̅"/>
                          <m:ctrlPr>
                            <a:rPr sz="280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accPr>
                        <m:e>
                          <m:r>
                            <m:rPr>
                              <m:sty m:val="i"/>
                            </m:rPr>
                            <a:rPr sz="2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C</m:t>
                          </m:r>
                        </m:e>
                      </m:acc>
                      <m:r>
                        <m:rPr/>
                        <a:rPr sz="2800">
                          <a:latin typeface="Cambria Math"/>
                          <a:ea typeface="Cambria Math"/>
                          <a:cs typeface="Cambria Math"/>
                        </a:rPr>
                        <m:t> = </m:t>
                      </m:r>
                      <m:f>
                        <m:fPr>
                          <m:ctrlPr>
                            <a:rPr lang="en-US" sz="28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nary>
                            <m:naryPr>
                              <m:chr m:val="∑"/>
                              <m:grow m:val="off"/>
                              <m:limLoc m:val="undOvr"/>
                              <m:subHide m:val="on"/>
                              <m:supHide m:val="on"/>
                              <m:ctrlPr>
                                <a:rPr lang="en-US" sz="2800" i="1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naryPr>
                            <m:sub/>
                            <m:sup/>
                            <m:e>
                              <m:sSub>
                                <m:sSubPr>
                                  <m:ctrlPr>
                                    <a:rPr sz="2800" i="1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i"/>
                                    </m:rPr>
                                    <a:rPr sz="28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w</m:t>
                                  </m:r>
                                </m:e>
                                <m:sub>
                                  <m:r>
                                    <m:rPr>
                                      <m:sty m:val="i"/>
                                    </m:rPr>
                                    <a:rPr sz="28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i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sz="2800" b="0" i="1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i"/>
                                    </m:rPr>
                                    <a:rPr lang="en-US" sz="28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c</m:t>
                                  </m:r>
                                </m:e>
                                <m:sub>
                                  <m:r>
                                    <m:rPr>
                                      <m:sty m:val="i"/>
                                    </m:rPr>
                                    <a:rPr lang="en-US" sz="28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i</m:t>
                                  </m:r>
                                </m:sub>
                              </m:sSub>
                            </m:e>
                          </m:nary>
                        </m:num>
                        <m:den>
                          <m:nary>
                            <m:naryPr>
                              <m:chr m:val="∑"/>
                              <m:grow m:val="off"/>
                              <m:limLoc m:val="undOvr"/>
                              <m:subHide m:val="on"/>
                              <m:supHide m:val="on"/>
                              <m:ctrlPr>
                                <a:rPr lang="en-US" sz="2800" i="1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naryPr>
                            <m:sub/>
                            <m:sup/>
                            <m:e>
                              <m:sSub>
                                <m:sSubPr>
                                  <m:ctrlPr>
                                    <a:rPr sz="2800" i="1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i"/>
                                    </m:rPr>
                                    <a:rPr sz="28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w</m:t>
                                  </m:r>
                                </m:e>
                                <m:sub>
                                  <m:r>
                                    <m:rPr>
                                      <m:sty m:val="i"/>
                                    </m:rPr>
                                    <a:rPr sz="28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i</m:t>
                                  </m:r>
                                </m:sub>
                              </m:sSub>
                            </m:e>
                          </m:nary>
                        </m:den>
                      </m:f>
                      <m:r>
                        <m:rPr>
                          <m:sty m:val="i"/>
                        </m:rPr>
                        <a:rPr lang="en-US" sz="2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, </m:t>
                      </m:r>
                    </m:oMath>
                  </m:oMathPara>
                </a14:m>
              </mc:Choice>
              <mc:Fallback/>
            </mc:AlternateContent>
            <a:endParaRPr>
              <a:latin typeface="Cambria Math"/>
              <a:ea typeface="Cambria Math"/>
              <a:cs typeface="Cambria Math"/>
            </a:endParaRPr>
          </a:p>
        </p:txBody>
      </p:sp>
      <p:sp>
        <p:nvSpPr>
          <p:cNvPr id="1259997439" name=""/>
          <p:cNvSpPr/>
          <p:nvPr/>
        </p:nvSpPr>
        <p:spPr bwMode="auto">
          <a:xfrm flipH="0" flipV="0">
            <a:off x="6723400" y="1769545"/>
            <a:ext cx="1912751" cy="628718"/>
          </a:xfrm>
          <a:prstGeom prst="rect">
            <a:avLst/>
          </a:prstGeom>
          <a:noFill/>
          <a:ln>
            <a:noFill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upright="0" compatLnSpc="1">
            <a:prstTxWarp prst="textNoShape"/>
            <a:spAutoFit/>
          </a:bodyPr>
          <a:p>
            <a:pPr algn="ctr"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bi"/>
                        </m:rPr>
                        <a:rPr sz="2200">
                          <a:latin typeface="Cambria Math"/>
                          <a:ea typeface="Cambria Math"/>
                          <a:cs typeface="Cambria Math"/>
                        </a:rPr>
                        <m:t>X = </m:t>
                      </m:r>
                      <m:f>
                        <m:fPr>
                          <m:ctrlPr>
                            <a:rPr lang="en-US" sz="2200" b="1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nary>
                            <m:naryPr>
                              <m:chr m:val="∑"/>
                              <m:grow m:val="off"/>
                              <m:limLoc m:val="undOvr"/>
                              <m:subHide m:val="on"/>
                              <m:supHide m:val="on"/>
                              <m:ctrlPr>
                                <a:rPr lang="en-US" sz="2200" b="1" i="1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naryPr>
                            <m:sub/>
                            <m:sup/>
                            <m:e>
                              <m:sSub>
                                <m:sSubPr>
                                  <m:ctrlPr>
                                    <a:rPr sz="2200" b="1" i="1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̌"/>
                                      <m:ctrlPr>
                                        <a:rPr lang="en-US" sz="2200" b="1" i="1" u="none" strike="noStrike" cap="none" spc="0">
                                          <a:solidFill>
                                            <a:schemeClr val="tx1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accPr>
                                    <m:e>
                                      <m:r>
                                        <m:rPr>
                                          <m:sty m:val="bi"/>
                                        </m:rPr>
                                        <a:rPr lang="en-US" sz="2200" u="none" strike="noStrike" cap="none" spc="0">
                                          <a:solidFill>
                                            <a:schemeClr val="tx1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w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m:rPr>
                                      <m:sty m:val="bi"/>
                                    </m:rPr>
                                    <a:rPr sz="22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bi"/>
                                </m:rPr>
                                <a:rPr sz="2200"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 </m:t>
                              </m:r>
                              <m:sSub>
                                <m:sSubPr>
                                  <m:ctrlPr>
                                    <a:rPr lang="en-US" sz="2200" b="1" i="1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bi"/>
                                    </m:rPr>
                                    <a:rPr lang="en-US" sz="22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x</m:t>
                                  </m:r>
                                </m:e>
                                <m:sub>
                                  <m:r>
                                    <m:rPr>
                                      <m:sty m:val="bi"/>
                                    </m:rPr>
                                    <a:rPr lang="en-US" sz="22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bi"/>
                                </m:rPr>
                                <a:rPr sz="2200"/>
                                <m:t> </m:t>
                              </m:r>
                            </m:e>
                          </m:nary>
                        </m:num>
                        <m:den>
                          <m:nary>
                            <m:naryPr>
                              <m:chr m:val="∑"/>
                              <m:grow m:val="off"/>
                              <m:limLoc m:val="undOvr"/>
                              <m:subHide m:val="on"/>
                              <m:supHide m:val="on"/>
                              <m:ctrlPr>
                                <a:rPr lang="en-US" sz="2200" b="1" i="1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naryPr>
                            <m:sub/>
                            <m:sup/>
                            <m:e>
                              <m:sSub>
                                <m:sSubPr>
                                  <m:ctrlPr>
                                    <a:rPr sz="2200" b="1" i="1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̌"/>
                                      <m:ctrlPr>
                                        <a:rPr lang="en-US" sz="2200" b="1" i="1" u="none" strike="noStrike" cap="none" spc="0">
                                          <a:solidFill>
                                            <a:schemeClr val="tx1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accPr>
                                    <m:e>
                                      <m:r>
                                        <m:rPr>
                                          <m:sty m:val="bi"/>
                                        </m:rPr>
                                        <a:rPr lang="en-US" sz="2200" u="none" strike="noStrike" cap="none" spc="0">
                                          <a:solidFill>
                                            <a:schemeClr val="tx1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w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m:rPr>
                                      <m:sty m:val="bi"/>
                                    </m:rPr>
                                    <a:rPr sz="22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bi"/>
                                </m:rPr>
                                <a:rPr sz="2200"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 </m:t>
                              </m:r>
                            </m:e>
                          </m:nary>
                        </m:den>
                      </m:f>
                      <m:r>
                        <m:rPr/>
                        <a:rPr sz="2200">
                          <a:latin typeface="Cambria Math"/>
                          <a:ea typeface="Cambria Math"/>
                          <a:cs typeface="Cambria Math"/>
                        </a:rPr>
                        <m:t>, </m:t>
                      </m:r>
                    </m:oMath>
                  </m:oMathPara>
                </a14:m>
              </mc:Choice>
              <mc:Fallback/>
            </mc:AlternateContent>
            <a:r>
              <a:rPr sz="2200">
                <a:latin typeface="Cambria Math"/>
                <a:ea typeface="Cambria Math"/>
                <a:cs typeface="Cambria Math"/>
              </a:rPr>
              <a:t> </a:t>
            </a:r>
            <a:r>
              <a:rPr sz="1800">
                <a:latin typeface="Cambria Math"/>
                <a:ea typeface="Cambria Math"/>
                <a:cs typeface="Cambria Math"/>
              </a:rPr>
              <a:t> </a:t>
            </a:r>
            <a:r>
              <a:rPr sz="1800">
                <a:latin typeface="Cambria Math"/>
                <a:ea typeface="Cambria Math"/>
                <a:cs typeface="Cambria Math"/>
              </a:rPr>
              <a:t> </a:t>
            </a:r>
            <a:endParaRPr sz="1800">
              <a:latin typeface="Cambria Math"/>
              <a:ea typeface="Cambria Math"/>
              <a:cs typeface="Cambria Math"/>
            </a:endParaRPr>
          </a:p>
        </p:txBody>
      </p:sp>
      <p:sp>
        <p:nvSpPr>
          <p:cNvPr id="137618524" name=""/>
          <p:cNvSpPr txBox="1"/>
          <p:nvPr/>
        </p:nvSpPr>
        <p:spPr bwMode="auto">
          <a:xfrm rot="0" flipH="0" flipV="0">
            <a:off x="8636152" y="1769545"/>
            <a:ext cx="1908523" cy="661412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bi"/>
                        </m:rPr>
                        <a:rPr sz="1800">
                          <a:latin typeface="Cambria Math"/>
                          <a:ea typeface="Cambria Math"/>
                          <a:cs typeface="Cambria Math"/>
                        </a:rPr>
                        <m:t>Y = </m:t>
                      </m:r>
                      <m:f>
                        <m:fPr>
                          <m:ctrlPr>
                            <a:rPr lang="en-US" sz="1800" b="1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nary>
                            <m:naryPr>
                              <m:chr m:val="∑"/>
                              <m:grow m:val="off"/>
                              <m:limLoc m:val="undOvr"/>
                              <m:subHide m:val="on"/>
                              <m:supHide m:val="on"/>
                              <m:ctrlPr>
                                <a:rPr lang="en-US" sz="1800" b="1" i="1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naryPr>
                            <m:sub/>
                            <m:sup/>
                            <m:e>
                              <m:sSub>
                                <m:sSubPr>
                                  <m:ctrlPr>
                                    <a:rPr sz="1800" b="1" i="1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̌"/>
                                      <m:ctrlPr>
                                        <a:rPr lang="en-US" sz="1800" b="1" i="1" u="none" strike="noStrike" cap="none" spc="0">
                                          <a:solidFill>
                                            <a:schemeClr val="tx1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accPr>
                                    <m:e>
                                      <m:r>
                                        <m:rPr>
                                          <m:sty m:val="bi"/>
                                        </m:rPr>
                                        <a:rPr lang="en-US" sz="1800" u="none" strike="noStrike" cap="none" spc="0">
                                          <a:solidFill>
                                            <a:schemeClr val="tx1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w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m:rPr>
                                      <m:sty m:val="bi"/>
                                    </m:rPr>
                                    <a:rPr sz="18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bi"/>
                                </m:rPr>
                                <a:rPr sz="1800"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 </m:t>
                              </m:r>
                              <m:sSub>
                                <m:sSubPr>
                                  <m:ctrlPr>
                                    <a:rPr lang="en-US" sz="1800" b="1" i="1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bi"/>
                                    </m:rPr>
                                    <a:rPr lang="en-US" sz="18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y</m:t>
                                  </m:r>
                                </m:e>
                                <m:sub>
                                  <m:r>
                                    <m:rPr>
                                      <m:sty m:val="bi"/>
                                    </m:rPr>
                                    <a:rPr lang="en-US" sz="18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bi"/>
                                </m:rPr>
                                <a:rPr sz="1800"/>
                                <m:t> </m:t>
                              </m:r>
                            </m:e>
                          </m:nary>
                        </m:num>
                        <m:den>
                          <m:nary>
                            <m:naryPr>
                              <m:chr m:val="∑"/>
                              <m:grow m:val="off"/>
                              <m:limLoc m:val="undOvr"/>
                              <m:subHide m:val="on"/>
                              <m:supHide m:val="on"/>
                              <m:ctrlPr>
                                <a:rPr lang="en-US" sz="1800" b="1" i="1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naryPr>
                            <m:sub/>
                            <m:sup/>
                            <m:e>
                              <m:sSub>
                                <m:sSubPr>
                                  <m:ctrlPr>
                                    <a:rPr sz="1800" b="1" i="1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̌"/>
                                      <m:ctrlPr>
                                        <a:rPr lang="en-US" sz="1800" b="1" i="1" u="none" strike="noStrike" cap="none" spc="0">
                                          <a:solidFill>
                                            <a:schemeClr val="tx1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accPr>
                                    <m:e>
                                      <m:r>
                                        <m:rPr>
                                          <m:sty m:val="bi"/>
                                        </m:rPr>
                                        <a:rPr lang="en-US" sz="1800" u="none" strike="noStrike" cap="none" spc="0">
                                          <a:solidFill>
                                            <a:schemeClr val="tx1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w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m:rPr>
                                      <m:sty m:val="bi"/>
                                    </m:rPr>
                                    <a:rPr sz="18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bi"/>
                                </m:rPr>
                                <a:rPr sz="1800"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 </m:t>
                              </m:r>
                            </m:e>
                          </m:nary>
                        </m:den>
                      </m:f>
                      <m:r>
                        <m:rPr/>
                        <a:rPr sz="1800">
                          <a:latin typeface="Cambria Math"/>
                          <a:ea typeface="Cambria Math"/>
                          <a:cs typeface="Cambria Math"/>
                        </a:rPr>
                        <m:t>, </m:t>
                      </m:r>
                    </m:oMath>
                  </m:oMathPara>
                </a14:m>
              </mc:Choice>
              <mc:Fallback/>
            </mc:AlternateContent>
            <a:endParaRPr sz="1800" b="0">
              <a:latin typeface="Cambria Math"/>
              <a:ea typeface="Cambria Math"/>
              <a:cs typeface="Cambria Math"/>
            </a:endParaRPr>
          </a:p>
        </p:txBody>
      </p:sp>
      <p:sp>
        <p:nvSpPr>
          <p:cNvPr id="116108662" name=""/>
          <p:cNvSpPr txBox="1"/>
          <p:nvPr/>
        </p:nvSpPr>
        <p:spPr bwMode="auto">
          <a:xfrm rot="0" flipH="0" flipV="0">
            <a:off x="6731588" y="2430958"/>
            <a:ext cx="1904563" cy="661412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bi"/>
                        </m:rPr>
                        <a:rPr sz="1800">
                          <a:latin typeface="Cambria Math"/>
                          <a:ea typeface="Cambria Math"/>
                          <a:cs typeface="Cambria Math"/>
                        </a:rPr>
                        <m:t>Z = </m:t>
                      </m:r>
                      <m:f>
                        <m:fPr>
                          <m:ctrlPr>
                            <a:rPr lang="en-US" sz="1800" b="1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nary>
                            <m:naryPr>
                              <m:chr m:val="∑"/>
                              <m:grow m:val="off"/>
                              <m:limLoc m:val="undOvr"/>
                              <m:subHide m:val="on"/>
                              <m:supHide m:val="on"/>
                              <m:ctrlPr>
                                <a:rPr lang="en-US" sz="1800" b="1" i="1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naryPr>
                            <m:sub/>
                            <m:sup/>
                            <m:e>
                              <m:sSub>
                                <m:sSubPr>
                                  <m:ctrlPr>
                                    <a:rPr sz="1800" b="1" i="1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̌"/>
                                      <m:ctrlPr>
                                        <a:rPr lang="en-US" sz="1800" b="1" i="1" u="none" strike="noStrike" cap="none" spc="0">
                                          <a:solidFill>
                                            <a:schemeClr val="tx1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accPr>
                                    <m:e>
                                      <m:r>
                                        <m:rPr>
                                          <m:sty m:val="bi"/>
                                        </m:rPr>
                                        <a:rPr lang="en-US" sz="1800" u="none" strike="noStrike" cap="none" spc="0">
                                          <a:solidFill>
                                            <a:schemeClr val="tx1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w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m:rPr>
                                      <m:sty m:val="bi"/>
                                    </m:rPr>
                                    <a:rPr sz="18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bi"/>
                                </m:rPr>
                                <a:rPr sz="1800"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 </m:t>
                              </m:r>
                              <m:sSub>
                                <m:sSubPr>
                                  <m:ctrlPr>
                                    <a:rPr lang="en-US" sz="1800" b="1" i="1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bi"/>
                                    </m:rPr>
                                    <a:rPr lang="en-US" sz="18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z</m:t>
                                  </m:r>
                                </m:e>
                                <m:sub>
                                  <m:r>
                                    <m:rPr>
                                      <m:sty m:val="bi"/>
                                    </m:rPr>
                                    <a:rPr lang="en-US" sz="18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bi"/>
                                </m:rPr>
                                <a:rPr sz="1800"/>
                                <m:t> </m:t>
                              </m:r>
                            </m:e>
                          </m:nary>
                        </m:num>
                        <m:den>
                          <m:nary>
                            <m:naryPr>
                              <m:chr m:val="∑"/>
                              <m:grow m:val="off"/>
                              <m:limLoc m:val="undOvr"/>
                              <m:subHide m:val="on"/>
                              <m:supHide m:val="on"/>
                              <m:ctrlPr>
                                <a:rPr lang="en-US" sz="1800" b="1" i="1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naryPr>
                            <m:sub/>
                            <m:sup/>
                            <m:e>
                              <m:sSub>
                                <m:sSubPr>
                                  <m:ctrlPr>
                                    <a:rPr sz="1800" b="1" i="1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̌"/>
                                      <m:ctrlPr>
                                        <a:rPr lang="en-US" sz="1800" b="1" i="1" u="none" strike="noStrike" cap="none" spc="0">
                                          <a:solidFill>
                                            <a:schemeClr val="tx1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accPr>
                                    <m:e>
                                      <m:r>
                                        <m:rPr>
                                          <m:sty m:val="bi"/>
                                        </m:rPr>
                                        <a:rPr lang="en-US" sz="1800" u="none" strike="noStrike" cap="none" spc="0">
                                          <a:solidFill>
                                            <a:schemeClr val="tx1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w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m:rPr>
                                      <m:sty m:val="bi"/>
                                    </m:rPr>
                                    <a:rPr sz="18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bi"/>
                                </m:rPr>
                                <a:rPr sz="1800"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 </m:t>
                              </m:r>
                            </m:e>
                          </m:nary>
                        </m:den>
                      </m:f>
                      <m:r>
                        <m:rPr/>
                        <a:rPr sz="1800">
                          <a:latin typeface="Cambria Math"/>
                          <a:ea typeface="Cambria Math"/>
                          <a:cs typeface="Cambria Math"/>
                        </a:rPr>
                        <m:t>, </m:t>
                      </m:r>
                    </m:oMath>
                  </m:oMathPara>
                </a14:m>
              </mc:Choice>
              <mc:Fallback/>
            </mc:AlternateContent>
            <a:endParaRPr sz="1800">
              <a:latin typeface="Cambria Math"/>
              <a:ea typeface="Cambria Math"/>
              <a:cs typeface="Cambria Math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67917402" name="TextBox 1"/>
          <p:cNvSpPr txBox="1"/>
          <p:nvPr/>
        </p:nvSpPr>
        <p:spPr bwMode="auto">
          <a:xfrm>
            <a:off x="484632" y="219456"/>
            <a:ext cx="11210544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/>
            </a:pPr>
            <a:r>
              <a:rPr sz="2200" b="1">
                <a:latin typeface="Times New Roman"/>
              </a:rPr>
              <a:t>Определение координат: трилатерация по массивам</a:t>
            </a:r>
            <a:endParaRPr/>
          </a:p>
        </p:txBody>
      </p:sp>
      <p:sp>
        <p:nvSpPr>
          <p:cNvPr id="1054908669" name="TextBox 2"/>
          <p:cNvSpPr txBox="1"/>
          <p:nvPr/>
        </p:nvSpPr>
        <p:spPr bwMode="auto">
          <a:xfrm flipH="0" flipV="0">
            <a:off x="1044039" y="1815352"/>
            <a:ext cx="10091728" cy="25651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/>
            </a:pPr>
            <a:r>
              <a:rPr sz="1800" b="0" i="0">
                <a:latin typeface="Liberation Serif"/>
                <a:ea typeface="Liberation Serif"/>
                <a:cs typeface="Liberation Serif"/>
              </a:rPr>
              <a:t>Каждый узел массива (4 микрофона / 4 приёмника) измеряет только дальность до дрона</a:t>
            </a:r>
            <a:endParaRPr sz="1800">
              <a:latin typeface="Liberation Serif"/>
              <a:cs typeface="Liberation Serif"/>
            </a:endParaRPr>
          </a:p>
          <a:p>
            <a:pPr algn="l">
              <a:spcAft>
                <a:spcPts val="1200"/>
              </a:spcAft>
              <a:defRPr/>
            </a:pPr>
            <a:r>
              <a:rPr sz="1800" b="0" i="0">
                <a:latin typeface="Liberation Serif"/>
                <a:ea typeface="Liberation Serif"/>
                <a:cs typeface="Liberation Serif"/>
              </a:rPr>
              <a:t>Дальность задаёт «сферу» вокруг узла; пересечение сфер от ≥ 3 узлов даёт точку</a:t>
            </a:r>
            <a:endParaRPr sz="1800">
              <a:latin typeface="Liberation Serif"/>
              <a:cs typeface="Liberation Serif"/>
            </a:endParaRPr>
          </a:p>
          <a:p>
            <a:pPr algn="ctr">
              <a:spcAft>
                <a:spcPts val="1200"/>
              </a:spcAft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p>
                        <m:sSupPr>
                          <m:ctrlPr>
                            <a:rPr lang="en-US" sz="180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r>
                            <m:rPr>
                              <m:sty m:val="i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(</m:t>
                          </m:r>
                          <m:r>
                            <m:rPr>
                              <m:sty m:val="i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  <m:r>
                            <m:rPr>
                              <m:sty m:val="i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 - </m:t>
                          </m:r>
                          <m:sSub>
                            <m:sSubPr>
                              <m:ctrlPr>
                                <a:rPr lang="en-US" sz="1800" b="0" i="1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i"/>
                                </m:r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x</m:t>
                              </m:r>
                            </m:e>
                            <m:sub>
                              <m:r>
                                <m:rPr>
                                  <m:sty m:val="i"/>
                                </m:r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i</m:t>
                              </m:r>
                            </m:sub>
                          </m:sSub>
                          <m:r>
                            <m:rPr>
                              <m:sty m:val="i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)</m:t>
                          </m:r>
                        </m:e>
                        <m:sup>
                          <m:r>
                            <m:rPr>
                              <m:sty m:val="i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p>
                      </m:sSup>
                      <m:r>
                        <m:rPr>
                          <m:sty m:val="i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 +</m:t>
                      </m:r>
                      <m:sSup>
                        <m:sSupPr>
                          <m:ctrlPr>
                            <a:rPr lang="en-US" sz="180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r>
                            <m:rPr>
                              <m:sty m:val="i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(Y - </m:t>
                          </m:r>
                          <m:sSub>
                            <m:sSubPr>
                              <m:ctrlPr>
                                <a:rPr lang="en-US" sz="1800" b="0" i="1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i"/>
                                </m:r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y</m:t>
                              </m:r>
                            </m:e>
                            <m:sub>
                              <m:r>
                                <m:rPr>
                                  <m:sty m:val="i"/>
                                </m:r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i</m:t>
                              </m:r>
                            </m:sub>
                          </m:sSub>
                          <m:r>
                            <m:rPr>
                              <m:sty m:val="i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)</m:t>
                          </m:r>
                        </m:e>
                        <m:sup>
                          <m:r>
                            <m:rPr>
                              <m:sty m:val="i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p>
                      </m:sSup>
                      <m:r>
                        <m:rPr>
                          <m:sty m:val="i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+ </m:t>
                      </m:r>
                      <m:sSup>
                        <m:sSupPr>
                          <m:ctrlPr>
                            <a:rPr lang="en-US" sz="180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pPr>
                        <m:e>
                          <m:r>
                            <m:rPr>
                              <m:sty m:val="i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(</m:t>
                          </m:r>
                          <m:r>
                            <m:rPr>
                              <m:sty m:val="i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Z</m:t>
                          </m:r>
                          <m:r>
                            <m:rPr>
                              <m:sty m:val="i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 - </m:t>
                          </m:r>
                          <m:sSub>
                            <m:sSubPr>
                              <m:ctrlPr>
                                <a:rPr lang="en-US" sz="1800" b="0" i="1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i"/>
                                </m:r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z</m:t>
                              </m:r>
                            </m:e>
                            <m:sub>
                              <m:r>
                                <m:rPr>
                                  <m:sty m:val="i"/>
                                </m:rPr>
                                <a:rPr lang="en-US" sz="18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i</m:t>
                              </m:r>
                            </m:sub>
                          </m:sSub>
                          <m:r>
                            <m:rPr>
                              <m:sty m:val="i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)</m:t>
                          </m:r>
                        </m:e>
                        <m:sup>
                          <m:r>
                            <m:rPr>
                              <m:sty m:val="i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p>
                      </m:sSup>
                      <m:r>
                        <m:rPr>
                          <m:sty m:val="i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 = </m:t>
                      </m:r>
                      <m:sSubSup>
                        <m:sSubSupPr>
                          <m:alnScr m:val="off"/>
                          <m:ctrlPr>
                            <a:rPr lang="en-US" sz="18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SupPr>
                        <m:e>
                          <m:r>
                            <m:rPr>
                              <m:sty m:val="i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r</m:t>
                          </m:r>
                        </m:e>
                        <m:sub>
                          <m:r>
                            <m:rPr>
                              <m:sty m:val="i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</m:t>
                          </m:r>
                        </m:sub>
                        <m:sup>
                          <m:r>
                            <m:rPr>
                              <m:sty m:val="i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</m:t>
                          </m:r>
                        </m:sup>
                      </m:sSubSup>
                      <m:r>
                        <m:rPr>
                          <m:sty m:val="i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, </m:t>
                      </m:r>
                      <m:sSub>
                        <m:sSubPr>
                          <m:ctrlPr>
                            <a:rPr lang="en-US" sz="18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i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e>
                        <m:sub>
                          <m:r>
                            <m:rPr>
                              <m:sty m:val="i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endParaRPr sz="1800">
              <a:latin typeface="Liberation Serif"/>
              <a:cs typeface="Liberation Serif"/>
            </a:endParaRPr>
          </a:p>
          <a:p>
            <a:pPr algn="l">
              <a:spcAft>
                <a:spcPts val="200"/>
              </a:spcAft>
              <a:defRPr/>
            </a:pPr>
            <a:r>
              <a:rPr sz="1800" b="0" i="0">
                <a:latin typeface="Liberation Serif"/>
                <a:ea typeface="Liberation Serif"/>
                <a:cs typeface="Liberation Serif"/>
              </a:rPr>
              <a:t>где:</a:t>
            </a:r>
            <a:endParaRPr sz="1800">
              <a:latin typeface="Liberation Serif"/>
              <a:cs typeface="Liberation Serif"/>
            </a:endParaRPr>
          </a:p>
          <a:p>
            <a:pPr algn="l">
              <a:spcAft>
                <a:spcPts val="200"/>
              </a:spcAft>
              <a:defRPr/>
            </a:pPr>
            <a:r>
              <a:rPr sz="1800" b="0" i="0">
                <a:latin typeface="Liberation Serif"/>
                <a:ea typeface="Liberation Serif"/>
                <a:cs typeface="Liberation Serif"/>
              </a:rPr>
              <a:t>(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18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i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e>
                        <m:sub>
                          <m:r>
                            <m:rPr>
                              <m:sty m:val="i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r>
              <a:rPr sz="1800" b="0" i="0">
                <a:latin typeface="Liberation Serif"/>
                <a:ea typeface="Liberation Serif"/>
                <a:cs typeface="Liberation Serif"/>
              </a:rPr>
              <a:t>,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18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i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y</m:t>
                          </m:r>
                        </m:e>
                        <m:sub>
                          <m:r>
                            <m:rPr>
                              <m:sty m:val="i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r>
              <a:rPr sz="1800" b="0" i="0">
                <a:latin typeface="Liberation Serif"/>
                <a:ea typeface="Liberation Serif"/>
                <a:cs typeface="Liberation Serif"/>
              </a:rPr>
              <a:t>,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18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i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z</m:t>
                          </m:r>
                        </m:e>
                        <m:sub>
                          <m:r>
                            <m:rPr>
                              <m:sty m:val="i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r>
              <a:rPr sz="1800" b="0" i="0">
                <a:latin typeface="Liberation Serif"/>
                <a:ea typeface="Liberation Serif"/>
                <a:cs typeface="Liberation Serif"/>
              </a:rPr>
              <a:t>) — координаты узла;</a:t>
            </a:r>
            <a:endParaRPr sz="1800">
              <a:latin typeface="Liberation Serif"/>
              <a:cs typeface="Liberation Serif"/>
            </a:endParaRPr>
          </a:p>
          <a:p>
            <a:pPr algn="l">
              <a:spcAft>
                <a:spcPts val="200"/>
              </a:spcAft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1800" b="0" i="1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i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r</m:t>
                          </m:r>
                        </m:e>
                        <m:sub>
                          <m:r>
                            <m:rPr>
                              <m:sty m:val="i"/>
                            </m:rPr>
                            <a:rPr lang="en-US" sz="18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r>
              <a:rPr sz="1800" b="0" i="0">
                <a:latin typeface="Liberation Serif"/>
                <a:ea typeface="Liberation Serif"/>
                <a:cs typeface="Liberation Serif"/>
              </a:rPr>
              <a:t> — измеренная дальность;</a:t>
            </a:r>
            <a:endParaRPr sz="1800">
              <a:latin typeface="Liberation Serif"/>
              <a:cs typeface="Liberation Serif"/>
            </a:endParaRPr>
          </a:p>
          <a:p>
            <a:pPr algn="l">
              <a:spcAft>
                <a:spcPts val="200"/>
              </a:spcAft>
              <a:defRPr/>
            </a:pPr>
            <a:r>
              <a:rPr sz="1800" b="0" i="0">
                <a:latin typeface="Liberation Serif"/>
                <a:ea typeface="Liberation Serif"/>
                <a:cs typeface="Liberation Serif"/>
              </a:rPr>
              <a:t>(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i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X</m:t>
                      </m:r>
                    </m:oMath>
                  </m:oMathPara>
                </a14:m>
              </mc:Choice>
              <mc:Fallback/>
            </mc:AlternateContent>
            <a:r>
              <a:rPr sz="1800" b="0" i="1">
                <a:latin typeface="Liberation Serif"/>
                <a:ea typeface="Liberation Serif"/>
                <a:cs typeface="Liberation Serif"/>
              </a:rPr>
              <a:t>,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i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Y</m:t>
                      </m:r>
                    </m:oMath>
                  </m:oMathPara>
                </a14:m>
              </mc:Choice>
              <mc:Fallback/>
            </mc:AlternateContent>
            <a:r>
              <a:rPr sz="1800" b="0" i="1">
                <a:latin typeface="Liberation Serif"/>
                <a:ea typeface="Liberation Serif"/>
                <a:cs typeface="Liberation Serif"/>
              </a:rPr>
              <a:t>,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i"/>
                        </m:rPr>
                        <a:rPr lang="en-US" sz="18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Z</m:t>
                      </m:r>
                    </m:oMath>
                  </m:oMathPara>
                </a14:m>
              </mc:Choice>
              <mc:Fallback/>
            </mc:AlternateContent>
            <a:r>
              <a:rPr sz="1800" b="0" i="0">
                <a:latin typeface="Liberation Serif"/>
                <a:ea typeface="Liberation Serif"/>
                <a:cs typeface="Liberation Serif"/>
              </a:rPr>
              <a:t>) — искомое положение дрона.</a:t>
            </a:r>
            <a:endParaRPr/>
          </a:p>
        </p:txBody>
      </p:sp>
      <p:sp>
        <p:nvSpPr>
          <p:cNvPr id="362336919" name="TextBox 5"/>
          <p:cNvSpPr txBox="1"/>
          <p:nvPr/>
        </p:nvSpPr>
        <p:spPr bwMode="auto">
          <a:xfrm>
            <a:off x="11210544" y="6464808"/>
            <a:ext cx="731520" cy="3017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/>
            </a:pPr>
            <a:r>
              <a:rPr sz="1400">
                <a:latin typeface="Times New Roman"/>
              </a:rPr>
              <a:t>8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8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4194715" name="Text 0"/>
          <p:cNvSpPr/>
          <p:nvPr/>
        </p:nvSpPr>
        <p:spPr bwMode="auto">
          <a:xfrm>
            <a:off x="487558" y="219456"/>
            <a:ext cx="11213835" cy="670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  <a:defRPr/>
            </a:pPr>
            <a:r>
              <a:rPr lang="en-US" sz="22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Наборы данных и их разбиение</a:t>
            </a:r>
            <a:endParaRPr lang="en-US" sz="2200"/>
          </a:p>
        </p:txBody>
      </p:sp>
      <p:graphicFrame>
        <p:nvGraphicFramePr>
          <p:cNvPr id="1246933257" name="Table 0"/>
          <p:cNvGraphicFramePr>
            <a:graphicFrameLocks xmlns:a="http://schemas.openxmlformats.org/drawingml/2006/main" noGrp="1"/>
          </p:cNvGraphicFramePr>
          <p:nvPr/>
        </p:nvGraphicFramePr>
        <p:xfrm rot="0">
          <a:off x="487557" y="2046417"/>
          <a:ext cx="11213834" cy="2560320"/>
        </p:xfrm>
        <a:graphic>
          <a:graphicData uri="http://schemas.openxmlformats.org/drawingml/2006/table">
            <a:tbl>
              <a:tblPr firstRow="0" firstCol="0" lastRow="0" lastCol="0" bandRow="0" bandCol="0">
                <a:tableStyleId>{2D5ABB26-0587-4C30-8999-92F81FD0307C}</a:tableStyleId>
              </a:tblPr>
              <a:tblGrid>
                <a:gridCol w="1192961"/>
                <a:gridCol w="3220994"/>
                <a:gridCol w="1073664"/>
                <a:gridCol w="1610497"/>
                <a:gridCol w="1371905"/>
                <a:gridCol w="1371905"/>
                <a:gridCol w="1371905"/>
              </a:tblGrid>
              <a:tr h="548640"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800" b="1">
                          <a:solidFill>
                            <a:schemeClr val="tx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Канал</a:t>
                      </a:r>
                      <a:endParaRPr lang="en-US" sz="180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anchor="ctr">
                    <a:lnL w="12699" algn="ctr">
                      <a:solidFill>
                        <a:schemeClr val="tx1"/>
                      </a:solidFill>
                    </a:lnL>
                    <a:lnR w="12699" algn="ctr">
                      <a:solidFill>
                        <a:schemeClr val="tx1"/>
                      </a:solidFill>
                    </a:lnR>
                    <a:lnT w="12699" algn="ctr">
                      <a:solidFill>
                        <a:schemeClr val="tx1"/>
                      </a:solidFill>
                    </a:lnT>
                    <a:lnB w="12699" algn="ctr">
                      <a:solidFill>
                        <a:schemeClr val="tx1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800" b="1">
                          <a:solidFill>
                            <a:schemeClr val="tx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Набор данных</a:t>
                      </a:r>
                      <a:endParaRPr sz="1800">
                        <a:solidFill>
                          <a:schemeClr val="tx1"/>
                        </a:solidFill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anchor="ctr">
                    <a:lnL w="12699" algn="ctr">
                      <a:solidFill>
                        <a:schemeClr val="tx1"/>
                      </a:solidFill>
                    </a:lnL>
                    <a:lnR w="12699" algn="ctr">
                      <a:solidFill>
                        <a:schemeClr val="tx1"/>
                      </a:solidFill>
                    </a:lnR>
                    <a:lnT w="12699" algn="ctr">
                      <a:solidFill>
                        <a:schemeClr val="tx1"/>
                      </a:solidFill>
                    </a:lnT>
                    <a:lnB w="12699" algn="ctr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800" b="1">
                          <a:solidFill>
                            <a:schemeClr val="tx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Классов</a:t>
                      </a:r>
                      <a:endParaRPr sz="1800">
                        <a:solidFill>
                          <a:schemeClr val="tx1"/>
                        </a:solidFill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anchor="ctr">
                    <a:lnL w="12699" algn="ctr">
                      <a:solidFill>
                        <a:schemeClr val="tx1"/>
                      </a:solidFill>
                    </a:lnL>
                    <a:lnR w="12699" algn="ctr">
                      <a:solidFill>
                        <a:schemeClr val="tx1"/>
                      </a:solidFill>
                    </a:lnR>
                    <a:lnT w="12699" algn="ctr">
                      <a:solidFill>
                        <a:schemeClr val="tx1"/>
                      </a:solidFill>
                    </a:lnT>
                    <a:lnB w="12699" algn="ctr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800" b="1">
                          <a:solidFill>
                            <a:schemeClr val="tx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Обучающая</a:t>
                      </a:r>
                      <a:endParaRPr sz="1800">
                        <a:solidFill>
                          <a:schemeClr val="tx1"/>
                        </a:solidFill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anchor="ctr">
                    <a:lnL w="12699" algn="ctr">
                      <a:solidFill>
                        <a:schemeClr val="tx1"/>
                      </a:solidFill>
                    </a:lnL>
                    <a:lnR w="12699" algn="ctr">
                      <a:solidFill>
                        <a:schemeClr val="tx1"/>
                      </a:solidFill>
                    </a:lnR>
                    <a:lnT w="12699" algn="ctr">
                      <a:solidFill>
                        <a:schemeClr val="tx1"/>
                      </a:solidFill>
                    </a:lnT>
                    <a:lnB w="12699" algn="ctr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800" b="1">
                          <a:solidFill>
                            <a:schemeClr val="tx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Валидац.</a:t>
                      </a:r>
                      <a:endParaRPr sz="1800">
                        <a:solidFill>
                          <a:schemeClr val="tx1"/>
                        </a:solidFill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anchor="ctr">
                    <a:lnL w="12699" algn="ctr">
                      <a:solidFill>
                        <a:schemeClr val="tx1"/>
                      </a:solidFill>
                    </a:lnL>
                    <a:lnR w="12699" algn="ctr">
                      <a:solidFill>
                        <a:schemeClr val="tx1"/>
                      </a:solidFill>
                    </a:lnR>
                    <a:lnT w="12699" algn="ctr">
                      <a:solidFill>
                        <a:schemeClr val="tx1"/>
                      </a:solidFill>
                    </a:lnT>
                    <a:lnB w="12699" algn="ctr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800" b="1">
                          <a:solidFill>
                            <a:schemeClr val="tx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Тестовая</a:t>
                      </a:r>
                      <a:endParaRPr sz="1800">
                        <a:solidFill>
                          <a:schemeClr val="tx1"/>
                        </a:solidFill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anchor="ctr">
                    <a:lnL w="12699" algn="ctr">
                      <a:solidFill>
                        <a:schemeClr val="tx1"/>
                      </a:solidFill>
                    </a:lnL>
                    <a:lnR w="12699" algn="ctr">
                      <a:solidFill>
                        <a:schemeClr val="tx1"/>
                      </a:solidFill>
                    </a:lnR>
                    <a:lnT w="12699" algn="ctr">
                      <a:solidFill>
                        <a:schemeClr val="tx1"/>
                      </a:solidFill>
                    </a:lnT>
                    <a:lnB w="12699" algn="ctr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800" b="1">
                          <a:solidFill>
                            <a:schemeClr val="tx1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Всего</a:t>
                      </a:r>
                      <a:endParaRPr sz="1800">
                        <a:solidFill>
                          <a:schemeClr val="tx1"/>
                        </a:solidFill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anchor="ctr">
                    <a:lnL w="12699" algn="ctr">
                      <a:solidFill>
                        <a:schemeClr val="tx1"/>
                      </a:solidFill>
                    </a:lnL>
                    <a:lnR w="12699" algn="ctr">
                      <a:solidFill>
                        <a:schemeClr val="tx1"/>
                      </a:solidFill>
                    </a:lnR>
                    <a:lnT w="12699" algn="ctr">
                      <a:solidFill>
                        <a:schemeClr val="tx1"/>
                      </a:solidFill>
                    </a:lnT>
                    <a:lnB w="12699" algn="ctr">
                      <a:solidFill>
                        <a:schemeClr val="tx1"/>
                      </a:solidFill>
                    </a:lnB>
                  </a:tcPr>
                </a:tc>
              </a:tr>
              <a:tr h="502920">
                <a:tc>
                  <a:txBody>
                    <a:bodyPr/>
                    <a:p>
                      <a:pPr marL="0" indent="0" algn="l">
                        <a:buNone/>
                        <a:defRPr/>
                      </a:pPr>
                      <a:r>
                        <a:rPr lang="en-US" sz="18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Радар</a:t>
                      </a:r>
                      <a:endParaRPr lang="en-US" sz="180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anchor="ctr">
                    <a:lnL w="12699" algn="ctr">
                      <a:solidFill>
                        <a:schemeClr val="tx1"/>
                      </a:solidFill>
                    </a:lnL>
                    <a:lnR w="12699" algn="ctr">
                      <a:solidFill>
                        <a:schemeClr val="tx1"/>
                      </a:solidFill>
                    </a:lnR>
                    <a:lnT w="12699" algn="ctr">
                      <a:solidFill>
                        <a:schemeClr val="tx1"/>
                      </a:solidFill>
                    </a:lnT>
                    <a:lnB w="12699" algn="ctr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 algn="l">
                        <a:buNone/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Real Doppler RAD-DAR</a:t>
                      </a:r>
                      <a:endParaRPr lang="en-US" sz="180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anchor="ctr">
                    <a:lnL w="12699" algn="ctr">
                      <a:solidFill>
                        <a:schemeClr val="tx1"/>
                      </a:solidFill>
                    </a:lnL>
                    <a:lnR w="12699" algn="ctr">
                      <a:solidFill>
                        <a:schemeClr val="tx1"/>
                      </a:solidFill>
                    </a:lnR>
                    <a:lnT w="12699" algn="ctr">
                      <a:solidFill>
                        <a:schemeClr val="tx1"/>
                      </a:solidFill>
                    </a:lnT>
                    <a:lnB w="12699" algn="ctr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3</a:t>
                      </a:r>
                      <a:endParaRPr lang="en-US" sz="180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anchor="ctr">
                    <a:lnL w="12699" algn="ctr">
                      <a:solidFill>
                        <a:schemeClr val="tx1"/>
                      </a:solidFill>
                    </a:lnL>
                    <a:lnR w="12699" algn="ctr">
                      <a:solidFill>
                        <a:schemeClr val="tx1"/>
                      </a:solidFill>
                    </a:lnR>
                    <a:lnT w="12699" algn="ctr">
                      <a:solidFill>
                        <a:schemeClr val="tx1"/>
                      </a:solidFill>
                    </a:lnT>
                    <a:lnB w="12699" algn="ctr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24 373</a:t>
                      </a:r>
                      <a:endParaRPr lang="en-US" sz="180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anchor="ctr">
                    <a:lnL w="12699" algn="ctr">
                      <a:solidFill>
                        <a:schemeClr val="tx1"/>
                      </a:solidFill>
                    </a:lnL>
                    <a:lnR w="12699" algn="ctr">
                      <a:solidFill>
                        <a:schemeClr val="tx1"/>
                      </a:solidFill>
                    </a:lnR>
                    <a:lnT w="12699" algn="ctr">
                      <a:solidFill>
                        <a:schemeClr val="tx1"/>
                      </a:solidFill>
                    </a:lnT>
                    <a:lnB w="12699" algn="ctr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5 351</a:t>
                      </a:r>
                      <a:endParaRPr lang="en-US" sz="180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anchor="ctr">
                    <a:lnL w="12699" algn="ctr">
                      <a:solidFill>
                        <a:schemeClr val="tx1"/>
                      </a:solidFill>
                    </a:lnL>
                    <a:lnR w="12699" algn="ctr">
                      <a:solidFill>
                        <a:schemeClr val="tx1"/>
                      </a:solidFill>
                    </a:lnR>
                    <a:lnT w="12699" algn="ctr">
                      <a:solidFill>
                        <a:schemeClr val="tx1"/>
                      </a:solidFill>
                    </a:lnT>
                    <a:lnB w="12699" algn="ctr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5 246</a:t>
                      </a:r>
                      <a:endParaRPr lang="en-US" sz="180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anchor="ctr">
                    <a:lnL w="12699" algn="ctr">
                      <a:solidFill>
                        <a:schemeClr val="tx1"/>
                      </a:solidFill>
                    </a:lnL>
                    <a:lnR w="12699" algn="ctr">
                      <a:solidFill>
                        <a:schemeClr val="tx1"/>
                      </a:solidFill>
                    </a:lnR>
                    <a:lnT w="12699" algn="ctr">
                      <a:solidFill>
                        <a:schemeClr val="tx1"/>
                      </a:solidFill>
                    </a:lnT>
                    <a:lnB w="12699" algn="ctr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80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34 970</a:t>
                      </a:r>
                      <a:endParaRPr sz="1800" b="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anchor="ctr">
                    <a:lnL w="12699" algn="ctr">
                      <a:solidFill>
                        <a:schemeClr val="tx1"/>
                      </a:solidFill>
                    </a:lnL>
                    <a:lnR w="12699" algn="ctr">
                      <a:solidFill>
                        <a:schemeClr val="tx1"/>
                      </a:solidFill>
                    </a:lnR>
                    <a:lnT w="12699" algn="ctr">
                      <a:solidFill>
                        <a:schemeClr val="tx1"/>
                      </a:solidFill>
                    </a:lnT>
                    <a:lnB w="12699" algn="ctr">
                      <a:solidFill>
                        <a:schemeClr val="tx1"/>
                      </a:solidFill>
                    </a:lnB>
                  </a:tcPr>
                </a:tc>
              </a:tr>
              <a:tr h="502920">
                <a:tc>
                  <a:txBody>
                    <a:bodyPr/>
                    <a:p>
                      <a:pPr marL="0" indent="0" algn="l">
                        <a:buNone/>
                        <a:defRPr/>
                      </a:pPr>
                      <a:r>
                        <a:rPr lang="en-US" sz="18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Аудио</a:t>
                      </a:r>
                      <a:endParaRPr lang="en-US" sz="180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anchor="ctr">
                    <a:lnL w="12699" algn="ctr">
                      <a:solidFill>
                        <a:schemeClr val="tx1"/>
                      </a:solidFill>
                    </a:lnL>
                    <a:lnR w="12699" algn="ctr">
                      <a:solidFill>
                        <a:schemeClr val="tx1"/>
                      </a:solidFill>
                    </a:lnR>
                    <a:lnT w="12699" algn="ctr">
                      <a:solidFill>
                        <a:schemeClr val="tx1"/>
                      </a:solidFill>
                    </a:lnT>
                    <a:lnB w="12699" algn="ctr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 algn="l">
                        <a:buNone/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Drone Audio Dataset</a:t>
                      </a:r>
                      <a:endParaRPr lang="en-US" sz="180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anchor="ctr">
                    <a:lnL w="12699" algn="ctr">
                      <a:solidFill>
                        <a:schemeClr val="tx1"/>
                      </a:solidFill>
                    </a:lnL>
                    <a:lnR w="12699" algn="ctr">
                      <a:solidFill>
                        <a:schemeClr val="tx1"/>
                      </a:solidFill>
                    </a:lnR>
                    <a:lnT w="12699" algn="ctr">
                      <a:solidFill>
                        <a:schemeClr val="tx1"/>
                      </a:solidFill>
                    </a:lnT>
                    <a:lnB w="12699" algn="ctr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2</a:t>
                      </a:r>
                      <a:endParaRPr lang="en-US" sz="180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anchor="ctr">
                    <a:lnL w="12699" algn="ctr">
                      <a:solidFill>
                        <a:schemeClr val="tx1"/>
                      </a:solidFill>
                    </a:lnL>
                    <a:lnR w="12699" algn="ctr">
                      <a:solidFill>
                        <a:schemeClr val="tx1"/>
                      </a:solidFill>
                    </a:lnR>
                    <a:lnT w="12699" algn="ctr">
                      <a:solidFill>
                        <a:schemeClr val="tx1"/>
                      </a:solidFill>
                    </a:lnT>
                    <a:lnB w="12699" algn="ctr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1 856</a:t>
                      </a:r>
                      <a:endParaRPr lang="en-US" sz="180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anchor="ctr">
                    <a:lnL w="12699" algn="ctr">
                      <a:solidFill>
                        <a:schemeClr val="tx1"/>
                      </a:solidFill>
                    </a:lnL>
                    <a:lnR w="12699" algn="ctr">
                      <a:solidFill>
                        <a:schemeClr val="tx1"/>
                      </a:solidFill>
                    </a:lnR>
                    <a:lnT w="12699" algn="ctr">
                      <a:solidFill>
                        <a:schemeClr val="tx1"/>
                      </a:solidFill>
                    </a:lnT>
                    <a:lnB w="12699" algn="ctr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408</a:t>
                      </a:r>
                      <a:endParaRPr lang="en-US" sz="180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anchor="ctr">
                    <a:lnL w="12699" algn="ctr">
                      <a:solidFill>
                        <a:schemeClr val="tx1"/>
                      </a:solidFill>
                    </a:lnL>
                    <a:lnR w="12699" algn="ctr">
                      <a:solidFill>
                        <a:schemeClr val="tx1"/>
                      </a:solidFill>
                    </a:lnR>
                    <a:lnT w="12699" algn="ctr">
                      <a:solidFill>
                        <a:schemeClr val="tx1"/>
                      </a:solidFill>
                    </a:lnT>
                    <a:lnB w="12699" algn="ctr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400</a:t>
                      </a:r>
                      <a:endParaRPr lang="en-US" sz="180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anchor="ctr">
                    <a:lnL w="12699" algn="ctr">
                      <a:solidFill>
                        <a:schemeClr val="tx1"/>
                      </a:solidFill>
                    </a:lnL>
                    <a:lnR w="12699" algn="ctr">
                      <a:solidFill>
                        <a:schemeClr val="tx1"/>
                      </a:solidFill>
                    </a:lnR>
                    <a:lnT w="12699" algn="ctr">
                      <a:solidFill>
                        <a:schemeClr val="tx1"/>
                      </a:solidFill>
                    </a:lnT>
                    <a:lnB w="12699" algn="ctr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80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2 664</a:t>
                      </a:r>
                      <a:endParaRPr sz="1800" b="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anchor="ctr">
                    <a:lnL w="12699" algn="ctr">
                      <a:solidFill>
                        <a:schemeClr val="tx1"/>
                      </a:solidFill>
                    </a:lnL>
                    <a:lnR w="12699" algn="ctr">
                      <a:solidFill>
                        <a:schemeClr val="tx1"/>
                      </a:solidFill>
                    </a:lnR>
                    <a:lnT w="12699" algn="ctr">
                      <a:solidFill>
                        <a:schemeClr val="tx1"/>
                      </a:solidFill>
                    </a:lnT>
                    <a:lnB w="12699" algn="ctr">
                      <a:solidFill>
                        <a:schemeClr val="tx1"/>
                      </a:solidFill>
                    </a:lnB>
                  </a:tcPr>
                </a:tc>
              </a:tr>
              <a:tr h="502920">
                <a:tc>
                  <a:txBody>
                    <a:bodyPr/>
                    <a:p>
                      <a:pPr marL="0" indent="0" algn="l">
                        <a:buNone/>
                        <a:defRPr/>
                      </a:pPr>
                      <a:r>
                        <a:rPr lang="en-US" sz="18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Радио</a:t>
                      </a:r>
                      <a:endParaRPr lang="en-US" sz="180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anchor="ctr">
                    <a:lnL w="12699" algn="ctr">
                      <a:solidFill>
                        <a:schemeClr val="tx1"/>
                      </a:solidFill>
                    </a:lnL>
                    <a:lnR w="12699" algn="ctr">
                      <a:solidFill>
                        <a:schemeClr val="tx1"/>
                      </a:solidFill>
                    </a:lnR>
                    <a:lnT w="12699" algn="ctr">
                      <a:solidFill>
                        <a:schemeClr val="tx1"/>
                      </a:solidFill>
                    </a:lnT>
                    <a:lnB w="12699" algn="ctr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 algn="l">
                        <a:buNone/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Noisy Drone RF Signal</a:t>
                      </a:r>
                      <a:endParaRPr lang="en-US" sz="180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anchor="ctr">
                    <a:lnL w="12699" algn="ctr">
                      <a:solidFill>
                        <a:schemeClr val="tx1"/>
                      </a:solidFill>
                    </a:lnL>
                    <a:lnR w="12699" algn="ctr">
                      <a:solidFill>
                        <a:schemeClr val="tx1"/>
                      </a:solidFill>
                    </a:lnR>
                    <a:lnT w="12699" algn="ctr">
                      <a:solidFill>
                        <a:schemeClr val="tx1"/>
                      </a:solidFill>
                    </a:lnT>
                    <a:lnB w="12699" algn="ctr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7</a:t>
                      </a:r>
                      <a:endParaRPr lang="en-US" sz="180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anchor="ctr">
                    <a:lnL w="12699" algn="ctr">
                      <a:solidFill>
                        <a:schemeClr val="tx1"/>
                      </a:solidFill>
                    </a:lnL>
                    <a:lnR w="12699" algn="ctr">
                      <a:solidFill>
                        <a:schemeClr val="tx1"/>
                      </a:solidFill>
                    </a:lnR>
                    <a:lnT w="12699" algn="ctr">
                      <a:solidFill>
                        <a:schemeClr val="tx1"/>
                      </a:solidFill>
                    </a:lnT>
                    <a:lnB w="12699" algn="ctr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21 505</a:t>
                      </a:r>
                      <a:endParaRPr lang="en-US" sz="180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anchor="ctr">
                    <a:lnL w="12699" algn="ctr">
                      <a:solidFill>
                        <a:schemeClr val="tx1"/>
                      </a:solidFill>
                    </a:lnL>
                    <a:lnR w="12699" algn="ctr">
                      <a:solidFill>
                        <a:schemeClr val="tx1"/>
                      </a:solidFill>
                    </a:lnR>
                    <a:lnT w="12699" algn="ctr">
                      <a:solidFill>
                        <a:schemeClr val="tx1"/>
                      </a:solidFill>
                    </a:lnT>
                    <a:lnB w="12699" algn="ctr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4 721</a:t>
                      </a:r>
                      <a:endParaRPr lang="en-US" sz="180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anchor="ctr">
                    <a:lnL w="12699" algn="ctr">
                      <a:solidFill>
                        <a:schemeClr val="tx1"/>
                      </a:solidFill>
                    </a:lnL>
                    <a:lnR w="12699" algn="ctr">
                      <a:solidFill>
                        <a:schemeClr val="tx1"/>
                      </a:solidFill>
                    </a:lnR>
                    <a:lnT w="12699" algn="ctr">
                      <a:solidFill>
                        <a:schemeClr val="tx1"/>
                      </a:solidFill>
                    </a:lnT>
                    <a:lnB w="12699" algn="ctr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4 629</a:t>
                      </a:r>
                      <a:endParaRPr lang="en-US" sz="180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anchor="ctr">
                    <a:lnL w="12699" algn="ctr">
                      <a:solidFill>
                        <a:schemeClr val="tx1"/>
                      </a:solidFill>
                    </a:lnL>
                    <a:lnR w="12699" algn="ctr">
                      <a:solidFill>
                        <a:schemeClr val="tx1"/>
                      </a:solidFill>
                    </a:lnR>
                    <a:lnT w="12699" algn="ctr">
                      <a:solidFill>
                        <a:schemeClr val="tx1"/>
                      </a:solidFill>
                    </a:lnT>
                    <a:lnB w="12699" algn="ctr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80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30 855</a:t>
                      </a:r>
                      <a:endParaRPr sz="1800" b="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anchor="ctr">
                    <a:lnL w="12699" algn="ctr">
                      <a:solidFill>
                        <a:schemeClr val="tx1"/>
                      </a:solidFill>
                    </a:lnL>
                    <a:lnR w="12699" algn="ctr">
                      <a:solidFill>
                        <a:schemeClr val="tx1"/>
                      </a:solidFill>
                    </a:lnR>
                    <a:lnT w="12699" algn="ctr">
                      <a:solidFill>
                        <a:schemeClr val="tx1"/>
                      </a:solidFill>
                    </a:lnT>
                    <a:lnB w="12699" algn="ctr">
                      <a:solidFill>
                        <a:schemeClr val="tx1"/>
                      </a:solidFill>
                    </a:lnB>
                  </a:tcPr>
                </a:tc>
              </a:tr>
              <a:tr h="502920">
                <a:tc>
                  <a:txBody>
                    <a:bodyPr/>
                    <a:p>
                      <a:pPr marL="0" indent="0" algn="l">
                        <a:buNone/>
                        <a:defRPr/>
                      </a:pPr>
                      <a:r>
                        <a:rPr lang="en-US" sz="18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Видео</a:t>
                      </a:r>
                      <a:endParaRPr lang="en-US" sz="180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anchor="ctr">
                    <a:lnL w="12699" algn="ctr">
                      <a:solidFill>
                        <a:schemeClr val="tx1"/>
                      </a:solidFill>
                    </a:lnL>
                    <a:lnR w="12699" algn="ctr">
                      <a:solidFill>
                        <a:schemeClr val="tx1"/>
                      </a:solidFill>
                    </a:lnR>
                    <a:lnT w="12699" algn="ctr">
                      <a:solidFill>
                        <a:schemeClr val="tx1"/>
                      </a:solidFill>
                    </a:lnT>
                    <a:lnB w="12699" algn="ctr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 algn="l">
                        <a:buNone/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Airborne Object Detection 4</a:t>
                      </a:r>
                      <a:endParaRPr lang="en-US" sz="180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anchor="ctr">
                    <a:lnL w="12699" algn="ctr">
                      <a:solidFill>
                        <a:schemeClr val="tx1"/>
                      </a:solidFill>
                    </a:lnL>
                    <a:lnR w="12699" algn="ctr">
                      <a:solidFill>
                        <a:schemeClr val="tx1"/>
                      </a:solidFill>
                    </a:lnR>
                    <a:lnT w="12699" algn="ctr">
                      <a:solidFill>
                        <a:schemeClr val="tx1"/>
                      </a:solidFill>
                    </a:lnT>
                    <a:lnB w="12699" algn="ctr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4</a:t>
                      </a:r>
                      <a:endParaRPr lang="en-US" sz="180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anchor="ctr">
                    <a:lnL w="12699" algn="ctr">
                      <a:solidFill>
                        <a:schemeClr val="tx1"/>
                      </a:solidFill>
                    </a:lnL>
                    <a:lnR w="12699" algn="ctr">
                      <a:solidFill>
                        <a:schemeClr val="tx1"/>
                      </a:solidFill>
                    </a:lnR>
                    <a:lnT w="12699" algn="ctr">
                      <a:solidFill>
                        <a:schemeClr val="tx1"/>
                      </a:solidFill>
                    </a:lnT>
                    <a:lnB w="12699" algn="ctr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18 013</a:t>
                      </a:r>
                      <a:endParaRPr lang="en-US" sz="180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anchor="ctr">
                    <a:lnL w="12699" algn="ctr">
                      <a:solidFill>
                        <a:schemeClr val="tx1"/>
                      </a:solidFill>
                    </a:lnL>
                    <a:lnR w="12699" algn="ctr">
                      <a:solidFill>
                        <a:schemeClr val="tx1"/>
                      </a:solidFill>
                    </a:lnR>
                    <a:lnT w="12699" algn="ctr">
                      <a:solidFill>
                        <a:schemeClr val="tx1"/>
                      </a:solidFill>
                    </a:lnT>
                    <a:lnB w="12699" algn="ctr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3 377</a:t>
                      </a:r>
                      <a:endParaRPr lang="en-US" sz="180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anchor="ctr">
                    <a:lnL w="12699" algn="ctr">
                      <a:solidFill>
                        <a:schemeClr val="tx1"/>
                      </a:solidFill>
                    </a:lnL>
                    <a:lnR w="12699" algn="ctr">
                      <a:solidFill>
                        <a:schemeClr val="tx1"/>
                      </a:solidFill>
                    </a:lnR>
                    <a:lnT w="12699" algn="ctr">
                      <a:solidFill>
                        <a:schemeClr val="tx1"/>
                      </a:solidFill>
                    </a:lnT>
                    <a:lnB w="12699" algn="ctr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1 126</a:t>
                      </a:r>
                      <a:endParaRPr lang="en-US" sz="180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anchor="ctr">
                    <a:lnL w="12699" algn="ctr">
                      <a:solidFill>
                        <a:schemeClr val="tx1"/>
                      </a:solidFill>
                    </a:lnL>
                    <a:lnR w="12699" algn="ctr">
                      <a:solidFill>
                        <a:schemeClr val="tx1"/>
                      </a:solidFill>
                    </a:lnR>
                    <a:lnT w="12699" algn="ctr">
                      <a:solidFill>
                        <a:schemeClr val="tx1"/>
                      </a:solidFill>
                    </a:lnT>
                    <a:lnB w="12699" algn="ctr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80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22 516</a:t>
                      </a:r>
                      <a:endParaRPr sz="1800" b="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anchor="ctr">
                    <a:lnL w="12699" algn="ctr">
                      <a:solidFill>
                        <a:schemeClr val="tx1"/>
                      </a:solidFill>
                    </a:lnL>
                    <a:lnR w="12699" algn="ctr">
                      <a:solidFill>
                        <a:schemeClr val="tx1"/>
                      </a:solidFill>
                    </a:lnR>
                    <a:lnT w="12699" algn="ctr">
                      <a:solidFill>
                        <a:schemeClr val="tx1"/>
                      </a:solidFill>
                    </a:lnT>
                    <a:lnB w="12699" algn="ctr">
                      <a:solidFill>
                        <a:schemeClr val="tx1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062692059" name="Text 1"/>
          <p:cNvSpPr/>
          <p:nvPr/>
        </p:nvSpPr>
        <p:spPr bwMode="auto">
          <a:xfrm flipH="0" flipV="0">
            <a:off x="660054" y="4855284"/>
            <a:ext cx="10868842" cy="5702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  <a:defRPr/>
            </a:pPr>
            <a:r>
              <a:rPr lang="en-US" sz="1800" b="0" i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Каждый набор разбит на обучающую / валидационную / тестовую выборки в пропорции ≈ 70 / 15 / 15%.</a:t>
            </a:r>
            <a:endParaRPr lang="en-US" sz="1300"/>
          </a:p>
        </p:txBody>
      </p:sp>
      <p:sp>
        <p:nvSpPr>
          <p:cNvPr id="1514426259" name="Text 3"/>
          <p:cNvSpPr/>
          <p:nvPr/>
        </p:nvSpPr>
        <p:spPr bwMode="auto">
          <a:xfrm>
            <a:off x="11213835" y="6461760"/>
            <a:ext cx="731337" cy="30479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  <a:defRPr/>
            </a:pPr>
            <a:r>
              <a:rPr lang="en-US" sz="14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9</a:t>
            </a:r>
            <a:endParaRPr lang="en-US" sz="14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9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2637604" name="Text 0"/>
          <p:cNvSpPr/>
          <p:nvPr/>
        </p:nvSpPr>
        <p:spPr bwMode="auto">
          <a:xfrm>
            <a:off x="487558" y="219456"/>
            <a:ext cx="11213835" cy="670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  <a:defRPr/>
            </a:pPr>
            <a:r>
              <a:rPr lang="en-US" sz="22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Метрики оценки качества</a:t>
            </a:r>
            <a:endParaRPr lang="en-US" sz="2200"/>
          </a:p>
        </p:txBody>
      </p:sp>
      <p:sp>
        <p:nvSpPr>
          <p:cNvPr id="423984696" name="Text 1"/>
          <p:cNvSpPr/>
          <p:nvPr/>
        </p:nvSpPr>
        <p:spPr bwMode="auto">
          <a:xfrm flipH="0" flipV="0">
            <a:off x="292644" y="1013235"/>
            <a:ext cx="423736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Метрики для радара, аудио </a:t>
            </a:r>
            <a:r>
              <a:rPr lang="ru-RU" sz="1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и</a:t>
            </a:r>
            <a:r>
              <a:rPr lang="en-US" sz="1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радио</a:t>
            </a:r>
            <a:endParaRPr lang="en-US" sz="1400"/>
          </a:p>
        </p:txBody>
      </p:sp>
      <p:sp>
        <p:nvSpPr>
          <p:cNvPr id="774712487" name="Text 6"/>
          <p:cNvSpPr/>
          <p:nvPr/>
        </p:nvSpPr>
        <p:spPr bwMode="auto">
          <a:xfrm>
            <a:off x="11213835" y="6461760"/>
            <a:ext cx="731337" cy="30479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  <a:defRPr/>
            </a:pPr>
            <a:r>
              <a:rPr lang="en-US" sz="14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10</a:t>
            </a:r>
            <a:endParaRPr lang="en-US" sz="1400"/>
          </a:p>
        </p:txBody>
      </p:sp>
      <p:sp>
        <p:nvSpPr>
          <p:cNvPr id="301114833" name=""/>
          <p:cNvSpPr/>
          <p:nvPr/>
        </p:nvSpPr>
        <p:spPr bwMode="auto">
          <a:xfrm>
            <a:off x="7800470" y="4334408"/>
            <a:ext cx="488456" cy="853920"/>
          </a:xfrm>
          <a:prstGeom prst="rect">
            <a:avLst/>
          </a:prstGeom>
          <a:noFill/>
          <a:ln>
            <a:noFill/>
          </a:ln>
        </p:spPr>
        <p:txBody>
          <a:bodyPr rot="0" spcFirstLastPara="0" vertOverflow="overflow" horzOverflow="overflow" vert="horz" wrap="none" lIns="91440" tIns="45720" rIns="91440" bIns="45720" numCol="1" spcCol="0" rtlCol="0" fromWordArt="0" anchor="t" anchorCtr="0" forceAA="0" upright="0" compatLnSpc="1">
            <a:prstTxWarp prst="textNoShape"/>
            <a:spAutoFit/>
          </a:bodyPr>
          <a:p>
            <a:pPr algn="ctr">
              <a:defRPr/>
            </a:pPr>
            <a:endParaRPr>
              <a:latin typeface="Cambria Math"/>
              <a:ea typeface="Cambria Math"/>
              <a:cs typeface="Cambria Math"/>
            </a:endParaRPr>
          </a:p>
          <a:p>
            <a:pPr algn="ctr">
              <a:defRPr/>
            </a:pPr>
            <a:endParaRPr>
              <a:latin typeface="Cambria Math"/>
              <a:ea typeface="Cambria Math"/>
              <a:cs typeface="Cambria Math"/>
            </a:endParaRPr>
          </a:p>
        </p:txBody>
      </p:sp>
      <p:sp>
        <p:nvSpPr>
          <p:cNvPr id="881019354" name=""/>
          <p:cNvSpPr txBox="1"/>
          <p:nvPr/>
        </p:nvSpPr>
        <p:spPr bwMode="auto">
          <a:xfrm flipH="0" flipV="0">
            <a:off x="292644" y="1494704"/>
            <a:ext cx="4368810" cy="466981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spcBef>
                <a:spcPts val="599"/>
              </a:spcBef>
              <a:spcAft>
                <a:spcPts val="1199"/>
              </a:spcAft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>
                      <m:jc m:val="left"/>
                    </m:oMathParaPr>
                    <m:oMath>
                      <m:r>
                        <m:rPr/>
                        <a:rPr sz="1800">
                          <a:latin typeface="Cambria Math"/>
                          <a:ea typeface="Cambria Math"/>
                          <a:cs typeface="Cambria Math"/>
                        </a:rPr>
                        <m:t>Accuracy = </m:t>
                      </m:r>
                      <m:f>
                        <m:fPr>
                          <m:ctrlPr>
                            <a:rPr sz="1800"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m:rPr/>
                            <a:rPr sz="1800">
                              <a:latin typeface="Cambria Math"/>
                              <a:ea typeface="Cambria Math"/>
                              <a:cs typeface="Cambria Math"/>
                            </a:rPr>
                            <m:t>TP + TN</m:t>
                          </m:r>
                        </m:num>
                        <m:den>
                          <m:r>
                            <m:rPr/>
                            <a:rPr sz="1800">
                              <a:latin typeface="Cambria Math"/>
                              <a:ea typeface="Cambria Math"/>
                              <a:cs typeface="Cambria Math"/>
                            </a:rPr>
                            <m:t>TP + TN + FP + FN</m:t>
                          </m:r>
                        </m:den>
                      </m:f>
                    </m:oMath>
                  </m:oMathPara>
                </a14:m>
              </mc:Choice>
              <mc:Fallback/>
            </mc:AlternateContent>
            <a:r>
              <a:rPr lang="ru-RU" sz="1800"/>
              <a:t>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/>
                        <a:rPr lang="ru-RU" sz="1800" b="0" i="1">
                          <a:latin typeface="Cambria Math"/>
                        </a:rPr>
                        <m:t>,</m:t>
                      </m:r>
                    </m:oMath>
                  </m:oMathPara>
                </a14:m>
              </mc:Choice>
              <mc:Fallback/>
            </mc:AlternateContent>
            <a:endParaRPr sz="2000"/>
          </a:p>
        </p:txBody>
      </p:sp>
      <p:sp>
        <p:nvSpPr>
          <p:cNvPr id="2118524763" name=""/>
          <p:cNvSpPr txBox="1"/>
          <p:nvPr/>
        </p:nvSpPr>
        <p:spPr bwMode="auto">
          <a:xfrm flipH="0" flipV="0">
            <a:off x="292644" y="2617840"/>
            <a:ext cx="3157322" cy="622642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spcBef>
                <a:spcPts val="599"/>
              </a:spcBef>
              <a:spcAft>
                <a:spcPts val="1199"/>
              </a:spcAft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>
                      <m:jc m:val="left"/>
                    </m:oMathParaPr>
                    <m:oMath>
                      <m:r>
                        <m:rPr/>
                        <a:rPr sz="1800"/>
                        <m:t>Precision = </m:t>
                      </m:r>
                      <m:f>
                        <m:fPr>
                          <m:ctrlPr>
                            <a:rPr sz="1800"/>
                          </m:ctrlPr>
                        </m:fPr>
                        <m:num>
                          <m:r>
                            <m:rPr/>
                            <a:rPr sz="1800"/>
                            <m:t>TP</m:t>
                          </m:r>
                        </m:num>
                        <m:den>
                          <m:r>
                            <m:rPr/>
                            <a:rPr sz="1800"/>
                            <m:t>TP + FP</m:t>
                          </m:r>
                        </m:den>
                      </m:f>
                    </m:oMath>
                  </m:oMathPara>
                </a14:m>
              </mc:Choice>
              <mc:Fallback/>
            </mc:AlternateContent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/>
                        <a:rPr lang="ru-RU" sz="2000" b="0" i="1">
                          <a:latin typeface="Cambria Math"/>
                        </a:rPr>
                        <m:t> ,</m:t>
                      </m:r>
                    </m:oMath>
                  </m:oMathPara>
                </a14:m>
              </mc:Choice>
              <mc:Fallback/>
            </mc:AlternateContent>
            <a:endParaRPr sz="2000"/>
          </a:p>
        </p:txBody>
      </p:sp>
      <p:sp>
        <p:nvSpPr>
          <p:cNvPr id="1859983601" name=""/>
          <p:cNvSpPr txBox="1"/>
          <p:nvPr/>
        </p:nvSpPr>
        <p:spPr bwMode="auto">
          <a:xfrm flipH="0" flipV="0">
            <a:off x="364395" y="2094896"/>
            <a:ext cx="2819866" cy="622642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spcBef>
                <a:spcPts val="599"/>
              </a:spcBef>
              <a:spcAft>
                <a:spcPts val="1199"/>
              </a:spcAft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>
                      <m:jc m:val="left"/>
                    </m:oMathParaPr>
                    <m:oMath>
                      <m:r>
                        <m:rPr/>
                        <a:rPr sz="1800"/>
                        <m:t>Recall = </m:t>
                      </m:r>
                      <m:f>
                        <m:fPr>
                          <m:ctrlPr>
                            <a:rPr sz="1800"/>
                          </m:ctrlPr>
                        </m:fPr>
                        <m:num>
                          <m:r>
                            <m:rPr/>
                            <a:rPr sz="1800"/>
                            <m:t>TP</m:t>
                          </m:r>
                        </m:num>
                        <m:den>
                          <m:r>
                            <m:rPr/>
                            <a:rPr sz="1800"/>
                            <m:t>TP + FN</m:t>
                          </m:r>
                        </m:den>
                      </m:f>
                    </m:oMath>
                  </m:oMathPara>
                </a14:m>
              </mc:Choice>
              <mc:Fallback/>
            </mc:AlternateContent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/>
                        <a:rPr lang="ru-RU" sz="2000" b="0" i="1">
                          <a:latin typeface="Cambria Math"/>
                        </a:rPr>
                        <m:t> ,</m:t>
                      </m:r>
                    </m:oMath>
                  </m:oMathPara>
                </a14:m>
              </mc:Choice>
              <mc:Fallback/>
            </mc:AlternateContent>
            <a:endParaRPr sz="2000"/>
          </a:p>
        </p:txBody>
      </p:sp>
      <p:sp>
        <p:nvSpPr>
          <p:cNvPr id="518025346" name=""/>
          <p:cNvSpPr txBox="1"/>
          <p:nvPr/>
        </p:nvSpPr>
        <p:spPr bwMode="auto">
          <a:xfrm flipH="0" flipV="0">
            <a:off x="292644" y="3766883"/>
            <a:ext cx="3881310" cy="466981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spcBef>
                <a:spcPts val="599"/>
              </a:spcBef>
              <a:spcAft>
                <a:spcPts val="1199"/>
              </a:spcAft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sz="1800" i="1"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i"/>
                            </m:rPr>
                            <a:rPr sz="1800">
                              <a:latin typeface="Cambria Math"/>
                              <a:ea typeface="Cambria Math"/>
                              <a:cs typeface="Cambria Math"/>
                            </a:rPr>
                            <m:t>F</m:t>
                          </m:r>
                        </m:e>
                        <m:sub>
                          <m:r>
                            <m:rPr>
                              <m:sty m:val="i"/>
                            </m:rPr>
                            <a:rPr sz="1800"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b>
                      </m:sSub>
                      <m:r>
                        <m:rPr/>
                        <a:rPr sz="1800"/>
                        <m:t> = </m:t>
                      </m:r>
                      <m:r>
                        <m:rPr/>
                        <a:rPr sz="1800">
                          <a:latin typeface="Cambria Math"/>
                          <a:ea typeface="Cambria Math"/>
                          <a:cs typeface="Cambria Math"/>
                        </a:rPr>
                        <m:t>2</m:t>
                      </m:r>
                      <m:r>
                        <m:rPr/>
                        <a:rPr sz="1800"/>
                        <m:t> ∙ </m:t>
                      </m:r>
                      <m:f>
                        <m:fPr>
                          <m:ctrlPr>
                            <a:rPr sz="1800"/>
                          </m:ctrlPr>
                        </m:fPr>
                        <m:num>
                          <m:r>
                            <m:rPr/>
                            <a:rPr sz="1800"/>
                            <m:t>Precision ∙ Recall</m:t>
                          </m:r>
                        </m:num>
                        <m:den>
                          <m:r>
                            <m:rPr/>
                            <a:rPr sz="1800"/>
                            <m:t>Precision + Recall</m:t>
                          </m:r>
                        </m:den>
                      </m:f>
                    </m:oMath>
                  </m:oMathPara>
                </a14:m>
              </mc:Choice>
              <mc:Fallback/>
            </mc:AlternateContent>
            <a:r>
              <a:rPr/>
              <a:t> </a:t>
            </a:r>
            <a:r>
              <a:rPr lang="en-US" sz="1800" b="0" i="0" u="none" strike="noStrike" cap="none" spc="0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.</a:t>
            </a:r>
            <a:endParaRPr/>
          </a:p>
        </p:txBody>
      </p:sp>
      <p:sp>
        <p:nvSpPr>
          <p:cNvPr id="1398522745" name=""/>
          <p:cNvSpPr txBox="1"/>
          <p:nvPr/>
        </p:nvSpPr>
        <p:spPr bwMode="auto">
          <a:xfrm flipH="0" flipV="0">
            <a:off x="289043" y="3240483"/>
            <a:ext cx="3884551" cy="466981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spcBef>
                <a:spcPts val="599"/>
              </a:spcBef>
              <a:spcAft>
                <a:spcPts val="1199"/>
              </a:spcAft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>
                      <m:jc m:val="left"/>
                    </m:oMathParaPr>
                    <m:oMath>
                      <m:r>
                        <m:rPr/>
                        <a:rPr sz="1800"/>
                        <m:t>macro-</m:t>
                      </m:r>
                      <m:sSub>
                        <m:sSubPr>
                          <m:ctrlPr>
                            <a:rPr sz="1800" i="1"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i"/>
                            </m:rPr>
                            <a:rPr sz="1800">
                              <a:latin typeface="Cambria Math"/>
                              <a:ea typeface="Cambria Math"/>
                              <a:cs typeface="Cambria Math"/>
                            </a:rPr>
                            <m:t>F</m:t>
                          </m:r>
                        </m:e>
                        <m:sub>
                          <m:r>
                            <m:rPr>
                              <m:sty m:val="i"/>
                            </m:rPr>
                            <a:rPr sz="1800"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sub>
                      </m:sSub>
                      <m:r>
                        <m:rPr/>
                        <a:rPr sz="1800"/>
                        <m:t> = </m:t>
                      </m:r>
                      <m:f>
                        <m:fPr>
                          <m:ctrlPr>
                            <a:rPr sz="1800"/>
                          </m:ctrlPr>
                        </m:fPr>
                        <m:num>
                          <m:r>
                            <m:rPr/>
                            <a:rPr sz="1800"/>
                            <m:t>1</m:t>
                          </m:r>
                        </m:num>
                        <m:den>
                          <m:r>
                            <m:rPr/>
                            <a:rPr sz="1800"/>
                            <m:t>K</m:t>
                          </m:r>
                        </m:den>
                      </m:f>
                      <m:nary>
                        <m:naryPr>
                          <m:chr m:val="∑"/>
                          <m:grow m:val="off"/>
                          <m:limLoc m:val="undOvr"/>
                          <m:ctrlPr>
                            <a:rPr sz="1800"/>
                          </m:ctrlPr>
                        </m:naryPr>
                        <m:sub>
                          <m:r>
                            <m:rPr/>
                            <a:rPr sz="1800"/>
                            <m:t>k = 1</m:t>
                          </m:r>
                        </m:sub>
                        <m:sup>
                          <m:r>
                            <m:rPr/>
                            <a:rPr sz="1800"/>
                            <m:t>K</m:t>
                          </m:r>
                        </m:sup>
                        <m:e>
                          <m:sSub>
                            <m:sSubPr>
                              <m:ctrlPr>
                                <a:rPr sz="1800" i="1" u="none" strike="noStrike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i"/>
                                </m:rPr>
                                <a:rPr sz="1800" u="none" strike="noStrike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F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sz="1800" i="1" u="none" strike="noStrike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i"/>
                                    </m:rPr>
                                    <a:rPr lang="en-US" sz="18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1</m:t>
                                  </m:r>
                                </m:e>
                                <m:sub>
                                  <m:r>
                                    <m:rPr>
                                      <m:sty m:val="i"/>
                                    </m:rPr>
                                    <a:rPr sz="1800" u="none" strike="noStrike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k</m:t>
                                  </m:r>
                                </m:sub>
                              </m:sSub>
                            </m:sub>
                          </m:sSub>
                        </m:e>
                      </m:nary>
                    </m:oMath>
                  </m:oMathPara>
                </a14:m>
              </mc:Choice>
              <mc:Fallback/>
            </mc:AlternateContent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/>
                        <a:rPr lang="ru-RU" sz="2000" b="0" i="1">
                          <a:latin typeface="Cambria Math"/>
                        </a:rPr>
                        <m:t> ,</m:t>
                      </m:r>
                    </m:oMath>
                  </m:oMathPara>
                </a14:m>
              </mc:Choice>
              <mc:Fallback/>
            </mc:AlternateContent>
            <a:endParaRPr sz="2000"/>
          </a:p>
        </p:txBody>
      </p:sp>
      <p:sp>
        <p:nvSpPr>
          <p:cNvPr id="18125430" name=""/>
          <p:cNvSpPr txBox="1"/>
          <p:nvPr/>
        </p:nvSpPr>
        <p:spPr bwMode="auto">
          <a:xfrm flipH="0" flipV="0">
            <a:off x="4976659" y="1065077"/>
            <a:ext cx="6981473" cy="2138404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spcAft>
                <a:spcPts val="198"/>
              </a:spcAft>
              <a:defRPr/>
            </a:pPr>
            <a:r>
              <a:rPr lang="ru-RU" sz="1800" b="1">
                <a:latin typeface="Times New Roman"/>
                <a:ea typeface="Times New Roman"/>
                <a:cs typeface="Times New Roman"/>
              </a:rPr>
              <a:t>Пояснение обозначений</a:t>
            </a:r>
            <a:endParaRPr sz="2400"/>
          </a:p>
          <a:p>
            <a:pPr>
              <a:spcAft>
                <a:spcPts val="199"/>
              </a:spcAft>
              <a:defRPr/>
            </a:pPr>
            <a:r>
              <a:rPr sz="1800">
                <a:latin typeface="Times New Roman"/>
                <a:ea typeface="Times New Roman"/>
                <a:cs typeface="Times New Roman"/>
              </a:rPr>
              <a:t>K — колличество классов</a:t>
            </a:r>
            <a:r>
              <a:rPr lang="en-US" sz="1800">
                <a:latin typeface="Times New Roman"/>
                <a:ea typeface="Times New Roman"/>
                <a:cs typeface="Times New Roman"/>
              </a:rPr>
              <a:t>,</a:t>
            </a:r>
            <a:endParaRPr sz="1800">
              <a:latin typeface="Times New Roman"/>
              <a:ea typeface="Times New Roman"/>
              <a:cs typeface="Times New Roman"/>
            </a:endParaRPr>
          </a:p>
          <a:p>
            <a:pPr>
              <a:spcAft>
                <a:spcPts val="199"/>
              </a:spcAft>
              <a:defRPr/>
            </a:pPr>
            <a:r>
              <a:rPr sz="1800" i="1">
                <a:latin typeface="Times New Roman"/>
                <a:ea typeface="Times New Roman"/>
                <a:cs typeface="Times New Roman"/>
              </a:rPr>
              <a:t>TP </a:t>
            </a:r>
            <a:r>
              <a:rPr sz="1800">
                <a:latin typeface="Times New Roman"/>
                <a:ea typeface="Times New Roman"/>
                <a:cs typeface="Times New Roman"/>
              </a:rPr>
              <a:t>— случаи, когда дрон присутствует и обнаружен,</a:t>
            </a:r>
            <a:endParaRPr sz="1800">
              <a:latin typeface="Times New Roman"/>
              <a:ea typeface="Times New Roman"/>
              <a:cs typeface="Times New Roman"/>
            </a:endParaRPr>
          </a:p>
          <a:p>
            <a:pPr>
              <a:spcAft>
                <a:spcPts val="199"/>
              </a:spcAft>
              <a:defRPr/>
            </a:pPr>
            <a:r>
              <a:rPr sz="1800" i="1">
                <a:latin typeface="Times New Roman"/>
                <a:ea typeface="Times New Roman"/>
                <a:cs typeface="Times New Roman"/>
              </a:rPr>
              <a:t>FN </a:t>
            </a:r>
            <a:r>
              <a:rPr sz="1800">
                <a:latin typeface="Times New Roman"/>
                <a:ea typeface="Times New Roman"/>
                <a:cs typeface="Times New Roman"/>
              </a:rPr>
              <a:t>— </a:t>
            </a:r>
            <a:r>
              <a:rPr lang="en-US" sz="1800" b="0" i="0" u="none" strike="noStrike" cap="none" spc="0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случаи, когда </a:t>
            </a:r>
            <a:r>
              <a:rPr sz="1800">
                <a:latin typeface="Times New Roman"/>
                <a:ea typeface="Times New Roman"/>
                <a:cs typeface="Times New Roman"/>
              </a:rPr>
              <a:t>дрон присутствует, но не обнаружен,</a:t>
            </a:r>
            <a:endParaRPr sz="2400"/>
          </a:p>
          <a:p>
            <a:pPr>
              <a:spcAft>
                <a:spcPts val="199"/>
              </a:spcAft>
              <a:defRPr/>
            </a:pPr>
            <a:r>
              <a:rPr sz="1800" i="1">
                <a:latin typeface="Times New Roman"/>
                <a:ea typeface="Times New Roman"/>
                <a:cs typeface="Times New Roman"/>
              </a:rPr>
              <a:t>FP </a:t>
            </a:r>
            <a:r>
              <a:rPr sz="1800">
                <a:latin typeface="Times New Roman"/>
                <a:ea typeface="Times New Roman"/>
                <a:cs typeface="Times New Roman"/>
              </a:rPr>
              <a:t>— </a:t>
            </a:r>
            <a:r>
              <a:rPr lang="en-US" sz="1800" b="0" i="0" u="none" strike="noStrike" cap="none" spc="0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случаи, когда </a:t>
            </a:r>
            <a:r>
              <a:rPr sz="1800">
                <a:latin typeface="Times New Roman"/>
                <a:ea typeface="Times New Roman"/>
                <a:cs typeface="Times New Roman"/>
              </a:rPr>
              <a:t>дрона нет, но система сработала,</a:t>
            </a:r>
            <a:endParaRPr sz="2400"/>
          </a:p>
          <a:p>
            <a:pPr>
              <a:defRPr/>
            </a:pPr>
            <a:r>
              <a:rPr sz="1800" i="1">
                <a:latin typeface="Times New Roman"/>
                <a:ea typeface="Times New Roman"/>
                <a:cs typeface="Times New Roman"/>
              </a:rPr>
              <a:t>TN </a:t>
            </a:r>
            <a:r>
              <a:rPr sz="1800">
                <a:latin typeface="Times New Roman"/>
                <a:ea typeface="Times New Roman"/>
                <a:cs typeface="Times New Roman"/>
              </a:rPr>
              <a:t>— </a:t>
            </a:r>
            <a:r>
              <a:rPr lang="en-US" sz="1800" b="0" i="0" u="none" strike="noStrike" cap="none" spc="0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случаи, когда </a:t>
            </a:r>
            <a:r>
              <a:rPr sz="1800">
                <a:latin typeface="Times New Roman"/>
                <a:ea typeface="Times New Roman"/>
                <a:cs typeface="Times New Roman"/>
              </a:rPr>
              <a:t>дрона нет, и система не сработала,</a:t>
            </a:r>
            <a:endParaRPr sz="1800">
              <a:latin typeface="Times New Roman"/>
              <a:ea typeface="Times New Roman"/>
              <a:cs typeface="Times New Roman"/>
            </a:endParaRPr>
          </a:p>
          <a:p>
            <a:pPr>
              <a:defRPr/>
            </a:pPr>
            <a:r>
              <a:rPr sz="1800">
                <a:latin typeface="Times New Roman"/>
                <a:ea typeface="Times New Roman"/>
                <a:cs typeface="Times New Roman"/>
              </a:rPr>
              <a:t>AP — средняя точность (площадь под PR-кривой «точность–полнота») для одного класса, mAP — её усреднение по всем классам.</a:t>
            </a:r>
            <a:endParaRPr sz="2400"/>
          </a:p>
        </p:txBody>
      </p:sp>
      <p:sp>
        <p:nvSpPr>
          <p:cNvPr id="1422821373" name="Text 1"/>
          <p:cNvSpPr/>
          <p:nvPr/>
        </p:nvSpPr>
        <p:spPr bwMode="auto">
          <a:xfrm flipH="0" flipV="0">
            <a:off x="289043" y="4233865"/>
            <a:ext cx="27478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Метрик</a:t>
            </a:r>
            <a:r>
              <a:rPr lang="ru-RU" sz="1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а</a:t>
            </a:r>
            <a:r>
              <a:rPr lang="en-US" sz="1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для видео</a:t>
            </a:r>
            <a:endParaRPr lang="en-US" sz="1400"/>
          </a:p>
        </p:txBody>
      </p:sp>
      <p:sp>
        <p:nvSpPr>
          <p:cNvPr id="1121919502" name=""/>
          <p:cNvSpPr txBox="1"/>
          <p:nvPr/>
        </p:nvSpPr>
        <p:spPr bwMode="auto">
          <a:xfrm flipH="0" flipV="0">
            <a:off x="243238" y="4599625"/>
            <a:ext cx="2757476" cy="545475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spcBef>
                <a:spcPts val="598"/>
              </a:spcBef>
              <a:spcAft>
                <a:spcPts val="1198"/>
              </a:spcAft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/>
                        <a:rPr/>
                        <m:t>mAP = </m:t>
                      </m:r>
                      <m:f>
                        <m:fPr>
                          <m:ctrlPr>
                            <a:rPr/>
                          </m:ctrlPr>
                        </m:fPr>
                        <m:num>
                          <m:r>
                            <m:rPr/>
                            <a:rPr/>
                            <m:t>1</m:t>
                          </m:r>
                        </m:num>
                        <m:den>
                          <m:r>
                            <m:rPr/>
                            <a:rPr/>
                            <m:t>K</m:t>
                          </m:r>
                        </m:den>
                      </m:f>
                      <m:nary>
                        <m:naryPr>
                          <m:chr m:val="∑"/>
                          <m:grow m:val="off"/>
                          <m:limLoc m:val="undOvr"/>
                          <m:ctrlPr>
                            <a:rPr/>
                          </m:ctrlPr>
                        </m:naryPr>
                        <m:sub>
                          <m:r>
                            <m:rPr/>
                            <a:rPr/>
                            <m:t>k = 1</m:t>
                          </m:r>
                        </m:sub>
                        <m:sup>
                          <m:r>
                            <m:rPr/>
                            <a:rPr/>
                            <m:t>K</m:t>
                          </m:r>
                        </m:sup>
                        <m:e>
                          <m:sSub>
                            <m:sSubPr>
                              <m:ctrlPr>
                                <a:rPr/>
                              </m:ctrlPr>
                            </m:sSubPr>
                            <m:e>
                              <m:r>
                                <m:rPr/>
                                <a:rPr/>
                                <m:t>AP</m:t>
                              </m:r>
                            </m:e>
                            <m:sub>
                              <m:r>
                                <m:rPr/>
                                <a:rPr/>
                                <m:t>k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</mc:Choice>
              <mc:Fallback/>
            </mc:AlternateContent>
            <a:r>
              <a:rPr lang="ru-RU"/>
              <a:t> .</a:t>
            </a:r>
            <a:endParaRPr/>
          </a:p>
        </p:txBody>
      </p:sp>
      <p:sp>
        <p:nvSpPr>
          <p:cNvPr id="341580894" name=""/>
          <p:cNvSpPr txBox="1"/>
          <p:nvPr/>
        </p:nvSpPr>
        <p:spPr bwMode="auto">
          <a:xfrm flipH="0" flipV="0">
            <a:off x="2461451" y="5625578"/>
            <a:ext cx="2045045" cy="466981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spcBef>
                <a:spcPts val="598"/>
              </a:spcBef>
              <a:spcAft>
                <a:spcPts val="1198"/>
              </a:spcAft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i="1"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i"/>
                            </m:rPr>
                            <a:rPr>
                              <a:latin typeface="Cambria Math"/>
                              <a:ea typeface="Cambria Math"/>
                              <a:cs typeface="Cambria Math"/>
                            </a:rPr>
                            <m:t>P</m:t>
                          </m:r>
                        </m:e>
                        <m:sub>
                          <m:r>
                            <m:rPr>
                              <m:sty m:val="i"/>
                            </m:rPr>
                            <a:rPr>
                              <a:latin typeface="Cambria Math"/>
                              <a:ea typeface="Cambria Math"/>
                              <a:cs typeface="Cambria Math"/>
                            </a:rPr>
                            <m:t>d</m:t>
                          </m:r>
                        </m:sub>
                      </m:sSub>
                      <m:r>
                        <m:rPr>
                          <m:sty m:val="i"/>
                        </m:rPr>
                        <a:rPr/>
                        <m:t> = </m:t>
                      </m:r>
                      <m:f>
                        <m:fPr>
                          <m:ctrlPr>
                            <a:rPr b="0"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m:rPr>
                              <m:sty m:val="i"/>
                            </m:rPr>
                            <a:rPr/>
                            <m:t>TP</m:t>
                          </m:r>
                        </m:num>
                        <m:den>
                          <m:r>
                            <m:rPr>
                              <m:sty m:val="i"/>
                            </m:rPr>
                            <a:rPr/>
                            <m:t>TP + FN</m:t>
                          </m:r>
                        </m:den>
                      </m:f>
                    </m:oMath>
                  </m:oMathPara>
                </a14:m>
              </mc:Choice>
              <mc:Fallback/>
            </mc:AlternateContent>
            <a:r>
              <a:rPr b="1"/>
              <a:t> .</a:t>
            </a:r>
            <a:endParaRPr b="1"/>
          </a:p>
        </p:txBody>
      </p:sp>
      <p:sp>
        <p:nvSpPr>
          <p:cNvPr id="1664005219" name=""/>
          <p:cNvSpPr txBox="1"/>
          <p:nvPr/>
        </p:nvSpPr>
        <p:spPr bwMode="auto">
          <a:xfrm flipH="0" flipV="0">
            <a:off x="292644" y="5681608"/>
            <a:ext cx="2168807" cy="466981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spcBef>
                <a:spcPts val="598"/>
              </a:spcBef>
              <a:spcAft>
                <a:spcPts val="1198"/>
              </a:spcAft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i="1"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i"/>
                            </m:rPr>
                            <a:rPr>
                              <a:latin typeface="Cambria Math"/>
                              <a:ea typeface="Cambria Math"/>
                              <a:cs typeface="Cambria Math"/>
                            </a:rPr>
                            <m:t>P</m:t>
                          </m:r>
                        </m:e>
                        <m:sub>
                          <m:r>
                            <m:rPr>
                              <m:sty m:val="i"/>
                            </m:rPr>
                            <a:rPr>
                              <a:latin typeface="Cambria Math"/>
                              <a:ea typeface="Cambria Math"/>
                              <a:cs typeface="Cambria Math"/>
                            </a:rPr>
                            <m:t>fa</m:t>
                          </m:r>
                        </m:sub>
                      </m:sSub>
                      <m:r>
                        <m:rPr/>
                        <a:rPr/>
                        <m:t> = </m:t>
                      </m:r>
                      <m:f>
                        <m:fPr>
                          <m:ctrlPr>
                            <a:rPr/>
                          </m:ctrlPr>
                        </m:fPr>
                        <m:num>
                          <m:r>
                            <m:rPr/>
                            <a:rPr/>
                            <m:t>FP</m:t>
                          </m:r>
                        </m:num>
                        <m:den>
                          <m:r>
                            <m:rPr/>
                            <a:rPr/>
                            <m:t>FP + TN</m:t>
                          </m:r>
                        </m:den>
                      </m:f>
                    </m:oMath>
                  </m:oMathPara>
                </a14:m>
              </mc:Choice>
              <mc:Fallback/>
            </mc:AlternateContent>
            <a:r>
              <a:rPr lang="ru-RU"/>
              <a:t> </a:t>
            </a:r>
            <a:r>
              <a:rPr lang="en-US"/>
              <a:t>,</a:t>
            </a:r>
            <a:endParaRPr/>
          </a:p>
        </p:txBody>
      </p:sp>
      <p:sp>
        <p:nvSpPr>
          <p:cNvPr id="1959872538" name="Text 1"/>
          <p:cNvSpPr/>
          <p:nvPr/>
        </p:nvSpPr>
        <p:spPr bwMode="auto">
          <a:xfrm flipH="0" flipV="0">
            <a:off x="292644" y="5188327"/>
            <a:ext cx="27478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  <a:defRPr/>
            </a:pPr>
            <a:r>
              <a:rPr lang="en-US" sz="1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Метрик</a:t>
            </a:r>
            <a:r>
              <a:rPr lang="ru-RU" sz="1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и</a:t>
            </a:r>
            <a:r>
              <a:rPr lang="en-US" sz="1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для </a:t>
            </a:r>
            <a:r>
              <a:rPr lang="ru-RU" sz="1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системы</a:t>
            </a:r>
            <a:endParaRPr lang="en-US" sz="14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10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6710270" name="Text 0"/>
          <p:cNvSpPr/>
          <p:nvPr/>
        </p:nvSpPr>
        <p:spPr bwMode="auto">
          <a:xfrm>
            <a:off x="487557" y="126073"/>
            <a:ext cx="11213835" cy="670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  <a:defRPr/>
            </a:pPr>
            <a:r>
              <a:rPr lang="en-US" sz="22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Результаты обучения </a:t>
            </a:r>
            <a:r>
              <a:rPr lang="ru-RU" sz="22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моделей для каждого из каналов</a:t>
            </a:r>
            <a:endParaRPr lang="en-US" sz="2200"/>
          </a:p>
        </p:txBody>
      </p:sp>
      <p:sp>
        <p:nvSpPr>
          <p:cNvPr id="2104627806" name="Text 1"/>
          <p:cNvSpPr/>
          <p:nvPr/>
        </p:nvSpPr>
        <p:spPr bwMode="auto">
          <a:xfrm flipH="0" flipV="0">
            <a:off x="823733" y="813771"/>
            <a:ext cx="4219868" cy="42671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  <a:defRPr/>
            </a:pPr>
            <a:r>
              <a:rPr lang="en-US" sz="16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Радиолокационный канал</a:t>
            </a:r>
            <a:endParaRPr lang="en-US" sz="1600"/>
          </a:p>
        </p:txBody>
      </p:sp>
      <p:graphicFrame>
        <p:nvGraphicFramePr>
          <p:cNvPr id="746158848" name="Table 0"/>
          <p:cNvGraphicFramePr>
            <a:graphicFrameLocks xmlns:a="http://schemas.openxmlformats.org/drawingml/2006/main" noGrp="1"/>
          </p:cNvGraphicFramePr>
          <p:nvPr/>
        </p:nvGraphicFramePr>
        <p:xfrm rot="0">
          <a:off x="487558" y="1315719"/>
          <a:ext cx="4892221" cy="1828800"/>
        </p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1865728"/>
                <a:gridCol w="1762077"/>
                <a:gridCol w="1264414"/>
              </a:tblGrid>
              <a:tr h="457200"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ru-RU" sz="1800" b="0" i="0" u="none" strike="noStrike" cap="none" spc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Архитектура</a:t>
                      </a:r>
                      <a:endParaRPr lang="en-US" sz="180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91440" marR="91440" marT="45720" marB="45720" anchor="ctr">
                    <a:lnL w="12700" algn="ctr">
                      <a:solidFill>
                        <a:srgbClr val="000000"/>
                      </a:solidFill>
                    </a:lnL>
                    <a:lnR w="12700" algn="ctr">
                      <a:solidFill>
                        <a:srgbClr val="000000"/>
                      </a:solidFill>
                    </a:lnR>
                    <a:lnT w="12700" algn="ctr">
                      <a:solidFill>
                        <a:srgbClr val="000000"/>
                      </a:solidFill>
                    </a:lnT>
                    <a:lnB w="12700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800" b="0" i="1" u="none" strike="noStrike" cap="none" spc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Accuracy</a:t>
                      </a:r>
                      <a:endParaRPr sz="1800" b="1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91440" marR="91440" marT="45720" marB="45720" anchor="ctr">
                    <a:lnL w="12700" algn="ctr">
                      <a:solidFill>
                        <a:srgbClr val="000000"/>
                      </a:solidFill>
                    </a:lnL>
                    <a:lnR w="12700" algn="ctr">
                      <a:solidFill>
                        <a:srgbClr val="000000"/>
                      </a:solidFill>
                    </a:lnR>
                    <a:lnT w="12700" algn="ctr">
                      <a:solidFill>
                        <a:srgbClr val="000000"/>
                      </a:solidFill>
                    </a:lnT>
                    <a:lnB w="12700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800" b="0" i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macro-</a:t>
                      </a:r>
                      <mc:AlternateContent xmlns:mc="http://schemas.openxmlformats.org/markup-compatibility/2006" xmlns:m="http://schemas.openxmlformats.org/officeDocument/2006/math">
                        <mc:Choice xmlns:a14="http://schemas.microsoft.com/office/drawing/2010/main" Requires="a14">
                          <a14:m>
                            <m:oMathPara>
                              <m:oMathParaPr/>
                              <m:oMath>
                                <m:sSub>
                                  <m:sSubPr>
                                    <m:ctrlPr>
                                      <a:rPr sz="1800" b="0" i="1"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i"/>
                                      </m:rPr>
                                      <a:rPr sz="1800"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F</m:t>
                                    </m:r>
                                  </m:e>
                                  <m:sub>
                                    <m:r>
                                      <m:rPr>
                                        <m:sty m:val="i"/>
                                      </m:rPr>
                                      <a:rPr sz="1800"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1</m:t>
                                    </m:r>
                                  </m:sub>
                                </m:sSub>
                              </m:oMath>
                            </m:oMathPara>
                          </a14:m>
                        </mc:Choice>
                        <mc:Fallback/>
                      </mc:AlternateContent>
                      <a:endParaRPr sz="1800" b="1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91440" marR="91440" marT="45720" marB="45720" anchor="ctr">
                    <a:lnL w="12700" algn="ctr">
                      <a:solidFill>
                        <a:srgbClr val="000000"/>
                      </a:solidFill>
                    </a:lnL>
                    <a:lnR w="12700" algn="ctr">
                      <a:solidFill>
                        <a:srgbClr val="000000"/>
                      </a:solidFill>
                    </a:lnR>
                    <a:lnT w="12700" algn="ctr">
                      <a:solidFill>
                        <a:srgbClr val="000000"/>
                      </a:solidFill>
                    </a:lnT>
                    <a:lnB w="12700" algn="ctr">
                      <a:solidFill>
                        <a:srgbClr val="000000"/>
                      </a:solidFill>
                    </a:lnB>
                  </a:tcPr>
                </a:tc>
              </a:tr>
              <a:tr h="457200"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80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DopplerNet</a:t>
                      </a:r>
                      <a:endParaRPr sz="1800" b="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91440" marR="91440" marT="45720" marB="45720" anchor="ctr">
                    <a:lnL w="12700" algn="ctr">
                      <a:solidFill>
                        <a:srgbClr val="000000"/>
                      </a:solidFill>
                    </a:lnL>
                    <a:lnR w="12700" algn="ctr">
                      <a:solidFill>
                        <a:srgbClr val="000000"/>
                      </a:solidFill>
                    </a:lnR>
                    <a:lnT w="12700" algn="ctr">
                      <a:solidFill>
                        <a:srgbClr val="000000"/>
                      </a:solidFill>
                    </a:lnT>
                    <a:lnB w="12700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80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0,878</a:t>
                      </a:r>
                      <a:endParaRPr sz="1800" b="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91440" marR="91440" marT="45720" marB="45720" anchor="ctr">
                    <a:lnL w="12700" algn="ctr">
                      <a:solidFill>
                        <a:srgbClr val="000000"/>
                      </a:solidFill>
                    </a:lnL>
                    <a:lnR w="12700" algn="ctr">
                      <a:solidFill>
                        <a:srgbClr val="000000"/>
                      </a:solidFill>
                    </a:lnR>
                    <a:lnT w="12700" algn="ctr">
                      <a:solidFill>
                        <a:srgbClr val="000000"/>
                      </a:solidFill>
                    </a:lnT>
                    <a:lnB w="12700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80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0,875</a:t>
                      </a:r>
                      <a:endParaRPr sz="1800" b="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91440" marR="91440" marT="45720" marB="45720" anchor="ctr">
                    <a:lnL w="12700" algn="ctr">
                      <a:solidFill>
                        <a:srgbClr val="000000"/>
                      </a:solidFill>
                    </a:lnL>
                    <a:lnR w="12700" algn="ctr">
                      <a:solidFill>
                        <a:srgbClr val="000000"/>
                      </a:solidFill>
                    </a:lnR>
                    <a:lnT w="12700" algn="ctr">
                      <a:solidFill>
                        <a:srgbClr val="000000"/>
                      </a:solidFill>
                    </a:lnT>
                    <a:lnB w="12700" algn="ctr">
                      <a:solidFill>
                        <a:srgbClr val="000000"/>
                      </a:solidFill>
                    </a:lnB>
                  </a:tcPr>
                </a:tc>
              </a:tr>
              <a:tr h="457200"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80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RadarResNet </a:t>
                      </a:r>
                      <a:endParaRPr sz="1800" b="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91440" marR="91440" marT="45720" marB="45720" anchor="ctr">
                    <a:lnL w="12700" algn="ctr">
                      <a:solidFill>
                        <a:srgbClr val="000000"/>
                      </a:solidFill>
                    </a:lnL>
                    <a:lnR w="12700" algn="ctr">
                      <a:solidFill>
                        <a:srgbClr val="000000"/>
                      </a:solidFill>
                    </a:lnR>
                    <a:lnT w="12700" algn="ctr">
                      <a:solidFill>
                        <a:srgbClr val="000000"/>
                      </a:solidFill>
                    </a:lnT>
                    <a:lnB w="12700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80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0,901</a:t>
                      </a:r>
                      <a:endParaRPr sz="1800" b="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91440" marR="91440" marT="45720" marB="45720" anchor="ctr">
                    <a:lnL w="12700" algn="ctr">
                      <a:solidFill>
                        <a:srgbClr val="000000"/>
                      </a:solidFill>
                    </a:lnL>
                    <a:lnR w="12700" algn="ctr">
                      <a:solidFill>
                        <a:srgbClr val="000000"/>
                      </a:solidFill>
                    </a:lnR>
                    <a:lnT w="12700" algn="ctr">
                      <a:solidFill>
                        <a:srgbClr val="000000"/>
                      </a:solidFill>
                    </a:lnT>
                    <a:lnB w="12700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80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0,898</a:t>
                      </a:r>
                      <a:endParaRPr sz="1800" b="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91440" marR="91440" marT="45720" marB="45720" anchor="ctr">
                    <a:lnL w="12700" algn="ctr">
                      <a:solidFill>
                        <a:srgbClr val="000000"/>
                      </a:solidFill>
                    </a:lnL>
                    <a:lnR w="12700" algn="ctr">
                      <a:solidFill>
                        <a:srgbClr val="000000"/>
                      </a:solidFill>
                    </a:lnR>
                    <a:lnT w="12700" algn="ctr">
                      <a:solidFill>
                        <a:srgbClr val="000000"/>
                      </a:solidFill>
                    </a:lnT>
                    <a:lnB w="12700" algn="ctr">
                      <a:solidFill>
                        <a:srgbClr val="000000"/>
                      </a:solidFill>
                    </a:lnB>
                  </a:tcPr>
                </a:tc>
              </a:tr>
              <a:tr h="457200"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80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RadarMLP</a:t>
                      </a:r>
                      <a:endParaRPr sz="1800" b="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91440" marR="91440" marT="45720" marB="45720" anchor="ctr">
                    <a:lnL w="12700" algn="ctr">
                      <a:solidFill>
                        <a:srgbClr val="000000"/>
                      </a:solidFill>
                    </a:lnL>
                    <a:lnR w="12700" algn="ctr">
                      <a:solidFill>
                        <a:srgbClr val="000000"/>
                      </a:solidFill>
                    </a:lnR>
                    <a:lnT w="12700" algn="ctr">
                      <a:solidFill>
                        <a:srgbClr val="000000"/>
                      </a:solidFill>
                    </a:lnT>
                    <a:lnB w="12700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80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0,862</a:t>
                      </a:r>
                      <a:endParaRPr sz="1800" b="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91440" marR="91440" marT="45720" marB="45720" anchor="ctr">
                    <a:lnL w="12700" algn="ctr">
                      <a:solidFill>
                        <a:srgbClr val="000000"/>
                      </a:solidFill>
                    </a:lnL>
                    <a:lnR w="12700" algn="ctr">
                      <a:solidFill>
                        <a:srgbClr val="000000"/>
                      </a:solidFill>
                    </a:lnR>
                    <a:lnT w="12700" algn="ctr">
                      <a:solidFill>
                        <a:srgbClr val="000000"/>
                      </a:solidFill>
                    </a:lnT>
                    <a:lnB w="12700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80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0,859</a:t>
                      </a:r>
                      <a:endParaRPr sz="1800" b="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91440" marR="91440" marT="45720" marB="45720" anchor="ctr">
                    <a:lnL w="12700" algn="ctr">
                      <a:solidFill>
                        <a:srgbClr val="000000"/>
                      </a:solidFill>
                    </a:lnL>
                    <a:lnR w="12700" algn="ctr">
                      <a:solidFill>
                        <a:srgbClr val="000000"/>
                      </a:solidFill>
                    </a:lnR>
                    <a:lnT w="12700" algn="ctr">
                      <a:solidFill>
                        <a:srgbClr val="000000"/>
                      </a:solidFill>
                    </a:lnT>
                    <a:lnB w="12700" algn="ctr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950815513" name="Text 2"/>
          <p:cNvSpPr/>
          <p:nvPr/>
        </p:nvSpPr>
        <p:spPr bwMode="auto">
          <a:xfrm>
            <a:off x="6263548" y="813771"/>
            <a:ext cx="5363138" cy="426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  <a:defRPr/>
            </a:pPr>
            <a:r>
              <a:rPr lang="en-US" sz="18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Акустический канал</a:t>
            </a:r>
            <a:endParaRPr lang="en-US" sz="1800"/>
          </a:p>
        </p:txBody>
      </p:sp>
      <p:graphicFrame>
        <p:nvGraphicFramePr>
          <p:cNvPr id="416993898" name="Table 1"/>
          <p:cNvGraphicFramePr>
            <a:graphicFrameLocks xmlns:a="http://schemas.openxmlformats.org/drawingml/2006/main" noGrp="1"/>
          </p:cNvGraphicFramePr>
          <p:nvPr/>
        </p:nvGraphicFramePr>
        <p:xfrm rot="0">
          <a:off x="6711784" y="1315719"/>
          <a:ext cx="4448362" cy="1828800"/>
        </p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1691619"/>
                <a:gridCol w="1543552"/>
                <a:gridCol w="1213189"/>
              </a:tblGrid>
              <a:tr h="457200"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ru-RU" sz="180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Архитектура</a:t>
                      </a:r>
                      <a:endParaRPr sz="1800" b="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91440" marR="91440" marT="45720" marB="45720" anchor="ctr">
                    <a:lnL w="12700" algn="ctr">
                      <a:solidFill>
                        <a:srgbClr val="000000"/>
                      </a:solidFill>
                    </a:lnL>
                    <a:lnR w="12700" algn="ctr">
                      <a:solidFill>
                        <a:srgbClr val="000000"/>
                      </a:solidFill>
                    </a:lnR>
                    <a:lnT w="12700" algn="ctr">
                      <a:solidFill>
                        <a:srgbClr val="000000"/>
                      </a:solidFill>
                    </a:lnT>
                    <a:lnB w="12700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800" b="0" i="1" u="none" strike="noStrike" cap="none" spc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Accuracy</a:t>
                      </a:r>
                      <a:endParaRPr sz="1800" b="1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91440" marR="91440" marT="45720" marB="45720" anchor="ctr">
                    <a:lnL w="12700" algn="ctr">
                      <a:solidFill>
                        <a:srgbClr val="000000"/>
                      </a:solidFill>
                    </a:lnL>
                    <a:lnR w="12700" algn="ctr">
                      <a:solidFill>
                        <a:srgbClr val="000000"/>
                      </a:solidFill>
                    </a:lnR>
                    <a:lnT w="12700" algn="ctr">
                      <a:solidFill>
                        <a:srgbClr val="000000"/>
                      </a:solidFill>
                    </a:lnT>
                    <a:lnB w="12700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800" b="0" i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macro-</a:t>
                      </a:r>
                      <mc:AlternateContent xmlns:mc="http://schemas.openxmlformats.org/markup-compatibility/2006" xmlns:m="http://schemas.openxmlformats.org/officeDocument/2006/math">
                        <mc:Choice xmlns:a14="http://schemas.microsoft.com/office/drawing/2010/main" Requires="a14">
                          <a14:m>
                            <m:oMathPara>
                              <m:oMathParaPr/>
                              <m:oMath>
                                <m:sSub>
                                  <m:sSubPr>
                                    <m:ctrlPr>
                                      <a:rPr sz="1800" b="0" i="1"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i"/>
                                      </m:rPr>
                                      <a:rPr sz="1800"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F</m:t>
                                    </m:r>
                                  </m:e>
                                  <m:sub>
                                    <m:r>
                                      <m:rPr>
                                        <m:sty m:val="i"/>
                                      </m:rPr>
                                      <a:rPr sz="1800"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1</m:t>
                                    </m:r>
                                  </m:sub>
                                </m:sSub>
                              </m:oMath>
                            </m:oMathPara>
                          </a14:m>
                        </mc:Choice>
                        <mc:Fallback/>
                      </mc:AlternateContent>
                      <a:endParaRPr sz="1800" b="1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91440" marR="91440" marT="45720" marB="45720" anchor="ctr">
                    <a:lnL w="12700" algn="ctr">
                      <a:solidFill>
                        <a:srgbClr val="000000"/>
                      </a:solidFill>
                    </a:lnL>
                    <a:lnR w="12700" algn="ctr">
                      <a:solidFill>
                        <a:srgbClr val="000000"/>
                      </a:solidFill>
                    </a:lnR>
                    <a:lnT w="12700" algn="ctr">
                      <a:solidFill>
                        <a:srgbClr val="000000"/>
                      </a:solidFill>
                    </a:lnT>
                    <a:lnB w="12700" algn="ctr">
                      <a:solidFill>
                        <a:srgbClr val="000000"/>
                      </a:solidFill>
                    </a:lnB>
                  </a:tcPr>
                </a:tc>
              </a:tr>
              <a:tr h="457200"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80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AudioCNN</a:t>
                      </a:r>
                      <a:endParaRPr sz="1800" b="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91440" marR="91440" marT="45720" marB="45720" anchor="ctr">
                    <a:lnL w="12700" algn="ctr">
                      <a:solidFill>
                        <a:srgbClr val="000000"/>
                      </a:solidFill>
                    </a:lnL>
                    <a:lnR w="12700" algn="ctr">
                      <a:solidFill>
                        <a:srgbClr val="000000"/>
                      </a:solidFill>
                    </a:lnR>
                    <a:lnT w="12700" algn="ctr">
                      <a:solidFill>
                        <a:srgbClr val="000000"/>
                      </a:solidFill>
                    </a:lnT>
                    <a:lnB w="12700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80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0,884</a:t>
                      </a:r>
                      <a:endParaRPr sz="1800" b="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91440" marR="91440" marT="45720" marB="45720" anchor="ctr">
                    <a:lnL w="12700" algn="ctr">
                      <a:solidFill>
                        <a:srgbClr val="000000"/>
                      </a:solidFill>
                    </a:lnL>
                    <a:lnR w="12700" algn="ctr">
                      <a:solidFill>
                        <a:srgbClr val="000000"/>
                      </a:solidFill>
                    </a:lnR>
                    <a:lnT w="12700" algn="ctr">
                      <a:solidFill>
                        <a:srgbClr val="000000"/>
                      </a:solidFill>
                    </a:lnT>
                    <a:lnB w="12700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80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0,882</a:t>
                      </a:r>
                      <a:endParaRPr sz="1800" b="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91440" marR="91440" marT="45720" marB="45720" anchor="ctr">
                    <a:lnL w="12700" algn="ctr">
                      <a:solidFill>
                        <a:srgbClr val="000000"/>
                      </a:solidFill>
                    </a:lnL>
                    <a:lnR w="12700" algn="ctr">
                      <a:solidFill>
                        <a:srgbClr val="000000"/>
                      </a:solidFill>
                    </a:lnR>
                    <a:lnT w="12700" algn="ctr">
                      <a:solidFill>
                        <a:srgbClr val="000000"/>
                      </a:solidFill>
                    </a:lnT>
                    <a:lnB w="12700" algn="ctr">
                      <a:solidFill>
                        <a:srgbClr val="000000"/>
                      </a:solidFill>
                    </a:lnB>
                  </a:tcPr>
                </a:tc>
              </a:tr>
              <a:tr h="457200"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80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AudioCRNN</a:t>
                      </a:r>
                      <a:endParaRPr sz="1800" b="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91440" marR="91440" marT="45720" marB="45720" anchor="ctr">
                    <a:lnL w="12700" algn="ctr">
                      <a:solidFill>
                        <a:srgbClr val="000000"/>
                      </a:solidFill>
                    </a:lnL>
                    <a:lnR w="12700" algn="ctr">
                      <a:solidFill>
                        <a:srgbClr val="000000"/>
                      </a:solidFill>
                    </a:lnR>
                    <a:lnT w="12700" algn="ctr">
                      <a:solidFill>
                        <a:srgbClr val="000000"/>
                      </a:solidFill>
                    </a:lnT>
                    <a:lnB w="12700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80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0,889</a:t>
                      </a:r>
                      <a:endParaRPr sz="1800" b="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91440" marR="91440" marT="45720" marB="45720" anchor="ctr">
                    <a:lnL w="12700" algn="ctr">
                      <a:solidFill>
                        <a:srgbClr val="000000"/>
                      </a:solidFill>
                    </a:lnL>
                    <a:lnR w="12700" algn="ctr">
                      <a:solidFill>
                        <a:srgbClr val="000000"/>
                      </a:solidFill>
                    </a:lnR>
                    <a:lnT w="12700" algn="ctr">
                      <a:solidFill>
                        <a:srgbClr val="000000"/>
                      </a:solidFill>
                    </a:lnT>
                    <a:lnB w="12700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80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0,888</a:t>
                      </a:r>
                      <a:endParaRPr sz="1800" b="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91440" marR="91440" marT="45720" marB="45720" anchor="ctr">
                    <a:lnL w="12700" algn="ctr">
                      <a:solidFill>
                        <a:srgbClr val="000000"/>
                      </a:solidFill>
                    </a:lnL>
                    <a:lnR w="12700" algn="ctr">
                      <a:solidFill>
                        <a:srgbClr val="000000"/>
                      </a:solidFill>
                    </a:lnR>
                    <a:lnT w="12700" algn="ctr">
                      <a:solidFill>
                        <a:srgbClr val="000000"/>
                      </a:solidFill>
                    </a:lnT>
                    <a:lnB w="12700" algn="ctr">
                      <a:solidFill>
                        <a:srgbClr val="000000"/>
                      </a:solidFill>
                    </a:lnB>
                  </a:tcPr>
                </a:tc>
              </a:tr>
              <a:tr h="457200"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80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AudioResNet </a:t>
                      </a:r>
                      <a:endParaRPr sz="1800" b="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91440" marR="91440" marT="45720" marB="45720" anchor="ctr">
                    <a:lnL w="12700" algn="ctr">
                      <a:solidFill>
                        <a:srgbClr val="000000"/>
                      </a:solidFill>
                    </a:lnL>
                    <a:lnR w="12700" algn="ctr">
                      <a:solidFill>
                        <a:srgbClr val="000000"/>
                      </a:solidFill>
                    </a:lnR>
                    <a:lnT w="12700" algn="ctr">
                      <a:solidFill>
                        <a:srgbClr val="000000"/>
                      </a:solidFill>
                    </a:lnT>
                    <a:lnB w="12700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80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0,902</a:t>
                      </a:r>
                      <a:endParaRPr sz="1800" b="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91440" marR="91440" marT="45720" marB="45720" anchor="ctr">
                    <a:lnL w="12700" algn="ctr">
                      <a:solidFill>
                        <a:srgbClr val="000000"/>
                      </a:solidFill>
                    </a:lnL>
                    <a:lnR w="12700" algn="ctr">
                      <a:solidFill>
                        <a:srgbClr val="000000"/>
                      </a:solidFill>
                    </a:lnR>
                    <a:lnT w="12700" algn="ctr">
                      <a:solidFill>
                        <a:srgbClr val="000000"/>
                      </a:solidFill>
                    </a:lnT>
                    <a:lnB w="12700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80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0,901</a:t>
                      </a:r>
                      <a:endParaRPr sz="1800" b="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91440" marR="91440" marT="45720" marB="45720" anchor="ctr">
                    <a:lnL w="12700" algn="ctr">
                      <a:solidFill>
                        <a:srgbClr val="000000"/>
                      </a:solidFill>
                    </a:lnL>
                    <a:lnR w="12700" algn="ctr">
                      <a:solidFill>
                        <a:srgbClr val="000000"/>
                      </a:solidFill>
                    </a:lnR>
                    <a:lnT w="12700" algn="ctr">
                      <a:solidFill>
                        <a:srgbClr val="000000"/>
                      </a:solidFill>
                    </a:lnT>
                    <a:lnB w="12700" algn="ctr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951939765" name="Text 4"/>
          <p:cNvSpPr/>
          <p:nvPr/>
        </p:nvSpPr>
        <p:spPr bwMode="auto">
          <a:xfrm>
            <a:off x="11213835" y="6461760"/>
            <a:ext cx="731337" cy="30479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  <a:defRPr/>
            </a:pPr>
            <a:r>
              <a:rPr lang="en-US" sz="14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11</a:t>
            </a:r>
            <a:endParaRPr lang="en-US" sz="1400"/>
          </a:p>
        </p:txBody>
      </p:sp>
      <p:sp>
        <p:nvSpPr>
          <p:cNvPr id="955235291" name="Text 1"/>
          <p:cNvSpPr/>
          <p:nvPr/>
        </p:nvSpPr>
        <p:spPr bwMode="auto">
          <a:xfrm flipH="0" flipV="0">
            <a:off x="1087639" y="3215638"/>
            <a:ext cx="3692055" cy="42671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  <a:defRPr/>
            </a:pPr>
            <a:r>
              <a:rPr lang="en-US" sz="16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Радиочастотный канал</a:t>
            </a:r>
            <a:endParaRPr lang="en-US" sz="1600"/>
          </a:p>
        </p:txBody>
      </p:sp>
      <p:graphicFrame>
        <p:nvGraphicFramePr>
          <p:cNvPr id="703074607" name="Table 0"/>
          <p:cNvGraphicFramePr>
            <a:graphicFrameLocks xmlns:a="http://schemas.openxmlformats.org/drawingml/2006/main"/>
          </p:cNvGraphicFramePr>
          <p:nvPr/>
        </p:nvGraphicFramePr>
        <p:xfrm rot="0">
          <a:off x="487557" y="3642359"/>
          <a:ext cx="4023360" cy="1828800"/>
        </p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1890000"/>
                <a:gridCol w="1667979"/>
                <a:gridCol w="1334242"/>
              </a:tblGrid>
              <a:tr h="457200"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ru-RU" sz="1800" b="0" i="0" u="none" strike="noStrike" cap="none" spc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Архитектура</a:t>
                      </a:r>
                      <a:endParaRPr lang="en-US" sz="180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91440" marR="91440" marT="45720" marB="45720" anchor="ctr">
                    <a:lnL w="12699" algn="ctr">
                      <a:solidFill>
                        <a:srgbClr val="000000"/>
                      </a:solidFill>
                    </a:lnL>
                    <a:lnR w="12699" algn="ctr">
                      <a:solidFill>
                        <a:srgbClr val="000000"/>
                      </a:solidFill>
                    </a:lnR>
                    <a:lnT w="12699" algn="ctr">
                      <a:solidFill>
                        <a:srgbClr val="000000"/>
                      </a:solidFill>
                    </a:lnT>
                    <a:lnB w="12699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800" b="0" i="1" u="none" strike="noStrike" cap="none" spc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Accuracy</a:t>
                      </a:r>
                      <a:endParaRPr sz="1800" b="1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91440" marR="91440" marT="45720" marB="45720" anchor="ctr">
                    <a:lnL w="12699" algn="ctr">
                      <a:solidFill>
                        <a:srgbClr val="000000"/>
                      </a:solidFill>
                    </a:lnL>
                    <a:lnR w="12699" algn="ctr">
                      <a:solidFill>
                        <a:srgbClr val="000000"/>
                      </a:solidFill>
                    </a:lnR>
                    <a:lnT w="12699" algn="ctr">
                      <a:solidFill>
                        <a:srgbClr val="000000"/>
                      </a:solidFill>
                    </a:lnT>
                    <a:lnB w="12699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800" b="0" i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macro-</a:t>
                      </a:r>
                      <mc:AlternateContent xmlns:mc="http://schemas.openxmlformats.org/markup-compatibility/2006" xmlns:m="http://schemas.openxmlformats.org/officeDocument/2006/math">
                        <mc:Choice xmlns:a14="http://schemas.microsoft.com/office/drawing/2010/main" Requires="a14">
                          <a14:m>
                            <m:oMathPara>
                              <m:oMathParaPr/>
                              <m:oMath>
                                <m:sSub>
                                  <m:sSubPr>
                                    <m:ctrlPr>
                                      <a:rPr sz="1800" b="0" i="1"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i"/>
                                      </m:rPr>
                                      <a:rPr sz="1800"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F</m:t>
                                    </m:r>
                                  </m:e>
                                  <m:sub>
                                    <m:r>
                                      <m:rPr>
                                        <m:sty m:val="i"/>
                                      </m:rPr>
                                      <a:rPr sz="1800"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1</m:t>
                                    </m:r>
                                  </m:sub>
                                </m:sSub>
                              </m:oMath>
                            </m:oMathPara>
                          </a14:m>
                        </mc:Choice>
                        <mc:Fallback/>
                      </mc:AlternateContent>
                      <a:endParaRPr sz="1800" b="1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91440" marR="91440" marT="45720" marB="45720" anchor="ctr">
                    <a:lnL w="12699" algn="ctr">
                      <a:solidFill>
                        <a:srgbClr val="000000"/>
                      </a:solidFill>
                    </a:lnL>
                    <a:lnR w="12699" algn="ctr">
                      <a:solidFill>
                        <a:srgbClr val="000000"/>
                      </a:solidFill>
                    </a:lnR>
                    <a:lnT w="12699" algn="ctr">
                      <a:solidFill>
                        <a:srgbClr val="000000"/>
                      </a:solidFill>
                    </a:lnT>
                    <a:lnB w="12699" algn="ctr">
                      <a:solidFill>
                        <a:srgbClr val="000000"/>
                      </a:solidFill>
                    </a:lnB>
                  </a:tcPr>
                </a:tc>
              </a:tr>
              <a:tr h="457200"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80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RF-CNN-1D</a:t>
                      </a:r>
                      <a:endParaRPr sz="1800" b="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91440" marR="91440" marT="45720" marB="45720" anchor="ctr">
                    <a:lnL w="12699" algn="ctr">
                      <a:solidFill>
                        <a:srgbClr val="000000"/>
                      </a:solidFill>
                    </a:lnL>
                    <a:lnR w="12699" algn="ctr">
                      <a:solidFill>
                        <a:srgbClr val="000000"/>
                      </a:solidFill>
                    </a:lnR>
                    <a:lnT w="12699" algn="ctr">
                      <a:solidFill>
                        <a:srgbClr val="000000"/>
                      </a:solidFill>
                    </a:lnT>
                    <a:lnB w="12699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80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0,798</a:t>
                      </a:r>
                      <a:endParaRPr sz="1800" b="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91440" marR="91440" marT="45720" marB="45720" anchor="ctr">
                    <a:lnL w="12699" algn="ctr">
                      <a:solidFill>
                        <a:srgbClr val="000000"/>
                      </a:solidFill>
                    </a:lnL>
                    <a:lnR w="12699" algn="ctr">
                      <a:solidFill>
                        <a:srgbClr val="000000"/>
                      </a:solidFill>
                    </a:lnR>
                    <a:lnT w="12699" algn="ctr">
                      <a:solidFill>
                        <a:srgbClr val="000000"/>
                      </a:solidFill>
                    </a:lnT>
                    <a:lnB w="12699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80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0,808</a:t>
                      </a:r>
                      <a:endParaRPr sz="1800" b="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91440" marR="91440" marT="45720" marB="45720" anchor="ctr">
                    <a:lnL w="12699" algn="ctr">
                      <a:solidFill>
                        <a:srgbClr val="000000"/>
                      </a:solidFill>
                    </a:lnL>
                    <a:lnR w="12699" algn="ctr">
                      <a:solidFill>
                        <a:srgbClr val="000000"/>
                      </a:solidFill>
                    </a:lnR>
                    <a:lnT w="12699" algn="ctr">
                      <a:solidFill>
                        <a:srgbClr val="000000"/>
                      </a:solidFill>
                    </a:lnT>
                    <a:lnB w="12699" algn="ctr">
                      <a:solidFill>
                        <a:srgbClr val="000000"/>
                      </a:solidFill>
                    </a:lnB>
                  </a:tcPr>
                </a:tc>
              </a:tr>
              <a:tr h="457200"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80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RF-ResNet-1D</a:t>
                      </a:r>
                      <a:endParaRPr sz="1800" b="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91440" marR="91440" marT="45720" marB="45720" anchor="ctr">
                    <a:lnL w="12699" algn="ctr">
                      <a:solidFill>
                        <a:srgbClr val="000000"/>
                      </a:solidFill>
                    </a:lnL>
                    <a:lnR w="12699" algn="ctr">
                      <a:solidFill>
                        <a:srgbClr val="000000"/>
                      </a:solidFill>
                    </a:lnR>
                    <a:lnT w="12699" algn="ctr">
                      <a:solidFill>
                        <a:srgbClr val="000000"/>
                      </a:solidFill>
                    </a:lnT>
                    <a:lnB w="12699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80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0,822</a:t>
                      </a:r>
                      <a:endParaRPr sz="1800" b="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91440" marR="91440" marT="45720" marB="45720" anchor="ctr">
                    <a:lnL w="12699" algn="ctr">
                      <a:solidFill>
                        <a:srgbClr val="000000"/>
                      </a:solidFill>
                    </a:lnL>
                    <a:lnR w="12699" algn="ctr">
                      <a:solidFill>
                        <a:srgbClr val="000000"/>
                      </a:solidFill>
                    </a:lnR>
                    <a:lnT w="12699" algn="ctr">
                      <a:solidFill>
                        <a:srgbClr val="000000"/>
                      </a:solidFill>
                    </a:lnT>
                    <a:lnB w="12699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80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0,832</a:t>
                      </a:r>
                      <a:endParaRPr sz="1800" b="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91440" marR="91440" marT="45720" marB="45720" anchor="ctr">
                    <a:lnL w="12699" algn="ctr">
                      <a:solidFill>
                        <a:srgbClr val="000000"/>
                      </a:solidFill>
                    </a:lnL>
                    <a:lnR w="12699" algn="ctr">
                      <a:solidFill>
                        <a:srgbClr val="000000"/>
                      </a:solidFill>
                    </a:lnR>
                    <a:lnT w="12699" algn="ctr">
                      <a:solidFill>
                        <a:srgbClr val="000000"/>
                      </a:solidFill>
                    </a:lnT>
                    <a:lnB w="12699" algn="ctr">
                      <a:solidFill>
                        <a:srgbClr val="000000"/>
                      </a:solidFill>
                    </a:lnB>
                  </a:tcPr>
                </a:tc>
              </a:tr>
              <a:tr h="457200"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80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RF-MLP</a:t>
                      </a:r>
                      <a:endParaRPr sz="1800" b="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91440" marR="91440" marT="45720" marB="45720" anchor="ctr">
                    <a:lnL w="12699" algn="ctr">
                      <a:solidFill>
                        <a:srgbClr val="000000"/>
                      </a:solidFill>
                    </a:lnL>
                    <a:lnR w="12699" algn="ctr">
                      <a:solidFill>
                        <a:srgbClr val="000000"/>
                      </a:solidFill>
                    </a:lnR>
                    <a:lnT w="12699" algn="ctr">
                      <a:solidFill>
                        <a:srgbClr val="000000"/>
                      </a:solidFill>
                    </a:lnT>
                    <a:lnB w="12699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80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0,264</a:t>
                      </a:r>
                      <a:endParaRPr sz="1800" b="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91440" marR="91440" marT="45720" marB="45720" anchor="ctr">
                    <a:lnL w="12699" algn="ctr">
                      <a:solidFill>
                        <a:srgbClr val="000000"/>
                      </a:solidFill>
                    </a:lnL>
                    <a:lnR w="12699" algn="ctr">
                      <a:solidFill>
                        <a:srgbClr val="000000"/>
                      </a:solidFill>
                    </a:lnR>
                    <a:lnT w="12699" algn="ctr">
                      <a:solidFill>
                        <a:srgbClr val="000000"/>
                      </a:solidFill>
                    </a:lnT>
                    <a:lnB w="12699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80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0,251</a:t>
                      </a:r>
                      <a:endParaRPr sz="1800" b="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91440" marR="91440" marT="45720" marB="45720" anchor="ctr">
                    <a:lnL w="12699" algn="ctr">
                      <a:solidFill>
                        <a:srgbClr val="000000"/>
                      </a:solidFill>
                    </a:lnL>
                    <a:lnR w="12699" algn="ctr">
                      <a:solidFill>
                        <a:srgbClr val="000000"/>
                      </a:solidFill>
                    </a:lnR>
                    <a:lnT w="12699" algn="ctr">
                      <a:solidFill>
                        <a:srgbClr val="000000"/>
                      </a:solidFill>
                    </a:lnT>
                    <a:lnB w="12699" algn="ctr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198975863" name="Text 2"/>
          <p:cNvSpPr/>
          <p:nvPr/>
        </p:nvSpPr>
        <p:spPr bwMode="auto">
          <a:xfrm flipH="0" flipV="0">
            <a:off x="6933437" y="3215639"/>
            <a:ext cx="4023360" cy="42671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  <a:defRPr/>
            </a:pPr>
            <a:r>
              <a:rPr lang="en-US" sz="16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Видеоканал</a:t>
            </a:r>
            <a:endParaRPr lang="en-US" sz="1600"/>
          </a:p>
        </p:txBody>
      </p:sp>
      <p:graphicFrame>
        <p:nvGraphicFramePr>
          <p:cNvPr id="18830860" name="Table 1"/>
          <p:cNvGraphicFramePr>
            <a:graphicFrameLocks xmlns:a="http://schemas.openxmlformats.org/drawingml/2006/main"/>
          </p:cNvGraphicFramePr>
          <p:nvPr/>
        </p:nvGraphicFramePr>
        <p:xfrm rot="0">
          <a:off x="6711784" y="3642359"/>
          <a:ext cx="4631764" cy="1828800"/>
        </p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1710000"/>
                <a:gridCol w="1260000"/>
                <a:gridCol w="1661764"/>
              </a:tblGrid>
              <a:tr h="457200"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60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Архитектура</a:t>
                      </a:r>
                      <a:endParaRPr sz="1600" b="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91440" marR="91440" marT="45720" marB="45720" anchor="ctr">
                    <a:lnL w="12699" algn="ctr">
                      <a:solidFill>
                        <a:srgbClr val="000000"/>
                      </a:solidFill>
                    </a:lnL>
                    <a:lnR w="12699" algn="ctr">
                      <a:solidFill>
                        <a:srgbClr val="000000"/>
                      </a:solidFill>
                    </a:lnR>
                    <a:lnT w="12699" algn="ctr">
                      <a:solidFill>
                        <a:srgbClr val="000000"/>
                      </a:solidFill>
                    </a:lnT>
                    <a:lnB w="12699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600" b="0" i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mAP</a:t>
                      </a:r>
                      <a:r>
                        <a:rPr lang="en-US" sz="160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@0,5</a:t>
                      </a:r>
                      <a:endParaRPr sz="1600" b="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91440" marR="91440" marT="45720" marB="45720" anchor="ctr">
                    <a:lnL w="12699" algn="ctr">
                      <a:solidFill>
                        <a:srgbClr val="000000"/>
                      </a:solidFill>
                    </a:lnL>
                    <a:lnR w="12699" algn="ctr">
                      <a:solidFill>
                        <a:srgbClr val="000000"/>
                      </a:solidFill>
                    </a:lnR>
                    <a:lnT w="12699" algn="ctr">
                      <a:solidFill>
                        <a:srgbClr val="000000"/>
                      </a:solidFill>
                    </a:lnT>
                    <a:lnB w="12699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600" b="0" i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macro-</a:t>
                      </a:r>
                      <mc:AlternateContent xmlns:mc="http://schemas.openxmlformats.org/markup-compatibility/2006" xmlns:m="http://schemas.openxmlformats.org/officeDocument/2006/math">
                        <mc:Choice xmlns:a14="http://schemas.microsoft.com/office/drawing/2010/main" Requires="a14">
                          <a14:m>
                            <m:oMathPara>
                              <m:oMathParaPr/>
                              <m:oMath>
                                <m:sSub>
                                  <m:sSubPr>
                                    <m:ctrlPr>
                                      <a:rPr sz="1600" i="1"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i"/>
                                      </m:rPr>
                                      <a:rPr sz="1600"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F</m:t>
                                    </m:r>
                                  </m:e>
                                  <m:sub>
                                    <m:r>
                                      <m:rPr>
                                        <m:sty m:val="i"/>
                                      </m:rPr>
                                      <a:rPr sz="1600">
                                        <a:latin typeface="Cambria Math"/>
                                        <a:ea typeface="Cambria Math"/>
                                        <a:cs typeface="Cambria Math"/>
                                      </a:rPr>
                                      <m:t>1</m:t>
                                    </m:r>
                                  </m:sub>
                                </m:sSub>
                              </m:oMath>
                            </m:oMathPara>
                          </a14:m>
                        </mc:Choice>
                        <mc:Fallback/>
                      </mc:AlternateContent>
                      <a:endParaRPr sz="1600" b="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91440" marR="91440" marT="45720" marB="45720" anchor="ctr">
                    <a:lnL w="12699" algn="ctr">
                      <a:solidFill>
                        <a:srgbClr val="000000"/>
                      </a:solidFill>
                    </a:lnL>
                    <a:lnR w="12699" algn="ctr">
                      <a:solidFill>
                        <a:srgbClr val="000000"/>
                      </a:solidFill>
                    </a:lnR>
                    <a:lnT w="12699" algn="ctr">
                      <a:solidFill>
                        <a:srgbClr val="000000"/>
                      </a:solidFill>
                    </a:lnT>
                    <a:lnB w="12699" algn="ctr">
                      <a:solidFill>
                        <a:srgbClr val="000000"/>
                      </a:solidFill>
                    </a:lnB>
                  </a:tcPr>
                </a:tc>
              </a:tr>
              <a:tr h="457200"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60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YOLOv5n</a:t>
                      </a:r>
                      <a:endParaRPr sz="1600" b="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91440" marR="91440" marT="45720" marB="45720" anchor="ctr">
                    <a:lnL w="12699" algn="ctr">
                      <a:solidFill>
                        <a:srgbClr val="000000"/>
                      </a:solidFill>
                    </a:lnL>
                    <a:lnR w="12699" algn="ctr">
                      <a:solidFill>
                        <a:srgbClr val="000000"/>
                      </a:solidFill>
                    </a:lnR>
                    <a:lnT w="12699" algn="ctr">
                      <a:solidFill>
                        <a:srgbClr val="000000"/>
                      </a:solidFill>
                    </a:lnT>
                    <a:lnB w="12699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80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0,842</a:t>
                      </a:r>
                      <a:endParaRPr sz="1600" b="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91440" marR="91440" marT="45720" marB="45720" anchor="ctr">
                    <a:lnL w="12699" algn="ctr">
                      <a:solidFill>
                        <a:srgbClr val="000000"/>
                      </a:solidFill>
                    </a:lnL>
                    <a:lnR w="12699" algn="ctr">
                      <a:solidFill>
                        <a:srgbClr val="000000"/>
                      </a:solidFill>
                    </a:lnR>
                    <a:lnT w="12699" algn="ctr">
                      <a:solidFill>
                        <a:srgbClr val="000000"/>
                      </a:solidFill>
                    </a:lnT>
                    <a:lnB w="12699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80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0,840</a:t>
                      </a:r>
                      <a:endParaRPr sz="1600" b="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91440" marR="91440" marT="45720" marB="45720" anchor="ctr">
                    <a:lnL w="12699" algn="ctr">
                      <a:solidFill>
                        <a:srgbClr val="000000"/>
                      </a:solidFill>
                    </a:lnL>
                    <a:lnR w="12699" algn="ctr">
                      <a:solidFill>
                        <a:srgbClr val="000000"/>
                      </a:solidFill>
                    </a:lnR>
                    <a:lnT w="12699" algn="ctr">
                      <a:solidFill>
                        <a:srgbClr val="000000"/>
                      </a:solidFill>
                    </a:lnT>
                    <a:lnB w="12699" algn="ctr">
                      <a:solidFill>
                        <a:srgbClr val="000000"/>
                      </a:solidFill>
                    </a:lnB>
                  </a:tcPr>
                </a:tc>
              </a:tr>
              <a:tr h="457200"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60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YOLOv8n</a:t>
                      </a:r>
                      <a:endParaRPr sz="1600" b="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91440" marR="91440" marT="45720" marB="45720" anchor="ctr">
                    <a:lnL w="12699" algn="ctr">
                      <a:solidFill>
                        <a:srgbClr val="000000"/>
                      </a:solidFill>
                    </a:lnL>
                    <a:lnR w="12699" algn="ctr">
                      <a:solidFill>
                        <a:srgbClr val="000000"/>
                      </a:solidFill>
                    </a:lnR>
                    <a:lnT w="12699" algn="ctr">
                      <a:solidFill>
                        <a:srgbClr val="000000"/>
                      </a:solidFill>
                    </a:lnT>
                    <a:lnB w="12699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80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0,861</a:t>
                      </a:r>
                      <a:endParaRPr sz="1600" b="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91440" marR="91440" marT="45720" marB="45720" anchor="ctr">
                    <a:lnL w="12699" algn="ctr">
                      <a:solidFill>
                        <a:srgbClr val="000000"/>
                      </a:solidFill>
                    </a:lnL>
                    <a:lnR w="12699" algn="ctr">
                      <a:solidFill>
                        <a:srgbClr val="000000"/>
                      </a:solidFill>
                    </a:lnR>
                    <a:lnT w="12699" algn="ctr">
                      <a:solidFill>
                        <a:srgbClr val="000000"/>
                      </a:solidFill>
                    </a:lnT>
                    <a:lnB w="12699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80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0,858</a:t>
                      </a:r>
                      <a:endParaRPr sz="1600" b="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91440" marR="91440" marT="45720" marB="45720" anchor="ctr">
                    <a:lnL w="12699" algn="ctr">
                      <a:solidFill>
                        <a:srgbClr val="000000"/>
                      </a:solidFill>
                    </a:lnL>
                    <a:lnR w="12699" algn="ctr">
                      <a:solidFill>
                        <a:srgbClr val="000000"/>
                      </a:solidFill>
                    </a:lnR>
                    <a:lnT w="12699" algn="ctr">
                      <a:solidFill>
                        <a:srgbClr val="000000"/>
                      </a:solidFill>
                    </a:lnT>
                    <a:lnB w="12699" algn="ctr">
                      <a:solidFill>
                        <a:srgbClr val="000000"/>
                      </a:solidFill>
                    </a:lnB>
                  </a:tcPr>
                </a:tc>
              </a:tr>
              <a:tr h="457200"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60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YOLOv8s</a:t>
                      </a:r>
                      <a:endParaRPr sz="1600" b="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91440" marR="91440" marT="45720" marB="45720" anchor="ctr">
                    <a:lnL w="12699" algn="ctr">
                      <a:solidFill>
                        <a:srgbClr val="000000"/>
                      </a:solidFill>
                    </a:lnL>
                    <a:lnR w="12699" algn="ctr">
                      <a:solidFill>
                        <a:srgbClr val="000000"/>
                      </a:solidFill>
                    </a:lnR>
                    <a:lnT w="12699" algn="ctr">
                      <a:solidFill>
                        <a:srgbClr val="000000"/>
                      </a:solidFill>
                    </a:lnT>
                    <a:lnB w="12699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80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0,879</a:t>
                      </a:r>
                      <a:endParaRPr sz="1600" b="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91440" marR="91440" marT="45720" marB="45720" anchor="ctr">
                    <a:lnL w="12699" algn="ctr">
                      <a:solidFill>
                        <a:srgbClr val="000000"/>
                      </a:solidFill>
                    </a:lnL>
                    <a:lnR w="12699" algn="ctr">
                      <a:solidFill>
                        <a:srgbClr val="000000"/>
                      </a:solidFill>
                    </a:lnR>
                    <a:lnT w="12699" algn="ctr">
                      <a:solidFill>
                        <a:srgbClr val="000000"/>
                      </a:solidFill>
                    </a:lnT>
                    <a:lnB w="12699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80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0,876</a:t>
                      </a:r>
                      <a:endParaRPr sz="1600" b="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91440" marR="91440" marT="45720" marB="45720" anchor="ctr">
                    <a:lnL w="12699" algn="ctr">
                      <a:solidFill>
                        <a:srgbClr val="000000"/>
                      </a:solidFill>
                    </a:lnL>
                    <a:lnR w="12699" algn="ctr">
                      <a:solidFill>
                        <a:srgbClr val="000000"/>
                      </a:solidFill>
                    </a:lnR>
                    <a:lnT w="12699" algn="ctr">
                      <a:solidFill>
                        <a:srgbClr val="000000"/>
                      </a:solidFill>
                    </a:lnT>
                    <a:lnB w="12699" algn="ctr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12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68949556" name="Text 0"/>
          <p:cNvSpPr/>
          <p:nvPr/>
        </p:nvSpPr>
        <p:spPr bwMode="auto">
          <a:xfrm>
            <a:off x="487558" y="219456"/>
            <a:ext cx="11213835" cy="670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  <a:defRPr/>
            </a:pPr>
            <a:r>
              <a:rPr lang="en-US" sz="2200" b="1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Оценка системы в режиме объединения каналов</a:t>
            </a:r>
            <a:endParaRPr lang="en-US" sz="2200"/>
          </a:p>
        </p:txBody>
      </p:sp>
      <p:graphicFrame>
        <p:nvGraphicFramePr>
          <p:cNvPr id="323844167" name="Chart 0" descr=""/>
          <p:cNvGraphicFramePr>
            <a:graphicFrameLocks xmlns:a="http://schemas.openxmlformats.org/drawingml/2006/main"/>
          </p:cNvGraphicFramePr>
          <p:nvPr/>
        </p:nvGraphicFramePr>
        <p:xfrm rot="0">
          <a:off x="365668" y="1158240"/>
          <a:ext cx="5728807" cy="46939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077665434" name="Chart 1" descr=""/>
          <p:cNvGraphicFramePr>
            <a:graphicFrameLocks xmlns:a="http://schemas.openxmlformats.org/drawingml/2006/main"/>
          </p:cNvGraphicFramePr>
          <p:nvPr/>
        </p:nvGraphicFramePr>
        <p:xfrm rot="0">
          <a:off x="6094476" y="1158240"/>
          <a:ext cx="5728807" cy="46939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871899869" name="Text 2"/>
          <p:cNvSpPr/>
          <p:nvPr/>
        </p:nvSpPr>
        <p:spPr bwMode="auto">
          <a:xfrm>
            <a:off x="11213835" y="6461760"/>
            <a:ext cx="731337" cy="30479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  <a:defRPr/>
            </a:pPr>
            <a:r>
              <a:rPr lang="en-US" sz="14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12</a:t>
            </a:r>
            <a:endParaRPr lang="en-US" sz="14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49412665" name="TextBox 1"/>
          <p:cNvSpPr txBox="1"/>
          <p:nvPr/>
        </p:nvSpPr>
        <p:spPr bwMode="auto">
          <a:xfrm>
            <a:off x="484632" y="219456"/>
            <a:ext cx="11210544" cy="6675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/>
            </a:pPr>
            <a:r>
              <a:rPr sz="2200" b="1">
                <a:latin typeface="Times New Roman"/>
              </a:rPr>
              <a:t>Плавная деградация при отключении каналов</a:t>
            </a:r>
            <a:endParaRPr/>
          </a:p>
        </p:txBody>
      </p:sp>
      <p:graphicFrame>
        <p:nvGraphicFramePr>
          <p:cNvPr id="904383097" name="Table 2"/>
          <p:cNvGraphicFramePr>
            <a:graphicFrameLocks xmlns:a="http://schemas.openxmlformats.org/drawingml/2006/main" noGrp="1"/>
          </p:cNvGraphicFramePr>
          <p:nvPr/>
        </p:nvGraphicFramePr>
        <p:xfrm rot="0">
          <a:off x="1981047" y="1554480"/>
          <a:ext cx="8229600" cy="2377440"/>
        </p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1828800"/>
                <a:gridCol w="3840480"/>
                <a:gridCol w="1280160"/>
                <a:gridCol w="1280160"/>
              </a:tblGrid>
              <a:tr h="457200"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8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Активных каналов</a:t>
                      </a:r>
                      <a:endParaRPr lang="en-US" sz="180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91440" marR="91440" marT="45720" marB="45720" anchor="ctr">
                    <a:lnL w="12700" algn="ctr">
                      <a:solidFill>
                        <a:srgbClr val="000000"/>
                      </a:solidFill>
                    </a:lnL>
                    <a:lnR w="12700" algn="ctr">
                      <a:solidFill>
                        <a:srgbClr val="000000"/>
                      </a:solidFill>
                    </a:lnR>
                    <a:lnT w="12700" algn="ctr">
                      <a:solidFill>
                        <a:srgbClr val="000000"/>
                      </a:solidFill>
                    </a:lnT>
                    <a:lnB w="12700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800" b="1" i="0" u="none" strike="noStrike" cap="none" spc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Отключённые каналы</a:t>
                      </a:r>
                      <a:endParaRPr lang="en-US" sz="180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91440" marR="91440" marT="45720" marB="45720" anchor="ctr">
                    <a:lnL w="12700" algn="ctr">
                      <a:solidFill>
                        <a:srgbClr val="000000"/>
                      </a:solidFill>
                    </a:lnL>
                    <a:lnR w="12700" algn="ctr">
                      <a:solidFill>
                        <a:srgbClr val="000000"/>
                      </a:solidFill>
                    </a:lnR>
                    <a:lnT w="12700" algn="ctr">
                      <a:solidFill>
                        <a:srgbClr val="000000"/>
                      </a:solidFill>
                    </a:lnT>
                    <a:lnB w="12700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8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Pd</a:t>
                      </a:r>
                      <a:endParaRPr lang="en-US" sz="180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91440" marR="91440" marT="45720" marB="45720" anchor="ctr">
                    <a:lnL w="12700" algn="ctr">
                      <a:solidFill>
                        <a:srgbClr val="000000"/>
                      </a:solidFill>
                    </a:lnL>
                    <a:lnR w="12700" algn="ctr">
                      <a:solidFill>
                        <a:srgbClr val="000000"/>
                      </a:solidFill>
                    </a:lnR>
                    <a:lnT w="12700" algn="ctr">
                      <a:solidFill>
                        <a:srgbClr val="000000"/>
                      </a:solidFill>
                    </a:lnT>
                    <a:lnB w="12700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8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Pfa</a:t>
                      </a:r>
                      <a:endParaRPr lang="en-US" sz="180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91440" marR="91440" marT="45720" marB="45720" anchor="ctr">
                    <a:lnL w="12700" algn="ctr">
                      <a:solidFill>
                        <a:srgbClr val="000000"/>
                      </a:solidFill>
                    </a:lnL>
                    <a:lnR w="12700" algn="ctr">
                      <a:solidFill>
                        <a:srgbClr val="000000"/>
                      </a:solidFill>
                    </a:lnR>
                    <a:lnT w="12700" algn="ctr">
                      <a:solidFill>
                        <a:srgbClr val="000000"/>
                      </a:solidFill>
                    </a:lnT>
                    <a:lnB w="12700" algn="ctr">
                      <a:solidFill>
                        <a:srgbClr val="000000"/>
                      </a:solidFill>
                    </a:lnB>
                  </a:tcPr>
                </a:tc>
              </a:tr>
              <a:tr h="457200"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80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4</a:t>
                      </a:r>
                      <a:endParaRPr sz="1800" b="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91440" marR="91440" marT="45720" marB="45720" anchor="ctr">
                    <a:lnL w="12700" algn="ctr">
                      <a:solidFill>
                        <a:srgbClr val="000000"/>
                      </a:solidFill>
                    </a:lnL>
                    <a:lnR w="12700" algn="ctr">
                      <a:solidFill>
                        <a:srgbClr val="000000"/>
                      </a:solidFill>
                    </a:lnR>
                    <a:lnT w="12700" algn="ctr">
                      <a:solidFill>
                        <a:srgbClr val="000000"/>
                      </a:solidFill>
                    </a:lnT>
                    <a:lnB w="12700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 algn="l">
                        <a:buNone/>
                        <a:defRPr/>
                      </a:pPr>
                      <a:r>
                        <a:rPr lang="en-US" sz="180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—</a:t>
                      </a:r>
                      <a:endParaRPr sz="1800" b="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91440" marR="91440" marT="45720" marB="45720" anchor="ctr">
                    <a:lnL w="12700" algn="ctr">
                      <a:solidFill>
                        <a:srgbClr val="000000"/>
                      </a:solidFill>
                    </a:lnL>
                    <a:lnR w="12700" algn="ctr">
                      <a:solidFill>
                        <a:srgbClr val="000000"/>
                      </a:solidFill>
                    </a:lnR>
                    <a:lnT w="12700" algn="ctr">
                      <a:solidFill>
                        <a:srgbClr val="000000"/>
                      </a:solidFill>
                    </a:lnT>
                    <a:lnB w="12700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80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0,935</a:t>
                      </a:r>
                      <a:endParaRPr sz="1800" b="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91440" marR="91440" marT="45720" marB="45720" anchor="ctr">
                    <a:lnL w="12700" algn="ctr">
                      <a:solidFill>
                        <a:srgbClr val="000000"/>
                      </a:solidFill>
                    </a:lnL>
                    <a:lnR w="12700" algn="ctr">
                      <a:solidFill>
                        <a:srgbClr val="000000"/>
                      </a:solidFill>
                    </a:lnR>
                    <a:lnT w="12700" algn="ctr">
                      <a:solidFill>
                        <a:srgbClr val="000000"/>
                      </a:solidFill>
                    </a:lnT>
                    <a:lnB w="12700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80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0,040</a:t>
                      </a:r>
                      <a:endParaRPr sz="1800" b="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91440" marR="91440" marT="45720" marB="45720" anchor="ctr">
                    <a:lnL w="12700" algn="ctr">
                      <a:solidFill>
                        <a:srgbClr val="000000"/>
                      </a:solidFill>
                    </a:lnL>
                    <a:lnR w="12700" algn="ctr">
                      <a:solidFill>
                        <a:srgbClr val="000000"/>
                      </a:solidFill>
                    </a:lnR>
                    <a:lnT w="12700" algn="ctr">
                      <a:solidFill>
                        <a:srgbClr val="000000"/>
                      </a:solidFill>
                    </a:lnT>
                    <a:lnB w="12700" algn="ctr">
                      <a:solidFill>
                        <a:srgbClr val="000000"/>
                      </a:solidFill>
                    </a:lnB>
                  </a:tcPr>
                </a:tc>
              </a:tr>
              <a:tr h="457200"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80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3</a:t>
                      </a:r>
                      <a:endParaRPr sz="1800" b="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91440" marR="91440" marT="45720" marB="45720" anchor="ctr">
                    <a:lnL w="12700" algn="ctr">
                      <a:solidFill>
                        <a:srgbClr val="000000"/>
                      </a:solidFill>
                    </a:lnL>
                    <a:lnR w="12700" algn="ctr">
                      <a:solidFill>
                        <a:srgbClr val="000000"/>
                      </a:solidFill>
                    </a:lnR>
                    <a:lnT w="12700" algn="ctr">
                      <a:solidFill>
                        <a:srgbClr val="000000"/>
                      </a:solidFill>
                    </a:lnT>
                    <a:lnB w="12700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 algn="l">
                        <a:buNone/>
                        <a:defRPr/>
                      </a:pPr>
                      <a:r>
                        <a:rPr lang="en-US" sz="180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Радиочастотный</a:t>
                      </a:r>
                      <a:endParaRPr sz="1800" b="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91440" marR="91440" marT="45720" marB="45720" anchor="ctr">
                    <a:lnL w="12700" algn="ctr">
                      <a:solidFill>
                        <a:srgbClr val="000000"/>
                      </a:solidFill>
                    </a:lnL>
                    <a:lnR w="12700" algn="ctr">
                      <a:solidFill>
                        <a:srgbClr val="000000"/>
                      </a:solidFill>
                    </a:lnR>
                    <a:lnT w="12700" algn="ctr">
                      <a:solidFill>
                        <a:srgbClr val="000000"/>
                      </a:solidFill>
                    </a:lnT>
                    <a:lnB w="12700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80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0,915</a:t>
                      </a:r>
                      <a:endParaRPr sz="1800" b="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91440" marR="91440" marT="45720" marB="45720" anchor="ctr">
                    <a:lnL w="12700" algn="ctr">
                      <a:solidFill>
                        <a:srgbClr val="000000"/>
                      </a:solidFill>
                    </a:lnL>
                    <a:lnR w="12700" algn="ctr">
                      <a:solidFill>
                        <a:srgbClr val="000000"/>
                      </a:solidFill>
                    </a:lnR>
                    <a:lnT w="12700" algn="ctr">
                      <a:solidFill>
                        <a:srgbClr val="000000"/>
                      </a:solidFill>
                    </a:lnT>
                    <a:lnB w="12700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80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0,050</a:t>
                      </a:r>
                      <a:endParaRPr sz="1800" b="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91440" marR="91440" marT="45720" marB="45720" anchor="ctr">
                    <a:lnL w="12700" algn="ctr">
                      <a:solidFill>
                        <a:srgbClr val="000000"/>
                      </a:solidFill>
                    </a:lnL>
                    <a:lnR w="12700" algn="ctr">
                      <a:solidFill>
                        <a:srgbClr val="000000"/>
                      </a:solidFill>
                    </a:lnR>
                    <a:lnT w="12700" algn="ctr">
                      <a:solidFill>
                        <a:srgbClr val="000000"/>
                      </a:solidFill>
                    </a:lnT>
                    <a:lnB w="12700" algn="ctr">
                      <a:solidFill>
                        <a:srgbClr val="000000"/>
                      </a:solidFill>
                    </a:lnB>
                  </a:tcPr>
                </a:tc>
              </a:tr>
              <a:tr h="457200"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80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2</a:t>
                      </a:r>
                      <a:endParaRPr sz="1800" b="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91440" marR="91440" marT="45720" marB="45720" anchor="ctr">
                    <a:lnL w="12700" algn="ctr">
                      <a:solidFill>
                        <a:srgbClr val="000000"/>
                      </a:solidFill>
                    </a:lnL>
                    <a:lnR w="12700" algn="ctr">
                      <a:solidFill>
                        <a:srgbClr val="000000"/>
                      </a:solidFill>
                    </a:lnR>
                    <a:lnT w="12700" algn="ctr">
                      <a:solidFill>
                        <a:srgbClr val="000000"/>
                      </a:solidFill>
                    </a:lnT>
                    <a:lnB w="12700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 algn="l">
                        <a:buNone/>
                        <a:defRPr/>
                      </a:pPr>
                      <a:r>
                        <a:rPr lang="en-US" sz="180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Радиочастотный, акустический</a:t>
                      </a:r>
                      <a:endParaRPr sz="1800" b="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91440" marR="91440" marT="45720" marB="45720" anchor="ctr">
                    <a:lnL w="12700" algn="ctr">
                      <a:solidFill>
                        <a:srgbClr val="000000"/>
                      </a:solidFill>
                    </a:lnL>
                    <a:lnR w="12700" algn="ctr">
                      <a:solidFill>
                        <a:srgbClr val="000000"/>
                      </a:solidFill>
                    </a:lnR>
                    <a:lnT w="12700" algn="ctr">
                      <a:solidFill>
                        <a:srgbClr val="000000"/>
                      </a:solidFill>
                    </a:lnT>
                    <a:lnB w="12700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80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0,895</a:t>
                      </a:r>
                      <a:endParaRPr sz="1800" b="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91440" marR="91440" marT="45720" marB="45720" anchor="ctr">
                    <a:lnL w="12700" algn="ctr">
                      <a:solidFill>
                        <a:srgbClr val="000000"/>
                      </a:solidFill>
                    </a:lnL>
                    <a:lnR w="12700" algn="ctr">
                      <a:solidFill>
                        <a:srgbClr val="000000"/>
                      </a:solidFill>
                    </a:lnR>
                    <a:lnT w="12700" algn="ctr">
                      <a:solidFill>
                        <a:srgbClr val="000000"/>
                      </a:solidFill>
                    </a:lnT>
                    <a:lnB w="12700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80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0,060</a:t>
                      </a:r>
                      <a:endParaRPr sz="1800" b="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91440" marR="91440" marT="45720" marB="45720" anchor="ctr">
                    <a:lnL w="12700" algn="ctr">
                      <a:solidFill>
                        <a:srgbClr val="000000"/>
                      </a:solidFill>
                    </a:lnL>
                    <a:lnR w="12700" algn="ctr">
                      <a:solidFill>
                        <a:srgbClr val="000000"/>
                      </a:solidFill>
                    </a:lnR>
                    <a:lnT w="12700" algn="ctr">
                      <a:solidFill>
                        <a:srgbClr val="000000"/>
                      </a:solidFill>
                    </a:lnT>
                    <a:lnB w="12700" algn="ctr">
                      <a:solidFill>
                        <a:srgbClr val="000000"/>
                      </a:solidFill>
                    </a:lnB>
                  </a:tcPr>
                </a:tc>
              </a:tr>
              <a:tr h="457200"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80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</a:t>
                      </a:r>
                      <a:endParaRPr sz="1800" b="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91440" marR="91440" marT="45720" marB="45720" anchor="ctr">
                    <a:lnL w="12700" algn="ctr">
                      <a:solidFill>
                        <a:srgbClr val="000000"/>
                      </a:solidFill>
                    </a:lnL>
                    <a:lnR w="12700" algn="ctr">
                      <a:solidFill>
                        <a:srgbClr val="000000"/>
                      </a:solidFill>
                    </a:lnR>
                    <a:lnT w="12700" algn="ctr">
                      <a:solidFill>
                        <a:srgbClr val="000000"/>
                      </a:solidFill>
                    </a:lnT>
                    <a:lnB w="12700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 algn="l">
                        <a:buNone/>
                        <a:defRPr/>
                      </a:pPr>
                      <a:r>
                        <a:rPr lang="en-US" sz="180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Радиочастотный, акустический, видео</a:t>
                      </a:r>
                      <a:endParaRPr sz="1800" b="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91440" marR="91440" marT="45720" marB="45720" anchor="ctr">
                    <a:lnL w="12700" algn="ctr">
                      <a:solidFill>
                        <a:srgbClr val="000000"/>
                      </a:solidFill>
                    </a:lnL>
                    <a:lnR w="12700" algn="ctr">
                      <a:solidFill>
                        <a:srgbClr val="000000"/>
                      </a:solidFill>
                    </a:lnR>
                    <a:lnT w="12700" algn="ctr">
                      <a:solidFill>
                        <a:srgbClr val="000000"/>
                      </a:solidFill>
                    </a:lnT>
                    <a:lnB w="12700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80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0,880</a:t>
                      </a:r>
                      <a:endParaRPr sz="1800" b="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91440" marR="91440" marT="45720" marB="45720" anchor="ctr">
                    <a:lnL w="12700" algn="ctr">
                      <a:solidFill>
                        <a:srgbClr val="000000"/>
                      </a:solidFill>
                    </a:lnL>
                    <a:lnR w="12700" algn="ctr">
                      <a:solidFill>
                        <a:srgbClr val="000000"/>
                      </a:solidFill>
                    </a:lnR>
                    <a:lnT w="12700" algn="ctr">
                      <a:solidFill>
                        <a:srgbClr val="000000"/>
                      </a:solidFill>
                    </a:lnT>
                    <a:lnB w="12700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  <a:defRPr/>
                      </a:pPr>
                      <a:r>
                        <a:rPr lang="en-US" sz="1800" b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0,075</a:t>
                      </a:r>
                      <a:endParaRPr sz="1800" b="0">
                        <a:latin typeface="Times New Roman"/>
                        <a:ea typeface="Times New Roman"/>
                        <a:cs typeface="Times New Roman"/>
                      </a:endParaRPr>
                    </a:p>
                  </a:txBody>
                  <a:tcPr marL="91440" marR="91440" marT="45720" marB="45720" anchor="ctr">
                    <a:lnL w="12700" algn="ctr">
                      <a:solidFill>
                        <a:srgbClr val="000000"/>
                      </a:solidFill>
                    </a:lnL>
                    <a:lnR w="12700" algn="ctr">
                      <a:solidFill>
                        <a:srgbClr val="000000"/>
                      </a:solidFill>
                    </a:lnR>
                    <a:lnT w="12700" algn="ctr">
                      <a:solidFill>
                        <a:srgbClr val="000000"/>
                      </a:solidFill>
                    </a:lnT>
                    <a:lnB w="12700" algn="ctr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78680944" name="TextBox 3"/>
          <p:cNvSpPr txBox="1"/>
          <p:nvPr/>
        </p:nvSpPr>
        <p:spPr bwMode="auto">
          <a:xfrm>
            <a:off x="1975103" y="4254873"/>
            <a:ext cx="8229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sz="1600">
                <a:latin typeface="Times New Roman"/>
              </a:rPr>
              <a:t>Отказавший канал исключается из слияния, веса оставшихся перенормируются. Даже на одном радиолокационном канале система сохраняет Pd ≈ 0,88 — полного отказа нет ни в одном сценарии.</a:t>
            </a:r>
            <a:endParaRPr/>
          </a:p>
        </p:txBody>
      </p:sp>
      <p:sp>
        <p:nvSpPr>
          <p:cNvPr id="881586383" name="TextBox 1880484338"/>
          <p:cNvSpPr txBox="1"/>
          <p:nvPr/>
        </p:nvSpPr>
        <p:spPr bwMode="auto">
          <a:xfrm>
            <a:off x="11210544" y="6464808"/>
            <a:ext cx="731520" cy="3017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/>
            </a:pPr>
            <a:r>
              <a:rPr sz="1400">
                <a:latin typeface="Times New Roman"/>
              </a:rPr>
              <a:t>13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34654394" name=""/>
          <p:cNvSpPr txBox="1"/>
          <p:nvPr/>
        </p:nvSpPr>
        <p:spPr bwMode="auto">
          <a:xfrm rot="0" flipH="0" flipV="0">
            <a:off x="1242940" y="868320"/>
            <a:ext cx="9913266" cy="329220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marL="283878" indent="-283878" algn="l">
              <a:spcAft>
                <a:spcPts val="1200"/>
              </a:spcAft>
              <a:buAutoNum type="arabicPeriod"/>
              <a:defRPr/>
            </a:pPr>
            <a:r>
              <a:rPr sz="2000">
                <a:latin typeface="Times New Roman"/>
              </a:rPr>
              <a:t>Ни один из четырёх рассмотренных методов обнаружения и распознавания по отдельности не обеспечивает надёжного обнаружения дронов во всём диапазоне условий эксплуатации и типов целей.</a:t>
            </a:r>
            <a:endParaRPr sz="2000">
              <a:latin typeface="Times New Roman"/>
            </a:endParaRPr>
          </a:p>
          <a:p>
            <a:pPr marL="283878" indent="-283878" algn="l">
              <a:spcAft>
                <a:spcPts val="1199"/>
              </a:spcAft>
              <a:buAutoNum type="arabicPeriod"/>
              <a:defRPr/>
            </a:pPr>
            <a:r>
              <a:rPr sz="2000">
                <a:latin typeface="Times New Roman"/>
              </a:rPr>
              <a:t>Разработан программный комплекс, объединяющий показания четырёх каналов обнаружения и распознавания.</a:t>
            </a:r>
            <a:endParaRPr sz="2000">
              <a:latin typeface="Times New Roman"/>
            </a:endParaRPr>
          </a:p>
          <a:p>
            <a:pPr marL="283878" indent="-283878" algn="l">
              <a:spcAft>
                <a:spcPts val="1199"/>
              </a:spcAft>
              <a:buAutoNum type="arabicPeriod"/>
              <a:defRPr/>
            </a:pPr>
            <a:r>
              <a:rPr sz="2000">
                <a:latin typeface="Times New Roman"/>
              </a:rPr>
              <a:t> Обучены нейросетевые модели и выбраны архитектуры с наилучшими метриками: RadarResNet, AudioResNet, RF-ResNet-1D и YOLOv8n.</a:t>
            </a:r>
            <a:endParaRPr sz="2000">
              <a:latin typeface="Times New Roman"/>
            </a:endParaRPr>
          </a:p>
          <a:p>
            <a:pPr marL="283878" indent="-283878" algn="l">
              <a:spcAft>
                <a:spcPts val="1199"/>
              </a:spcAft>
              <a:buAutoNum type="arabicPeriod"/>
              <a:defRPr/>
            </a:pPr>
            <a:r>
              <a:rPr sz="2000">
                <a:latin typeface="Times New Roman"/>
              </a:rPr>
              <a:t>Совместно каналы обеспечили вероятность правильного обнаружения 93,5 % при вероятности ложной тревоги 4 %.</a:t>
            </a:r>
            <a:endParaRPr lang="ru-RU" sz="1800" b="0">
              <a:solidFill>
                <a:schemeClr val="tx1"/>
              </a:solidFill>
              <a:latin typeface="Liberation Serif"/>
              <a:ea typeface="Liberation Serif"/>
              <a:cs typeface="Liberation Serif"/>
            </a:endParaRPr>
          </a:p>
        </p:txBody>
      </p:sp>
      <p:sp>
        <p:nvSpPr>
          <p:cNvPr id="486760376" name=""/>
          <p:cNvSpPr txBox="1"/>
          <p:nvPr/>
        </p:nvSpPr>
        <p:spPr bwMode="auto">
          <a:xfrm flipH="0" flipV="0">
            <a:off x="4068222" y="159907"/>
            <a:ext cx="4053585" cy="42707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2200" b="1">
                <a:latin typeface="Liberation Serif"/>
                <a:ea typeface="Liberation Serif"/>
                <a:cs typeface="Liberation Serif"/>
              </a:rPr>
              <a:t>Заключение</a:t>
            </a:r>
            <a:endParaRPr sz="2200">
              <a:latin typeface="Liberation Serif"/>
              <a:cs typeface="Liberation Serif"/>
            </a:endParaRPr>
          </a:p>
        </p:txBody>
      </p:sp>
      <p:sp>
        <p:nvSpPr>
          <p:cNvPr id="1584057062" name="TextBox 1880484338"/>
          <p:cNvSpPr txBox="1"/>
          <p:nvPr/>
        </p:nvSpPr>
        <p:spPr bwMode="auto">
          <a:xfrm>
            <a:off x="11581385" y="6464808"/>
            <a:ext cx="361398" cy="3051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/>
            </a:pPr>
            <a:r>
              <a:rPr sz="1400">
                <a:latin typeface="Times New Roman"/>
              </a:rPr>
              <a:t>14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13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14738290" name="Text 0"/>
          <p:cNvSpPr/>
          <p:nvPr/>
        </p:nvSpPr>
        <p:spPr bwMode="auto">
          <a:xfrm>
            <a:off x="609447" y="2804160"/>
            <a:ext cx="10970056" cy="121919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  <a:defRPr/>
            </a:pPr>
            <a:r>
              <a:rPr lang="en-US" sz="36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Спасибо за внимание</a:t>
            </a:r>
            <a:endParaRPr lang="en-US" sz="3600"/>
          </a:p>
        </p:txBody>
      </p:sp>
      <p:sp>
        <p:nvSpPr>
          <p:cNvPr id="1875018559" name="TextBox 996258393"/>
          <p:cNvSpPr txBox="1"/>
          <p:nvPr/>
        </p:nvSpPr>
        <p:spPr bwMode="auto">
          <a:xfrm>
            <a:off x="11210544" y="6464808"/>
            <a:ext cx="731520" cy="3017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/>
            </a:pPr>
            <a:r>
              <a:rPr sz="1400">
                <a:latin typeface="Times New Roman"/>
              </a:rPr>
              <a:t>14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Arial"/>
        <a:cs typeface="Arial"/>
      </a:majorFont>
      <a:minorFont>
        <a:latin typeface="Calibri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">
      <a:majorFont>
        <a:latin typeface="Calibri Light"/>
        <a:ea typeface="Arial"/>
        <a:cs typeface="Arial"/>
      </a:majorFont>
      <a:minorFont>
        <a:latin typeface="Calibri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0</Words>
  <Application>ONLYOFFICE/9.4.0.129</Application>
  <DocSecurity>0</DocSecurity>
  <PresentationFormat>On-screen Show (4:3)</PresentationFormat>
  <Paragraphs>0</Paragraphs>
  <Slides>15</Slides>
  <Notes>15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6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Manager/>
  <Company>PptxGenJS</Company>
  <LinksUpToDate>0</LinksUpToDate>
  <SharedDoc>0</SharedDoc>
  <HyperlinkBase/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Обнаружение и распознавание дронов</dc:title>
  <dc:subject>PptxGenJS Presentation</dc:subject>
  <dc:creator>ВКР</dc:creator>
  <cp:keywords/>
  <dc:description/>
  <dc:identifier/>
  <dc:language/>
  <cp:lastModifiedBy/>
  <cp:revision>12</cp:revision>
  <dcterms:created xsi:type="dcterms:W3CDTF">2026-06-08T18:03:06Z</dcterms:created>
  <dcterms:modified xsi:type="dcterms:W3CDTF">2026-06-21T17:42:53Z</dcterms:modified>
  <cp:category/>
  <cp:contentStatus/>
  <cp:version/>
</cp:coreProperties>
</file>